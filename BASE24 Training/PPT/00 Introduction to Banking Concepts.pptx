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6"/>
  </p:handoutMasterIdLst>
  <p:sldIdLst>
    <p:sldId id="356" r:id="rId4"/>
    <p:sldId id="361" r:id="rId6"/>
    <p:sldId id="360" r:id="rId7"/>
    <p:sldId id="338" r:id="rId8"/>
    <p:sldId id="359" r:id="rId9"/>
    <p:sldId id="340" r:id="rId10"/>
    <p:sldId id="341" r:id="rId11"/>
    <p:sldId id="353" r:id="rId12"/>
    <p:sldId id="342" r:id="rId13"/>
    <p:sldId id="343" r:id="rId14"/>
    <p:sldId id="344" r:id="rId15"/>
    <p:sldId id="346" r:id="rId16"/>
    <p:sldId id="347" r:id="rId17"/>
    <p:sldId id="348" r:id="rId18"/>
    <p:sldId id="349" r:id="rId19"/>
    <p:sldId id="354" r:id="rId20"/>
    <p:sldId id="350" r:id="rId21"/>
    <p:sldId id="351" r:id="rId22"/>
    <p:sldId id="355" r:id="rId23"/>
    <p:sldId id="357" r:id="rId24"/>
    <p:sldId id="358" r:id="rId25"/>
  </p:sldIdLst>
  <p:sldSz cx="9144000" cy="6858000" type="screen4x3"/>
  <p:notesSz cx="69850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FF00"/>
    <a:srgbClr val="F6BF69"/>
    <a:srgbClr val="FDE3BA"/>
    <a:srgbClr val="CECECE"/>
    <a:srgbClr val="A2D0CC"/>
    <a:srgbClr val="C7A58B"/>
    <a:srgbClr val="D8BF7A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-14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660" y="2592"/>
      </p:cViewPr>
      <p:guideLst>
        <p:guide orient="horz" pos="2192"/>
        <p:guide pos="29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57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328" tIns="0" rIns="19328" bIns="0" numCol="1" anchor="t" anchorCtr="0" compatLnSpc="1"/>
          <a:lstStyle>
            <a:lvl1pPr defTabSz="927100">
              <a:defRPr sz="1000" b="0" i="1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9225" y="-1588"/>
            <a:ext cx="30257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328" tIns="0" rIns="19328" bIns="0" numCol="1" anchor="t" anchorCtr="0" compatLnSpc="1"/>
          <a:lstStyle>
            <a:lvl1pPr algn="r" defTabSz="927100">
              <a:defRPr sz="1000" b="0" i="1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25775" cy="465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328" tIns="0" rIns="19328" bIns="0" numCol="1" anchor="b" anchorCtr="0" compatLnSpc="1"/>
          <a:lstStyle>
            <a:lvl1pPr defTabSz="927100">
              <a:defRPr sz="800" b="0" i="1"/>
            </a:lvl1pPr>
          </a:lstStyle>
          <a:p>
            <a:r>
              <a:rPr lang="en-US"/>
              <a:t>BASE24-atm Release 6.0</a:t>
            </a: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9225" y="8818563"/>
            <a:ext cx="3025775" cy="465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328" tIns="0" rIns="19328" bIns="0" numCol="1" anchor="b" anchorCtr="0" compatLnSpc="1"/>
          <a:lstStyle>
            <a:lvl1pPr algn="r" defTabSz="927100">
              <a:defRPr sz="800" b="0" i="1"/>
            </a:lvl1pPr>
          </a:lstStyle>
          <a:p>
            <a:r>
              <a:rPr lang="en-US"/>
              <a:t>2-</a:t>
            </a:r>
            <a:fld id="{D4054C08-61CE-448E-A53D-E5B8012BB45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44513" y="4999038"/>
            <a:ext cx="6207125" cy="3994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419" tIns="46710" rIns="93419" bIns="4671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495300" y="141288"/>
            <a:ext cx="6284913" cy="4713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15888" y="8978900"/>
            <a:ext cx="3027362" cy="328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328" tIns="0" rIns="19328" bIns="0" numCol="1" anchor="b" anchorCtr="0" compatLnSpc="1"/>
          <a:lstStyle>
            <a:lvl1pPr defTabSz="927100">
              <a:defRPr sz="800" b="0" i="1"/>
            </a:lvl1pPr>
          </a:lstStyle>
          <a:p>
            <a:r>
              <a:rPr lang="en-US"/>
              <a:t>BASE24-atm Release 6.0</a:t>
            </a: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265488" y="8996363"/>
            <a:ext cx="454025" cy="309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328" tIns="0" rIns="19328" bIns="0" numCol="1" anchor="b" anchorCtr="0" compatLnSpc="1"/>
          <a:lstStyle>
            <a:lvl1pPr algn="ctr" defTabSz="927100">
              <a:defRPr sz="800" b="0" i="1"/>
            </a:lvl1pPr>
          </a:lstStyle>
          <a:p>
            <a:r>
              <a:rPr lang="en-US"/>
              <a:t>2-</a:t>
            </a:r>
            <a:fld id="{EDE39B2C-BA16-4A2E-8DC5-6E942385FDCC}" type="slidenum">
              <a:rPr lang="en-US"/>
            </a:fld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5964238" y="8977313"/>
            <a:ext cx="800100" cy="328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9328" tIns="0" rIns="19328" bIns="0" anchor="b"/>
          <a:lstStyle/>
          <a:p>
            <a:pPr algn="r" defTabSz="927100"/>
            <a:r>
              <a:rPr lang="en-US" sz="800" b="0" i="1"/>
              <a:t>30 June 2002</a:t>
            </a:r>
            <a:endParaRPr lang="en-US" sz="800" b="0" i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85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5" name="Freeform 4"/>
          <p:cNvSpPr/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7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oncerto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2400" y="0"/>
            <a:ext cx="1371600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5" name="Freeform 4"/>
          <p:cNvSpPr/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575" y="6421438"/>
            <a:ext cx="762000" cy="365125"/>
          </a:xfrm>
        </p:spPr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3399"/>
            </a:gs>
            <a:gs pos="100000">
              <a:schemeClr val="bg2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16" name="Freeform 15"/>
          <p:cNvSpPr/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2052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5720" tIns="45720" rIns="4572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205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BD603C6-F2AE-45BC-A049-3736ED2942B2}" type="datetimeFigureOut">
              <a:rPr lang="en-IN" smtClean="0"/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 smtClean="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F227C23-40D4-4C31-B6B0-162912EFA7D4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9pPr>
    </p:titleStyle>
    <p:bodyStyle>
      <a:lvl1pPr marL="419100" indent="-38290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63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205" indent="-25590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855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880" algn="l" rtl="0" eaLnBrk="1" fontAlgn="base" hangingPunct="1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530" indent="-182880" algn="l" rtl="0" eaLnBrk="1" latinLnBrk="0" hangingPunct="1">
        <a:spcBef>
          <a:spcPct val="20000"/>
        </a:spcBef>
        <a:buClr>
          <a:schemeClr val="accent5"/>
        </a:buClr>
        <a:buFont typeface="Arial" panose="020B0604020202020204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 panose="020B0604020202020204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950" indent="-182880" algn="l" rtl="0" eaLnBrk="1" latinLnBrk="0" hangingPunct="1">
        <a:spcBef>
          <a:spcPct val="20000"/>
        </a:spcBef>
        <a:buClr>
          <a:schemeClr val="accent6"/>
        </a:buClr>
        <a:buFont typeface="Arial" panose="020B0604020202020204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 panose="020B0604020202020204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oleObject" Target="../embeddings/oleObject6.bin"/><Relationship Id="rId7" Type="http://schemas.openxmlformats.org/officeDocument/2006/relationships/oleObject" Target="../embeddings/oleObject5.bin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191126" y="2695074"/>
            <a:ext cx="7467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4000" i="1" dirty="0" smtClean="0">
                <a:solidFill>
                  <a:schemeClr val="bg1"/>
                </a:solidFill>
                <a:latin typeface="Byington" pitchFamily="2" charset="0"/>
              </a:rPr>
              <a:t>Introduction to </a:t>
            </a:r>
            <a:br>
              <a:rPr lang="en-US" sz="4000" i="1" dirty="0" smtClean="0">
                <a:solidFill>
                  <a:schemeClr val="bg1"/>
                </a:solidFill>
                <a:latin typeface="Byington" pitchFamily="2" charset="0"/>
              </a:rPr>
            </a:br>
            <a:r>
              <a:rPr lang="en-US" sz="4000" i="1" dirty="0" smtClean="0">
                <a:solidFill>
                  <a:schemeClr val="bg1"/>
                </a:solidFill>
                <a:latin typeface="Byington" pitchFamily="2" charset="0"/>
              </a:rPr>
              <a:t>Banking </a:t>
            </a:r>
            <a:r>
              <a:rPr lang="en-US" sz="4000" i="1" dirty="0">
                <a:solidFill>
                  <a:schemeClr val="bg1"/>
                </a:solidFill>
                <a:latin typeface="Byington" pitchFamily="2" charset="0"/>
              </a:rPr>
              <a:t>Concepts</a:t>
            </a:r>
            <a:br>
              <a:rPr lang="en-US" sz="4000" i="1" dirty="0">
                <a:solidFill>
                  <a:schemeClr val="bg1"/>
                </a:solidFill>
                <a:latin typeface="Byington" pitchFamily="2" charset="0"/>
              </a:rPr>
            </a:br>
            <a:endParaRPr lang="en-US" sz="4000" i="1" dirty="0">
              <a:latin typeface="Byington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-1" y="0"/>
            <a:ext cx="8085221" cy="745958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3200" i="1" dirty="0">
                <a:solidFill>
                  <a:schemeClr val="bg1"/>
                </a:solidFill>
                <a:latin typeface="Byington" pitchFamily="2" charset="0"/>
              </a:rPr>
              <a:t>Banking </a:t>
            </a:r>
            <a:r>
              <a:rPr lang="en-US" sz="3200" i="1" dirty="0" smtClean="0">
                <a:solidFill>
                  <a:schemeClr val="bg1"/>
                </a:solidFill>
                <a:latin typeface="Byington" pitchFamily="2" charset="0"/>
              </a:rPr>
              <a:t>Concepts </a:t>
            </a:r>
            <a:r>
              <a:rPr lang="en-US" sz="3200" i="1" dirty="0" smtClean="0">
                <a:latin typeface="Byington" pitchFamily="2" charset="0"/>
              </a:rPr>
              <a:t>Industry </a:t>
            </a:r>
            <a:r>
              <a:rPr lang="en-US" sz="3200" i="1" dirty="0">
                <a:latin typeface="Byington" pitchFamily="2" charset="0"/>
              </a:rPr>
              <a:t>Terminology</a:t>
            </a:r>
            <a:endParaRPr lang="en-US" sz="3200" i="1" dirty="0">
              <a:latin typeface="Byington" pitchFamily="2" charset="0"/>
            </a:endParaRPr>
          </a:p>
        </p:txBody>
      </p:sp>
      <p:sp>
        <p:nvSpPr>
          <p:cNvPr id="196613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0" y="1130968"/>
            <a:ext cx="9144000" cy="5727032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r>
              <a:rPr lang="en-US" sz="2800" dirty="0"/>
              <a:t>Electronic funds transfer</a:t>
            </a:r>
            <a:r>
              <a:rPr lang="en-US" sz="2800" b="0" dirty="0"/>
              <a:t> or </a:t>
            </a:r>
            <a:r>
              <a:rPr lang="en-US" sz="2800" dirty="0"/>
              <a:t>EFT</a:t>
            </a:r>
            <a:r>
              <a:rPr lang="en-US" sz="2800" b="0" dirty="0"/>
              <a:t> refers to the computer-based systems used to perform financial transactions electronically.</a:t>
            </a:r>
            <a:endParaRPr lang="en-US" sz="2800" b="0" dirty="0"/>
          </a:p>
          <a:p>
            <a:pPr>
              <a:buFontTx/>
              <a:buNone/>
            </a:pPr>
            <a:endParaRPr lang="en-US" sz="2800" b="0" dirty="0"/>
          </a:p>
          <a:p>
            <a:pPr>
              <a:buFontTx/>
              <a:buNone/>
            </a:pPr>
            <a:r>
              <a:rPr lang="en-US" sz="2800" b="0" dirty="0"/>
              <a:t>The term is used for a number of different concepts:</a:t>
            </a:r>
            <a:endParaRPr lang="en-US" sz="2800" b="0" dirty="0"/>
          </a:p>
          <a:p>
            <a:r>
              <a:rPr lang="en-US" sz="2800" b="0" dirty="0"/>
              <a:t>Cardholder-initiated transactions, where a cardholder makes use of a payment card </a:t>
            </a:r>
            <a:endParaRPr lang="en-US" sz="2800" b="0" dirty="0"/>
          </a:p>
          <a:p>
            <a:r>
              <a:rPr lang="en-US" sz="2800" b="0" dirty="0"/>
              <a:t>Electronic payments by businesses, including salary payments </a:t>
            </a:r>
            <a:endParaRPr lang="en-US" sz="2800" b="0" dirty="0"/>
          </a:p>
          <a:p>
            <a:r>
              <a:rPr lang="en-US" sz="2800" b="0" dirty="0"/>
              <a:t>Electronic check (or </a:t>
            </a:r>
            <a:r>
              <a:rPr lang="en-US" sz="2800" b="0" dirty="0" err="1"/>
              <a:t>cheque</a:t>
            </a:r>
            <a:r>
              <a:rPr lang="en-US" sz="2800" b="0" dirty="0"/>
              <a:t>) clearing </a:t>
            </a:r>
            <a:endParaRPr lang="en-US" sz="28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12" name="Rectangle 8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EFT</a:t>
            </a:r>
            <a:r>
              <a:rPr lang="en-US" b="0"/>
              <a:t> </a:t>
            </a:r>
            <a:r>
              <a:rPr lang="en-US"/>
              <a:t>Participants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r>
              <a:rPr lang="en-US" b="0"/>
              <a:t>  ATM networks and owners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Information processors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Card organizations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Retailers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Brokerage firms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Hardware and software manufacturers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Government agencies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Industry consultants</a:t>
            </a:r>
            <a:endParaRPr lang="en-US" b="0"/>
          </a:p>
          <a:p>
            <a:pPr lvl="1">
              <a:lnSpc>
                <a:spcPct val="90000"/>
              </a:lnSpc>
            </a:pPr>
            <a:r>
              <a:rPr lang="en-US" b="0"/>
              <a:t>  Security firms</a:t>
            </a:r>
            <a:endParaRPr lang="en-US" b="0"/>
          </a:p>
          <a:p>
            <a:pPr>
              <a:lnSpc>
                <a:spcPct val="90000"/>
              </a:lnSpc>
            </a:pPr>
            <a:endParaRPr lang="en-US" b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-1" y="0"/>
            <a:ext cx="8085221" cy="7459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yington" pitchFamily="2" charset="0"/>
                <a:ea typeface="+mj-ea"/>
                <a:cs typeface="+mj-cs"/>
              </a:rPr>
              <a:t>Banking Concepts 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yington" pitchFamily="2" charset="0"/>
                <a:ea typeface="+mj-ea"/>
                <a:cs typeface="+mj-cs"/>
              </a:rPr>
              <a:t>Industry Terminology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yington" pitchFamily="2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000"/>
              <a:t>PAN (Personal Account Number)</a:t>
            </a:r>
            <a:endParaRPr lang="en-US" sz="2000"/>
          </a:p>
          <a:p>
            <a:r>
              <a:rPr lang="en-US" sz="2000"/>
              <a:t>ATM (Automated Teller Machine)</a:t>
            </a:r>
            <a:endParaRPr lang="en-US" sz="2000"/>
          </a:p>
          <a:p>
            <a:r>
              <a:rPr lang="en-US" sz="2000"/>
              <a:t>POS  (Point Of Sale)</a:t>
            </a:r>
            <a:endParaRPr lang="en-US" sz="2000"/>
          </a:p>
          <a:p>
            <a:r>
              <a:rPr lang="en-US" sz="2000"/>
              <a:t>PIN (Personal Identification Number)</a:t>
            </a:r>
            <a:endParaRPr lang="en-US" sz="2000"/>
          </a:p>
          <a:p>
            <a:r>
              <a:rPr lang="en-US" sz="2000"/>
              <a:t>Issuer        (The Authorizer)</a:t>
            </a:r>
            <a:endParaRPr lang="en-US" sz="2000"/>
          </a:p>
          <a:p>
            <a:r>
              <a:rPr lang="en-US" sz="2000"/>
              <a:t>Acquirer    (The Initiator)</a:t>
            </a:r>
            <a:endParaRPr lang="en-US" sz="2000"/>
          </a:p>
          <a:p>
            <a:r>
              <a:rPr lang="en-US" sz="2000"/>
              <a:t>On-us Transactions (Our Own Customers)</a:t>
            </a:r>
            <a:endParaRPr lang="en-US" sz="2000"/>
          </a:p>
          <a:p>
            <a:r>
              <a:rPr lang="en-US" sz="2000"/>
              <a:t>Off-us Transactions (Other Bank Customers)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	Not On-Us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	Remote On-Us</a:t>
            </a:r>
            <a:endParaRPr lang="en-US" sz="2000"/>
          </a:p>
          <a:p>
            <a:r>
              <a:rPr lang="en-US" sz="2000"/>
              <a:t>ISO  Message (International Organization for Standardization)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</a:t>
            </a:r>
            <a:endParaRPr lang="en-US" sz="200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-1" y="0"/>
            <a:ext cx="8085221" cy="7459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yington" pitchFamily="2" charset="0"/>
                <a:ea typeface="+mj-ea"/>
                <a:cs typeface="+mj-cs"/>
              </a:rPr>
              <a:t>Banking Concepts 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yington" pitchFamily="2" charset="0"/>
                <a:ea typeface="+mj-ea"/>
                <a:cs typeface="+mj-cs"/>
              </a:rPr>
              <a:t>Industry Terminology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yington" pitchFamily="2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1008063" y="1454150"/>
            <a:ext cx="6530975" cy="3956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Deposits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Withdrawals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Balance Inquiry transactions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Message to Institution transactions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Log only transactions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Pin Change transactions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Statement Print transactions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000"/>
              <a:t>  User Defined transactions</a:t>
            </a: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endParaRPr lang="en-US" sz="2000"/>
          </a:p>
          <a:p>
            <a:pPr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endParaRPr lang="en-US" sz="200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-1" y="0"/>
            <a:ext cx="8085221" cy="7459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yington" pitchFamily="2" charset="0"/>
                <a:ea typeface="+mj-ea"/>
                <a:cs typeface="+mj-cs"/>
              </a:rPr>
              <a:t>Banking Concepts 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yington" pitchFamily="2" charset="0"/>
                <a:ea typeface="+mj-ea"/>
                <a:cs typeface="+mj-cs"/>
              </a:rPr>
              <a:t>Industry Terminology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yington" pitchFamily="2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467600" cy="601579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i="1" dirty="0">
                <a:solidFill>
                  <a:schemeClr val="bg1"/>
                </a:solidFill>
                <a:latin typeface="Byington" pitchFamily="2" charset="0"/>
              </a:rPr>
              <a:t>Banking Concepts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3200" dirty="0"/>
              <a:t>Initial ATM Setup</a:t>
            </a:r>
            <a:endParaRPr lang="en-US" sz="3200" dirty="0"/>
          </a:p>
        </p:txBody>
      </p:sp>
      <p:sp>
        <p:nvSpPr>
          <p:cNvPr id="156688" name="Rectangle 16"/>
          <p:cNvSpPr>
            <a:spLocks noChangeArrowheads="1"/>
          </p:cNvSpPr>
          <p:nvPr/>
        </p:nvSpPr>
        <p:spPr bwMode="auto">
          <a:xfrm>
            <a:off x="555625" y="1524000"/>
            <a:ext cx="8588375" cy="5029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400"/>
              <a:t>ATM &lt;–&gt; Branch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/>
              <a:t>        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/>
              <a:t>    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/>
              <a:t>                                                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400"/>
              <a:t>ATM1, ATM2, ATM3&lt;-&gt; Branch</a:t>
            </a:r>
            <a:endParaRPr lang="en-US" sz="1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/>
              <a:t>                                             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/>
              <a:t>                                                                                                                                                                                               </a:t>
            </a:r>
            <a:endParaRPr lang="en-US" sz="2400"/>
          </a:p>
        </p:txBody>
      </p:sp>
      <p:graphicFrame>
        <p:nvGraphicFramePr>
          <p:cNvPr id="156689" name="Object 17"/>
          <p:cNvGraphicFramePr>
            <a:graphicFrameLocks noChangeAspect="1"/>
          </p:cNvGraphicFramePr>
          <p:nvPr/>
        </p:nvGraphicFramePr>
        <p:xfrm>
          <a:off x="1100138" y="2114550"/>
          <a:ext cx="158432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Bitmap Image" r:id="rId1" imgW="638175" imgH="590550" progId="Paint.Picture">
                  <p:embed/>
                </p:oleObj>
              </mc:Choice>
              <mc:Fallback>
                <p:oleObj name="Bitmap Image" r:id="rId1" imgW="638175" imgH="590550" progId="Paint.Picture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00138" y="2114550"/>
                        <a:ext cx="1584325" cy="1295400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0" name="Object 18"/>
          <p:cNvGraphicFramePr>
            <a:graphicFrameLocks noChangeAspect="1"/>
          </p:cNvGraphicFramePr>
          <p:nvPr/>
        </p:nvGraphicFramePr>
        <p:xfrm>
          <a:off x="6364288" y="2133600"/>
          <a:ext cx="1584325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itmap Image" r:id="rId3" imgW="666750" imgH="619125" progId="Paint.Picture">
                  <p:embed/>
                </p:oleObj>
              </mc:Choice>
              <mc:Fallback>
                <p:oleObj name="Bitmap Image" r:id="rId3" imgW="666750" imgH="619125" progId="Paint.Picture">
                  <p:embed/>
                  <p:pic>
                    <p:nvPicPr>
                      <p:cNvPr id="0" name="Picture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64288" y="2133600"/>
                        <a:ext cx="1584325" cy="1344613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91" name="Rectangle 19"/>
          <p:cNvSpPr>
            <a:spLocks noChangeArrowheads="1"/>
          </p:cNvSpPr>
          <p:nvPr/>
        </p:nvSpPr>
        <p:spPr bwMode="auto">
          <a:xfrm>
            <a:off x="4014788" y="2514600"/>
            <a:ext cx="1166812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b="0" dirty="0">
                <a:solidFill>
                  <a:schemeClr val="bg2"/>
                </a:solidFill>
                <a:latin typeface="Times New Roman" panose="02020603050405020304" pitchFamily="18" charset="0"/>
              </a:rPr>
              <a:t>Standalone</a:t>
            </a:r>
            <a:endParaRPr lang="en-US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b="0" dirty="0">
                <a:solidFill>
                  <a:schemeClr val="bg2"/>
                </a:solidFill>
                <a:latin typeface="Times New Roman" panose="02020603050405020304" pitchFamily="18" charset="0"/>
              </a:rPr>
              <a:t>PC</a:t>
            </a:r>
            <a:endParaRPr lang="en-US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6692" name="Line 20"/>
          <p:cNvSpPr>
            <a:spLocks noChangeShapeType="1"/>
          </p:cNvSpPr>
          <p:nvPr/>
        </p:nvSpPr>
        <p:spPr bwMode="auto">
          <a:xfrm>
            <a:off x="2728913" y="2627313"/>
            <a:ext cx="12477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6693" name="Line 21"/>
          <p:cNvSpPr>
            <a:spLocks noChangeShapeType="1"/>
          </p:cNvSpPr>
          <p:nvPr/>
        </p:nvSpPr>
        <p:spPr bwMode="auto">
          <a:xfrm flipH="1">
            <a:off x="2728913" y="3076575"/>
            <a:ext cx="12477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6694" name="Line 22"/>
          <p:cNvSpPr>
            <a:spLocks noChangeShapeType="1"/>
          </p:cNvSpPr>
          <p:nvPr/>
        </p:nvSpPr>
        <p:spPr bwMode="auto">
          <a:xfrm>
            <a:off x="5257800" y="2743200"/>
            <a:ext cx="11461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56695" name="Line 23"/>
          <p:cNvSpPr>
            <a:spLocks noChangeShapeType="1"/>
          </p:cNvSpPr>
          <p:nvPr/>
        </p:nvSpPr>
        <p:spPr bwMode="auto">
          <a:xfrm>
            <a:off x="5257800" y="3200400"/>
            <a:ext cx="112871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 type="none" w="sm" len="sm"/>
          </a:ln>
          <a:effectLst/>
        </p:spPr>
        <p:txBody>
          <a:bodyPr wrap="none"/>
          <a:lstStyle/>
          <a:p>
            <a:endParaRPr lang="en-IN"/>
          </a:p>
        </p:txBody>
      </p:sp>
      <p:graphicFrame>
        <p:nvGraphicFramePr>
          <p:cNvPr id="156696" name="Object 24"/>
          <p:cNvGraphicFramePr>
            <a:graphicFrameLocks noChangeAspect="1"/>
          </p:cNvGraphicFramePr>
          <p:nvPr/>
        </p:nvGraphicFramePr>
        <p:xfrm>
          <a:off x="1271588" y="4567238"/>
          <a:ext cx="6096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Bitmap Image" r:id="rId5" imgW="638175" imgH="590550" progId="Paint.Picture">
                  <p:embed/>
                </p:oleObj>
              </mc:Choice>
              <mc:Fallback>
                <p:oleObj name="Bitmap Image" r:id="rId5" imgW="638175" imgH="590550" progId="Paint.Picture">
                  <p:embed/>
                  <p:pic>
                    <p:nvPicPr>
                      <p:cNvPr id="0" name="Picture 102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1588" y="4567238"/>
                        <a:ext cx="609600" cy="544512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7" name="Object 25"/>
          <p:cNvGraphicFramePr>
            <a:graphicFrameLocks noChangeAspect="1"/>
          </p:cNvGraphicFramePr>
          <p:nvPr/>
        </p:nvGraphicFramePr>
        <p:xfrm>
          <a:off x="1271588" y="5253038"/>
          <a:ext cx="6096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Bitmap Image" r:id="rId6" imgW="638175" imgH="590550" progId="Paint.Picture">
                  <p:embed/>
                </p:oleObj>
              </mc:Choice>
              <mc:Fallback>
                <p:oleObj name="Bitmap Image" r:id="rId6" imgW="638175" imgH="590550" progId="Paint.Picture">
                  <p:embed/>
                  <p:pic>
                    <p:nvPicPr>
                      <p:cNvPr id="0" name="Picture 102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1588" y="5253038"/>
                        <a:ext cx="609600" cy="544512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8" name="Object 26"/>
          <p:cNvGraphicFramePr>
            <a:graphicFrameLocks noChangeAspect="1"/>
          </p:cNvGraphicFramePr>
          <p:nvPr/>
        </p:nvGraphicFramePr>
        <p:xfrm>
          <a:off x="1271588" y="5938838"/>
          <a:ext cx="6096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Bitmap Image" r:id="rId7" imgW="638175" imgH="590550" progId="Paint.Picture">
                  <p:embed/>
                </p:oleObj>
              </mc:Choice>
              <mc:Fallback>
                <p:oleObj name="Bitmap Image" r:id="rId7" imgW="638175" imgH="590550" progId="Paint.Picture">
                  <p:embed/>
                  <p:pic>
                    <p:nvPicPr>
                      <p:cNvPr id="0" name="Picture 10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1588" y="5938838"/>
                        <a:ext cx="609600" cy="544512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9" name="Object 27"/>
          <p:cNvGraphicFramePr>
            <a:graphicFrameLocks noChangeAspect="1"/>
          </p:cNvGraphicFramePr>
          <p:nvPr/>
        </p:nvGraphicFramePr>
        <p:xfrm>
          <a:off x="5767388" y="4491038"/>
          <a:ext cx="1447800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Bitmap Image" r:id="rId8" imgW="666750" imgH="619125" progId="Paint.Picture">
                  <p:embed/>
                </p:oleObj>
              </mc:Choice>
              <mc:Fallback>
                <p:oleObj name="Bitmap Image" r:id="rId8" imgW="666750" imgH="619125" progId="Paint.Picture">
                  <p:embed/>
                  <p:pic>
                    <p:nvPicPr>
                      <p:cNvPr id="0" name="Picture 10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67388" y="4491038"/>
                        <a:ext cx="1447800" cy="1344612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700" name="Rectangle 28"/>
          <p:cNvSpPr>
            <a:spLocks noChangeArrowheads="1"/>
          </p:cNvSpPr>
          <p:nvPr/>
        </p:nvSpPr>
        <p:spPr bwMode="auto">
          <a:xfrm>
            <a:off x="3481388" y="5024438"/>
            <a:ext cx="10668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b="0" dirty="0">
                <a:solidFill>
                  <a:schemeClr val="bg2"/>
                </a:solidFill>
                <a:latin typeface="Times New Roman" panose="02020603050405020304" pitchFamily="18" charset="0"/>
              </a:rPr>
              <a:t>Standalone</a:t>
            </a:r>
            <a:endParaRPr lang="en-US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b="0" dirty="0">
                <a:solidFill>
                  <a:schemeClr val="bg2"/>
                </a:solidFill>
                <a:latin typeface="Times New Roman" panose="02020603050405020304" pitchFamily="18" charset="0"/>
              </a:rPr>
              <a:t>PC</a:t>
            </a:r>
            <a:endParaRPr lang="en-US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6701" name="Line 29"/>
          <p:cNvSpPr>
            <a:spLocks noChangeShapeType="1"/>
          </p:cNvSpPr>
          <p:nvPr/>
        </p:nvSpPr>
        <p:spPr bwMode="auto">
          <a:xfrm>
            <a:off x="1881188" y="4800600"/>
            <a:ext cx="160020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56702" name="Line 30"/>
          <p:cNvSpPr>
            <a:spLocks noChangeShapeType="1"/>
          </p:cNvSpPr>
          <p:nvPr/>
        </p:nvSpPr>
        <p:spPr bwMode="auto">
          <a:xfrm flipV="1">
            <a:off x="1957388" y="5410200"/>
            <a:ext cx="1524000" cy="76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56703" name="Line 31"/>
          <p:cNvSpPr>
            <a:spLocks noChangeShapeType="1"/>
          </p:cNvSpPr>
          <p:nvPr/>
        </p:nvSpPr>
        <p:spPr bwMode="auto">
          <a:xfrm flipV="1">
            <a:off x="1957388" y="5562600"/>
            <a:ext cx="152400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56704" name="Line 32"/>
          <p:cNvSpPr>
            <a:spLocks noChangeShapeType="1"/>
          </p:cNvSpPr>
          <p:nvPr/>
        </p:nvSpPr>
        <p:spPr bwMode="auto">
          <a:xfrm>
            <a:off x="4548188" y="5334000"/>
            <a:ext cx="1219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56705" name="Text Box 33"/>
          <p:cNvSpPr txBox="1">
            <a:spLocks noChangeArrowheads="1"/>
          </p:cNvSpPr>
          <p:nvPr/>
        </p:nvSpPr>
        <p:spPr bwMode="auto">
          <a:xfrm>
            <a:off x="6138863" y="3471863"/>
            <a:ext cx="2119312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BRANCH</a:t>
            </a:r>
            <a:r>
              <a:rPr lang="en-US" sz="2000"/>
              <a:t> </a:t>
            </a:r>
            <a:r>
              <a:rPr lang="en-US" sz="1600"/>
              <a:t>D/B</a:t>
            </a:r>
            <a:endParaRPr lang="en-US" sz="1600"/>
          </a:p>
        </p:txBody>
      </p:sp>
      <p:sp>
        <p:nvSpPr>
          <p:cNvPr id="156706" name="Text Box 34"/>
          <p:cNvSpPr txBox="1">
            <a:spLocks noChangeArrowheads="1"/>
          </p:cNvSpPr>
          <p:nvPr/>
        </p:nvSpPr>
        <p:spPr bwMode="auto">
          <a:xfrm>
            <a:off x="5691188" y="5824538"/>
            <a:ext cx="2119312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BRANCH</a:t>
            </a:r>
            <a:r>
              <a:rPr lang="en-US" sz="2000"/>
              <a:t> </a:t>
            </a:r>
            <a:r>
              <a:rPr lang="en-US" sz="1600"/>
              <a:t>D/B</a:t>
            </a:r>
            <a:endParaRPr lang="en-US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Banking Concepts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/>
              <a:t>Switching Server</a:t>
            </a:r>
            <a:endParaRPr 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000"/>
              <a:t>What is a Switch?</a:t>
            </a:r>
            <a:endParaRPr lang="en-US" sz="2000"/>
          </a:p>
          <a:p>
            <a:pPr lvl="1"/>
            <a:r>
              <a:rPr lang="en-US" sz="2000"/>
              <a:t>Software module</a:t>
            </a:r>
            <a:endParaRPr lang="en-US" sz="2000"/>
          </a:p>
          <a:p>
            <a:pPr lvl="1"/>
            <a:r>
              <a:rPr lang="en-US" sz="2000"/>
              <a:t>Route the information between sources and destinations</a:t>
            </a:r>
            <a:endParaRPr lang="en-US" sz="2000"/>
          </a:p>
          <a:p>
            <a:pPr lvl="1"/>
            <a:r>
              <a:rPr lang="en-US" sz="2000"/>
              <a:t>Processing transactions </a:t>
            </a:r>
            <a:endParaRPr lang="en-US" sz="2000"/>
          </a:p>
          <a:p>
            <a:endParaRPr lang="en-US" sz="2000"/>
          </a:p>
          <a:p>
            <a:r>
              <a:rPr lang="en-US" sz="2000"/>
              <a:t>Examples</a:t>
            </a:r>
            <a:endParaRPr lang="en-US" sz="2000"/>
          </a:p>
          <a:p>
            <a:pPr>
              <a:buFontTx/>
              <a:buNone/>
            </a:pPr>
            <a:endParaRPr lang="en-US" sz="2000"/>
          </a:p>
          <a:p>
            <a:pPr>
              <a:buFontTx/>
              <a:buNone/>
            </a:pPr>
            <a:r>
              <a:rPr lang="en-US" sz="2000"/>
              <a:t>		- BASE24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	- CONNEX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	- Oasis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	- Sparrow</a:t>
            </a:r>
            <a:r>
              <a:rPr lang="en-US" sz="2000" b="0"/>
              <a:t>	</a:t>
            </a:r>
            <a:endParaRPr lang="en-US" sz="2000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467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i="1" dirty="0">
                <a:solidFill>
                  <a:schemeClr val="bg1"/>
                </a:solidFill>
                <a:latin typeface="Byington" pitchFamily="2" charset="0"/>
              </a:rPr>
              <a:t>Banking Concepts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3200" dirty="0"/>
              <a:t>Purpose of Switch Software</a:t>
            </a:r>
            <a:endParaRPr lang="en-US" sz="3200" dirty="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743075"/>
            <a:ext cx="8229600" cy="4525963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000"/>
              <a:t>Switch is a routing facility of information between sources and destinations Processes Transactions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 </a:t>
            </a:r>
            <a:endParaRPr lang="en-US" sz="2000"/>
          </a:p>
          <a:p>
            <a:r>
              <a:rPr lang="en-US" sz="2000"/>
              <a:t>Switch process transactions from ATM and Merchant's Point of Sale terminals</a:t>
            </a:r>
            <a:endParaRPr lang="en-US" sz="2000"/>
          </a:p>
          <a:p>
            <a:pPr>
              <a:buFontTx/>
              <a:buNone/>
            </a:pPr>
            <a:endParaRPr lang="en-US" sz="2000"/>
          </a:p>
          <a:p>
            <a:r>
              <a:rPr lang="en-US" sz="2000"/>
              <a:t>Switch process requests from financial institutions and their branches</a:t>
            </a:r>
            <a:endParaRPr lang="en-US" sz="2000"/>
          </a:p>
          <a:p>
            <a:pPr>
              <a:buFontTx/>
              <a:buNone/>
            </a:pPr>
            <a:endParaRPr lang="en-US" sz="2000"/>
          </a:p>
          <a:p>
            <a:r>
              <a:rPr lang="en-US" sz="2000"/>
              <a:t>Switch process requests from financial networks and internet</a:t>
            </a:r>
            <a:endParaRPr lang="en-US" sz="2000"/>
          </a:p>
          <a:p>
            <a:pPr>
              <a:buFontTx/>
              <a:buNone/>
            </a:pPr>
            <a:r>
              <a:rPr lang="en-US" sz="2000" b="0"/>
              <a:t>	</a:t>
            </a:r>
            <a:endParaRPr lang="en-US" sz="2000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467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i="1" dirty="0">
                <a:solidFill>
                  <a:schemeClr val="bg1"/>
                </a:solidFill>
                <a:latin typeface="Byington" pitchFamily="2" charset="0"/>
              </a:rPr>
              <a:t>Banking Concepts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3200" dirty="0"/>
              <a:t>Devices Connected to a Switch Server </a:t>
            </a:r>
            <a:endParaRPr lang="en-US" sz="3200" dirty="0"/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/>
              <a:t>ATM (Automated Teller Machine)</a:t>
            </a:r>
            <a:endParaRPr lang="en-US"/>
          </a:p>
          <a:p>
            <a:r>
              <a:rPr lang="en-US"/>
              <a:t>HSM (Host Security Module)</a:t>
            </a:r>
            <a:endParaRPr lang="en-US"/>
          </a:p>
          <a:p>
            <a:r>
              <a:rPr lang="en-US"/>
              <a:t>Bank Host (Bank Database Server)</a:t>
            </a:r>
            <a:endParaRPr lang="en-US"/>
          </a:p>
          <a:p>
            <a:r>
              <a:rPr lang="en-US"/>
              <a:t>POS (Point of Sale)</a:t>
            </a:r>
            <a:endParaRPr lang="en-US"/>
          </a:p>
          <a:p>
            <a:r>
              <a:rPr lang="en-US"/>
              <a:t>Network Access Controller</a:t>
            </a:r>
            <a:endParaRPr lang="en-US"/>
          </a:p>
          <a:p>
            <a:r>
              <a:rPr lang="en-US"/>
              <a:t>Connectivity to External Networks</a:t>
            </a:r>
            <a:endParaRPr lang="en-US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000" i="1" dirty="0">
                <a:solidFill>
                  <a:schemeClr val="bg1"/>
                </a:solidFill>
                <a:latin typeface="Byington" pitchFamily="2" charset="0"/>
              </a:rPr>
              <a:t>Banking Concepts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3200" dirty="0"/>
              <a:t>Scenario of a Switch Network</a:t>
            </a:r>
            <a:r>
              <a:rPr lang="en-US" dirty="0"/>
              <a:t> </a:t>
            </a:r>
            <a:endParaRPr lang="en-US" dirty="0"/>
          </a:p>
        </p:txBody>
      </p:sp>
      <p:pic>
        <p:nvPicPr>
          <p:cNvPr id="163845" name="Picture 5" descr="atm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09613" y="1524000"/>
            <a:ext cx="8353425" cy="5059363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400" i="1" dirty="0">
                <a:solidFill>
                  <a:schemeClr val="bg1"/>
                </a:solidFill>
                <a:latin typeface="Byington" pitchFamily="2" charset="0"/>
              </a:rPr>
              <a:t>Banking Concepts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dirty="0"/>
              <a:t>Switch Modules</a:t>
            </a:r>
            <a:r>
              <a:rPr lang="en-US" sz="4000" dirty="0"/>
              <a:t> </a:t>
            </a:r>
            <a:endParaRPr lang="en-US" sz="4000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/>
              <a:t>Terminal Handler (ATM/POS)</a:t>
            </a:r>
            <a:endParaRPr lang="en-US"/>
          </a:p>
          <a:p>
            <a:r>
              <a:rPr lang="en-US"/>
              <a:t>Authorization Module</a:t>
            </a:r>
            <a:endParaRPr lang="en-US"/>
          </a:p>
          <a:p>
            <a:r>
              <a:rPr lang="en-US"/>
              <a:t>Security Module</a:t>
            </a:r>
            <a:endParaRPr lang="en-US"/>
          </a:p>
          <a:p>
            <a:r>
              <a:rPr lang="en-US"/>
              <a:t>Host Interface Module</a:t>
            </a:r>
            <a:endParaRPr lang="en-US"/>
          </a:p>
          <a:p>
            <a:r>
              <a:rPr lang="en-US"/>
              <a:t>Interchange Interface Module</a:t>
            </a:r>
            <a:endParaRPr lang="en-US"/>
          </a:p>
          <a:p>
            <a:pPr>
              <a:buFontTx/>
              <a:buNone/>
            </a:pPr>
            <a:r>
              <a:rPr lang="en-US"/>
              <a:t>			(MasterCard, visa)</a:t>
            </a:r>
            <a:endParaRPr lang="en-US"/>
          </a:p>
          <a:p>
            <a:pPr>
              <a:buFontTx/>
              <a:buNone/>
            </a:pPr>
            <a:endParaRPr lang="en-US"/>
          </a:p>
          <a:p>
            <a:endParaRPr lang="en-US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4138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Banking Concepts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3200" dirty="0"/>
              <a:t>Types of Switch</a:t>
            </a:r>
            <a:endParaRPr lang="en-US" sz="3200" dirty="0"/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800"/>
              <a:t>Stand-Alone Switch</a:t>
            </a:r>
            <a:endParaRPr lang="en-US" sz="2800"/>
          </a:p>
          <a:p>
            <a:pPr>
              <a:lnSpc>
                <a:spcPct val="50000"/>
              </a:lnSpc>
              <a:buFontTx/>
              <a:buNone/>
            </a:pPr>
            <a:r>
              <a:rPr lang="en-US" sz="3200"/>
              <a:t>             </a:t>
            </a:r>
            <a:r>
              <a:rPr lang="en-US" sz="2000"/>
              <a:t>*</a:t>
            </a:r>
            <a:r>
              <a:rPr lang="en-US" sz="3200"/>
              <a:t> </a:t>
            </a:r>
            <a:r>
              <a:rPr lang="en-US" sz="2000"/>
              <a:t>Owned by the Institution</a:t>
            </a:r>
            <a:endParaRPr lang="en-US" sz="2000"/>
          </a:p>
          <a:p>
            <a:r>
              <a:rPr lang="en-US" sz="2800"/>
              <a:t>Inter-Regional Switch</a:t>
            </a:r>
            <a:endParaRPr lang="en-US" sz="2800"/>
          </a:p>
          <a:p>
            <a:pPr>
              <a:buFontTx/>
              <a:buNone/>
            </a:pPr>
            <a:r>
              <a:rPr lang="en-US" sz="2000"/>
              <a:t>	               * Interconnected with in the country</a:t>
            </a:r>
            <a:endParaRPr lang="en-US" sz="2000"/>
          </a:p>
          <a:p>
            <a:r>
              <a:rPr lang="en-US" sz="2800"/>
              <a:t>Inter-Network Switch</a:t>
            </a:r>
            <a:endParaRPr lang="en-US" sz="2800"/>
          </a:p>
          <a:p>
            <a:pPr>
              <a:buFontTx/>
              <a:buNone/>
            </a:pPr>
            <a:r>
              <a:rPr lang="en-US" sz="2000"/>
              <a:t>		      * Interconnected Internationally</a:t>
            </a:r>
            <a:endParaRPr lang="en-US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81013" y="33338"/>
            <a:ext cx="8205787" cy="106997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800">
                <a:solidFill>
                  <a:schemeClr val="bg1"/>
                </a:solidFill>
              </a:rPr>
              <a:t>Banking </a:t>
            </a:r>
            <a:r>
              <a:rPr lang="en-US" sz="4400">
                <a:solidFill>
                  <a:schemeClr val="bg1"/>
                </a:solidFill>
              </a:rPr>
              <a:t>Concepts</a:t>
            </a:r>
            <a:br>
              <a:rPr lang="en-US" sz="4800">
                <a:solidFill>
                  <a:schemeClr val="bg1"/>
                </a:solidFill>
              </a:rPr>
            </a:br>
            <a:r>
              <a:rPr lang="en-US" sz="4800">
                <a:solidFill>
                  <a:schemeClr val="bg1"/>
                </a:solidFill>
              </a:rPr>
              <a:t> </a:t>
            </a:r>
            <a:r>
              <a:rPr lang="en-US" sz="3200"/>
              <a:t>Stand-Alone Switch</a:t>
            </a:r>
            <a:endParaRPr lang="en-US" sz="3200"/>
          </a:p>
        </p:txBody>
      </p:sp>
      <p:pic>
        <p:nvPicPr>
          <p:cNvPr id="167941" name="Picture 5" descr="atm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1155222" y="1600200"/>
            <a:ext cx="6071556" cy="4525963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6038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800">
                <a:solidFill>
                  <a:schemeClr val="bg1"/>
                </a:solidFill>
              </a:rPr>
              <a:t>Banking </a:t>
            </a:r>
            <a:r>
              <a:rPr lang="en-US" sz="4400">
                <a:solidFill>
                  <a:schemeClr val="bg1"/>
                </a:solidFill>
              </a:rPr>
              <a:t>Concepts</a:t>
            </a:r>
            <a:br>
              <a:rPr lang="en-US" sz="4800">
                <a:solidFill>
                  <a:schemeClr val="bg1"/>
                </a:solidFill>
              </a:rPr>
            </a:br>
            <a:r>
              <a:rPr lang="en-US" sz="4800">
                <a:solidFill>
                  <a:schemeClr val="bg1"/>
                </a:solidFill>
              </a:rPr>
              <a:t> </a:t>
            </a:r>
            <a:r>
              <a:rPr lang="en-US" sz="3200"/>
              <a:t>Inter-Regional Switch</a:t>
            </a:r>
            <a:endParaRPr lang="en-US" sz="3200"/>
          </a:p>
        </p:txBody>
      </p:sp>
      <p:graphicFrame>
        <p:nvGraphicFramePr>
          <p:cNvPr id="168965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285875" y="1335088"/>
          <a:ext cx="569595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Bitmap Image" r:id="rId1" imgW="5695950" imgH="3962400" progId="Paint.Picture">
                  <p:embed/>
                </p:oleObj>
              </mc:Choice>
              <mc:Fallback>
                <p:oleObj name="Bitmap Image" r:id="rId1" imgW="5695950" imgH="3962400" progId="Paint.Picture">
                  <p:embed/>
                  <p:pic>
                    <p:nvPicPr>
                      <p:cNvPr id="0" name="Picture 2048"/>
                      <p:cNvPicPr>
                        <a:picLocks noGrp="1"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5875" y="1335088"/>
                        <a:ext cx="5695950" cy="3962400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800" i="1" dirty="0">
                <a:solidFill>
                  <a:schemeClr val="bg1"/>
                </a:solidFill>
                <a:latin typeface="Byington" pitchFamily="2" charset="0"/>
              </a:rPr>
              <a:t>Banking </a:t>
            </a:r>
            <a:r>
              <a:rPr lang="en-US" sz="4400" i="1" dirty="0">
                <a:solidFill>
                  <a:schemeClr val="bg1"/>
                </a:solidFill>
                <a:latin typeface="Byington" pitchFamily="2" charset="0"/>
              </a:rPr>
              <a:t>Concepts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3200" dirty="0"/>
              <a:t>Inter-Network Switch</a:t>
            </a:r>
            <a:endParaRPr lang="en-US" sz="3200" dirty="0"/>
          </a:p>
        </p:txBody>
      </p:sp>
      <p:graphicFrame>
        <p:nvGraphicFramePr>
          <p:cNvPr id="171013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524000" y="1916113"/>
          <a:ext cx="5334000" cy="38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Bitmap Image" r:id="rId1" imgW="5334000" imgH="3895725" progId="Paint.Picture">
                  <p:embed/>
                </p:oleObj>
              </mc:Choice>
              <mc:Fallback>
                <p:oleObj name="Bitmap Image" r:id="rId1" imgW="5334000" imgH="3895725" progId="Paint.Picture">
                  <p:embed/>
                  <p:pic>
                    <p:nvPicPr>
                      <p:cNvPr id="0" name="Picture 3072"/>
                      <p:cNvPicPr>
                        <a:picLocks noGrp="1"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1916113"/>
                        <a:ext cx="5334000" cy="3895725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6" name="Text Box 8"/>
          <p:cNvSpPr txBox="1">
            <a:spLocks noChangeArrowheads="1"/>
          </p:cNvSpPr>
          <p:nvPr/>
        </p:nvSpPr>
        <p:spPr bwMode="auto">
          <a:xfrm>
            <a:off x="5535613" y="2297113"/>
            <a:ext cx="627062" cy="27463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/>
              <a:t>AMEX</a:t>
            </a:r>
            <a:endParaRPr lang="en-US" sz="12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400" i="1" dirty="0">
                <a:solidFill>
                  <a:schemeClr val="bg1"/>
                </a:solidFill>
                <a:latin typeface="Byington" pitchFamily="2" charset="0"/>
              </a:rPr>
              <a:t>Banking Concepts</a:t>
            </a:r>
            <a:br>
              <a:rPr lang="en-US" sz="4400" dirty="0">
                <a:solidFill>
                  <a:schemeClr val="bg1"/>
                </a:solidFill>
              </a:rPr>
            </a:br>
            <a:endParaRPr lang="en-US" sz="4000" dirty="0"/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3314700" y="2654300"/>
            <a:ext cx="2362200" cy="4114800"/>
          </a:xfrm>
          <a:prstGeom prst="rect">
            <a:avLst/>
          </a:prstGeom>
          <a:solidFill>
            <a:srgbClr val="7030A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endParaRPr lang="en-US" sz="2400" b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sz="2400" b="0">
                <a:latin typeface="Times New Roman" panose="02020603050405020304" pitchFamily="18" charset="0"/>
              </a:rPr>
              <a:t>SwitchServer</a:t>
            </a:r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1028700" y="3035300"/>
            <a:ext cx="1600200" cy="1143000"/>
          </a:xfrm>
          <a:prstGeom prst="rect">
            <a:avLst/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400" b="0" dirty="0">
                <a:solidFill>
                  <a:schemeClr val="bg2"/>
                </a:solidFill>
                <a:latin typeface="Narkisim" pitchFamily="34" charset="-79"/>
                <a:ea typeface="BatangChe" pitchFamily="49" charset="-127"/>
                <a:cs typeface="Narkisim" pitchFamily="34" charset="-79"/>
              </a:rPr>
              <a:t>ATM</a:t>
            </a:r>
            <a:endParaRPr lang="en-US" sz="2400" b="0" dirty="0">
              <a:solidFill>
                <a:schemeClr val="bg2"/>
              </a:solidFill>
              <a:latin typeface="Narkisim" pitchFamily="34" charset="-79"/>
              <a:ea typeface="BatangChe" pitchFamily="49" charset="-127"/>
              <a:cs typeface="Narkisim" pitchFamily="34" charset="-79"/>
            </a:endParaRPr>
          </a:p>
        </p:txBody>
      </p:sp>
      <p:sp>
        <p:nvSpPr>
          <p:cNvPr id="176134" name="Rectangle 6"/>
          <p:cNvSpPr>
            <a:spLocks noChangeArrowheads="1"/>
          </p:cNvSpPr>
          <p:nvPr/>
        </p:nvSpPr>
        <p:spPr bwMode="auto">
          <a:xfrm>
            <a:off x="6362700" y="4864100"/>
            <a:ext cx="175260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400" b="0">
                <a:solidFill>
                  <a:schemeClr val="bg2"/>
                </a:solidFill>
                <a:latin typeface="Narkisim" pitchFamily="34" charset="-79"/>
                <a:cs typeface="Narkisim" pitchFamily="34" charset="-79"/>
              </a:rPr>
              <a:t>Host</a:t>
            </a:r>
            <a:endParaRPr lang="en-US" sz="2400" b="0">
              <a:solidFill>
                <a:schemeClr val="bg2"/>
              </a:solidFill>
              <a:latin typeface="Narkisim" pitchFamily="34" charset="-79"/>
              <a:cs typeface="Narkisim" pitchFamily="34" charset="-79"/>
            </a:endParaRPr>
          </a:p>
          <a:p>
            <a:pPr algn="ctr" eaLnBrk="1" hangingPunct="1"/>
            <a:r>
              <a:rPr lang="en-US" sz="2400" b="0">
                <a:solidFill>
                  <a:schemeClr val="bg2"/>
                </a:solidFill>
                <a:latin typeface="Narkisim" pitchFamily="34" charset="-79"/>
                <a:cs typeface="Narkisim" pitchFamily="34" charset="-79"/>
              </a:rPr>
              <a:t>Security</a:t>
            </a:r>
            <a:endParaRPr lang="en-US" sz="2400" b="0">
              <a:solidFill>
                <a:schemeClr val="bg2"/>
              </a:solidFill>
              <a:latin typeface="Narkisim" pitchFamily="34" charset="-79"/>
              <a:cs typeface="Narkisim" pitchFamily="34" charset="-79"/>
            </a:endParaRPr>
          </a:p>
          <a:p>
            <a:pPr algn="ctr" eaLnBrk="1" hangingPunct="1"/>
            <a:r>
              <a:rPr lang="en-US" sz="2400" b="0">
                <a:solidFill>
                  <a:schemeClr val="bg2"/>
                </a:solidFill>
                <a:latin typeface="Narkisim" pitchFamily="34" charset="-79"/>
                <a:cs typeface="Narkisim" pitchFamily="34" charset="-79"/>
              </a:rPr>
              <a:t>Module</a:t>
            </a:r>
            <a:endParaRPr lang="en-US" sz="2400" b="0">
              <a:solidFill>
                <a:schemeClr val="bg2"/>
              </a:solidFill>
              <a:latin typeface="Narkisim" pitchFamily="34" charset="-79"/>
              <a:cs typeface="Narkisim" pitchFamily="34" charset="-79"/>
            </a:endParaRPr>
          </a:p>
        </p:txBody>
      </p:sp>
      <p:sp>
        <p:nvSpPr>
          <p:cNvPr id="176135" name="Rectangle 7"/>
          <p:cNvSpPr>
            <a:spLocks noChangeArrowheads="1"/>
          </p:cNvSpPr>
          <p:nvPr/>
        </p:nvSpPr>
        <p:spPr bwMode="auto">
          <a:xfrm>
            <a:off x="6438900" y="3035300"/>
            <a:ext cx="160020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400" b="0" dirty="0">
                <a:solidFill>
                  <a:schemeClr val="bg2"/>
                </a:solidFill>
                <a:latin typeface="Narkisim" pitchFamily="34" charset="-79"/>
                <a:cs typeface="Narkisim" pitchFamily="34" charset="-79"/>
              </a:rPr>
              <a:t>Bank Host</a:t>
            </a:r>
            <a:endParaRPr lang="en-US" sz="2400" b="0" dirty="0">
              <a:solidFill>
                <a:schemeClr val="bg2"/>
              </a:solidFill>
              <a:latin typeface="Narkisim" pitchFamily="34" charset="-79"/>
              <a:cs typeface="Narkisim" pitchFamily="34" charset="-79"/>
            </a:endParaRPr>
          </a:p>
          <a:p>
            <a:pPr algn="ctr" eaLnBrk="1" hangingPunct="1"/>
            <a:r>
              <a:rPr lang="en-US" sz="2400" b="0" dirty="0">
                <a:solidFill>
                  <a:schemeClr val="bg2"/>
                </a:solidFill>
                <a:latin typeface="Narkisim" pitchFamily="34" charset="-79"/>
                <a:cs typeface="Narkisim" pitchFamily="34" charset="-79"/>
              </a:rPr>
              <a:t>(</a:t>
            </a:r>
            <a:r>
              <a:rPr lang="en-US" sz="2400" b="0" dirty="0" err="1">
                <a:solidFill>
                  <a:schemeClr val="bg2"/>
                </a:solidFill>
                <a:latin typeface="Narkisim" pitchFamily="34" charset="-79"/>
                <a:cs typeface="Narkisim" pitchFamily="34" charset="-79"/>
              </a:rPr>
              <a:t>DataBase</a:t>
            </a:r>
            <a:r>
              <a:rPr lang="en-US" sz="2400" b="0" dirty="0">
                <a:solidFill>
                  <a:schemeClr val="bg2"/>
                </a:solidFill>
                <a:latin typeface="Narkisim" pitchFamily="34" charset="-79"/>
                <a:cs typeface="Narkisim" pitchFamily="34" charset="-79"/>
              </a:rPr>
              <a:t>)</a:t>
            </a:r>
            <a:endParaRPr lang="en-US" sz="2400" b="0" dirty="0">
              <a:solidFill>
                <a:schemeClr val="bg2"/>
              </a:solidFill>
              <a:latin typeface="Narkisim" pitchFamily="34" charset="-79"/>
              <a:cs typeface="Narkisim" pitchFamily="34" charset="-79"/>
            </a:endParaRPr>
          </a:p>
        </p:txBody>
      </p:sp>
      <p:sp>
        <p:nvSpPr>
          <p:cNvPr id="176136" name="Rectangle 8"/>
          <p:cNvSpPr>
            <a:spLocks noChangeArrowheads="1"/>
          </p:cNvSpPr>
          <p:nvPr/>
        </p:nvSpPr>
        <p:spPr bwMode="auto">
          <a:xfrm>
            <a:off x="3695700" y="3035300"/>
            <a:ext cx="1600200" cy="1143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400" b="0" dirty="0">
                <a:solidFill>
                  <a:schemeClr val="bg2"/>
                </a:solidFill>
                <a:latin typeface="Stencil" panose="040409050D0802020404" pitchFamily="82" charset="0"/>
              </a:rPr>
              <a:t>Switch</a:t>
            </a:r>
            <a:endParaRPr lang="en-US" sz="2400" b="0" dirty="0">
              <a:solidFill>
                <a:schemeClr val="bg2"/>
              </a:solidFill>
              <a:latin typeface="Stencil" panose="040409050D0802020404" pitchFamily="82" charset="0"/>
            </a:endParaRPr>
          </a:p>
          <a:p>
            <a:pPr algn="ctr" eaLnBrk="1" hangingPunct="1"/>
            <a:r>
              <a:rPr lang="en-US" sz="2400" b="0" dirty="0">
                <a:solidFill>
                  <a:schemeClr val="bg2"/>
                </a:solidFill>
                <a:latin typeface="Stencil" panose="040409050D0802020404" pitchFamily="82" charset="0"/>
              </a:rPr>
              <a:t>Product</a:t>
            </a:r>
            <a:endParaRPr lang="en-US" sz="2400" b="0" dirty="0">
              <a:solidFill>
                <a:schemeClr val="bg2"/>
              </a:solidFill>
              <a:latin typeface="Stencil" panose="040409050D0802020404" pitchFamily="82" charset="0"/>
            </a:endParaRPr>
          </a:p>
        </p:txBody>
      </p:sp>
      <p:sp>
        <p:nvSpPr>
          <p:cNvPr id="176137" name="AutoShape 9"/>
          <p:cNvSpPr>
            <a:spLocks noChangeArrowheads="1"/>
          </p:cNvSpPr>
          <p:nvPr/>
        </p:nvSpPr>
        <p:spPr bwMode="auto">
          <a:xfrm>
            <a:off x="4000500" y="4787900"/>
            <a:ext cx="914400" cy="1371600"/>
          </a:xfrm>
          <a:prstGeom prst="flowChartMagneticDisk">
            <a:avLst/>
          </a:prstGeom>
          <a:solidFill>
            <a:srgbClr val="00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76139" name="Line 11"/>
          <p:cNvSpPr>
            <a:spLocks noChangeShapeType="1"/>
          </p:cNvSpPr>
          <p:nvPr/>
        </p:nvSpPr>
        <p:spPr bwMode="auto">
          <a:xfrm>
            <a:off x="2019300" y="2273300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0" name="Line 12"/>
          <p:cNvSpPr>
            <a:spLocks noChangeShapeType="1"/>
          </p:cNvSpPr>
          <p:nvPr/>
        </p:nvSpPr>
        <p:spPr bwMode="auto">
          <a:xfrm>
            <a:off x="2628900" y="3340100"/>
            <a:ext cx="1066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1" name="Line 13"/>
          <p:cNvSpPr>
            <a:spLocks noChangeShapeType="1"/>
          </p:cNvSpPr>
          <p:nvPr/>
        </p:nvSpPr>
        <p:spPr bwMode="auto">
          <a:xfrm>
            <a:off x="2628900" y="3797300"/>
            <a:ext cx="1066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2" name="Line 14"/>
          <p:cNvSpPr>
            <a:spLocks noChangeShapeType="1"/>
          </p:cNvSpPr>
          <p:nvPr/>
        </p:nvSpPr>
        <p:spPr bwMode="auto">
          <a:xfrm>
            <a:off x="4152900" y="4178300"/>
            <a:ext cx="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3" name="Line 15"/>
          <p:cNvSpPr>
            <a:spLocks noChangeShapeType="1"/>
          </p:cNvSpPr>
          <p:nvPr/>
        </p:nvSpPr>
        <p:spPr bwMode="auto">
          <a:xfrm>
            <a:off x="4762500" y="4178300"/>
            <a:ext cx="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4" name="Line 16"/>
          <p:cNvSpPr>
            <a:spLocks noChangeShapeType="1"/>
          </p:cNvSpPr>
          <p:nvPr/>
        </p:nvSpPr>
        <p:spPr bwMode="auto">
          <a:xfrm>
            <a:off x="5676900" y="51689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5" name="Line 17"/>
          <p:cNvSpPr>
            <a:spLocks noChangeShapeType="1"/>
          </p:cNvSpPr>
          <p:nvPr/>
        </p:nvSpPr>
        <p:spPr bwMode="auto">
          <a:xfrm>
            <a:off x="5676900" y="57023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6" name="Line 18"/>
          <p:cNvSpPr>
            <a:spLocks noChangeShapeType="1"/>
          </p:cNvSpPr>
          <p:nvPr/>
        </p:nvSpPr>
        <p:spPr bwMode="auto">
          <a:xfrm>
            <a:off x="5676900" y="34163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7" name="Line 19"/>
          <p:cNvSpPr>
            <a:spLocks noChangeShapeType="1"/>
          </p:cNvSpPr>
          <p:nvPr/>
        </p:nvSpPr>
        <p:spPr bwMode="auto">
          <a:xfrm>
            <a:off x="5676900" y="38735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8" name="Line 20"/>
          <p:cNvSpPr>
            <a:spLocks noChangeShapeType="1"/>
          </p:cNvSpPr>
          <p:nvPr/>
        </p:nvSpPr>
        <p:spPr bwMode="auto">
          <a:xfrm>
            <a:off x="1485900" y="2273300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76149" name="Text Box 21"/>
          <p:cNvSpPr txBox="1">
            <a:spLocks noChangeArrowheads="1"/>
          </p:cNvSpPr>
          <p:nvPr/>
        </p:nvSpPr>
        <p:spPr bwMode="auto">
          <a:xfrm>
            <a:off x="2079625" y="22875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1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0" name="Text Box 22"/>
          <p:cNvSpPr txBox="1">
            <a:spLocks noChangeArrowheads="1"/>
          </p:cNvSpPr>
          <p:nvPr/>
        </p:nvSpPr>
        <p:spPr bwMode="auto">
          <a:xfrm>
            <a:off x="2765425" y="29733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2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1" name="Text Box 23"/>
          <p:cNvSpPr txBox="1">
            <a:spLocks noChangeArrowheads="1"/>
          </p:cNvSpPr>
          <p:nvPr/>
        </p:nvSpPr>
        <p:spPr bwMode="auto">
          <a:xfrm>
            <a:off x="3908425" y="42687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3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2" name="Text Box 24"/>
          <p:cNvSpPr txBox="1">
            <a:spLocks noChangeArrowheads="1"/>
          </p:cNvSpPr>
          <p:nvPr/>
        </p:nvSpPr>
        <p:spPr bwMode="auto">
          <a:xfrm>
            <a:off x="4822825" y="43449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4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3" name="Text Box 25"/>
          <p:cNvSpPr txBox="1">
            <a:spLocks noChangeArrowheads="1"/>
          </p:cNvSpPr>
          <p:nvPr/>
        </p:nvSpPr>
        <p:spPr bwMode="auto">
          <a:xfrm>
            <a:off x="5813425" y="47259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5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4" name="Text Box 26"/>
          <p:cNvSpPr txBox="1">
            <a:spLocks noChangeArrowheads="1"/>
          </p:cNvSpPr>
          <p:nvPr/>
        </p:nvSpPr>
        <p:spPr bwMode="auto">
          <a:xfrm>
            <a:off x="5813425" y="56403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6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5" name="Text Box 27"/>
          <p:cNvSpPr txBox="1">
            <a:spLocks noChangeArrowheads="1"/>
          </p:cNvSpPr>
          <p:nvPr/>
        </p:nvSpPr>
        <p:spPr bwMode="auto">
          <a:xfrm>
            <a:off x="5813425" y="30495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7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6" name="Text Box 28"/>
          <p:cNvSpPr txBox="1">
            <a:spLocks noChangeArrowheads="1"/>
          </p:cNvSpPr>
          <p:nvPr/>
        </p:nvSpPr>
        <p:spPr bwMode="auto">
          <a:xfrm>
            <a:off x="5965825" y="38115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8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7" name="Text Box 29"/>
          <p:cNvSpPr txBox="1">
            <a:spLocks noChangeArrowheads="1"/>
          </p:cNvSpPr>
          <p:nvPr/>
        </p:nvSpPr>
        <p:spPr bwMode="auto">
          <a:xfrm>
            <a:off x="2765425" y="3735388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9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8" name="Text Box 30"/>
          <p:cNvSpPr txBox="1">
            <a:spLocks noChangeArrowheads="1"/>
          </p:cNvSpPr>
          <p:nvPr/>
        </p:nvSpPr>
        <p:spPr bwMode="auto">
          <a:xfrm>
            <a:off x="1470025" y="2363788"/>
            <a:ext cx="438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10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159" name="Text Box 31"/>
          <p:cNvSpPr txBox="1">
            <a:spLocks noChangeArrowheads="1"/>
          </p:cNvSpPr>
          <p:nvPr/>
        </p:nvSpPr>
        <p:spPr bwMode="auto">
          <a:xfrm>
            <a:off x="2384425" y="2211388"/>
            <a:ext cx="858838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Inserts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Card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216" name="Text Box 88"/>
          <p:cNvSpPr txBox="1">
            <a:spLocks noChangeArrowheads="1"/>
          </p:cNvSpPr>
          <p:nvPr/>
        </p:nvSpPr>
        <p:spPr bwMode="auto">
          <a:xfrm>
            <a:off x="428625" y="2185988"/>
            <a:ext cx="860425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Txn.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Closes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217" name="Text Box 89"/>
          <p:cNvSpPr txBox="1">
            <a:spLocks noChangeArrowheads="1"/>
          </p:cNvSpPr>
          <p:nvPr/>
        </p:nvSpPr>
        <p:spPr bwMode="auto">
          <a:xfrm>
            <a:off x="0" y="4022725"/>
            <a:ext cx="2301875" cy="2835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ATM – Switch 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   (91X / NDC+) 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     Message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Switch – HSM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  (HSM Message)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Switch – Bank Host</a:t>
            </a:r>
            <a:endParaRPr lang="en-US" sz="2000" b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sz="2000" b="0">
                <a:latin typeface="Times New Roman" panose="02020603050405020304" pitchFamily="18" charset="0"/>
              </a:rPr>
              <a:t>   (ISO Message)</a:t>
            </a:r>
            <a:endParaRPr lang="en-US" sz="2000" b="0">
              <a:latin typeface="Times New Roman" panose="02020603050405020304" pitchFamily="18" charset="0"/>
            </a:endParaRPr>
          </a:p>
        </p:txBody>
      </p:sp>
      <p:sp>
        <p:nvSpPr>
          <p:cNvPr id="176218" name="Text Box 90"/>
          <p:cNvSpPr txBox="1">
            <a:spLocks noChangeArrowheads="1"/>
          </p:cNvSpPr>
          <p:nvPr/>
        </p:nvSpPr>
        <p:spPr bwMode="auto">
          <a:xfrm>
            <a:off x="4006850" y="1130300"/>
            <a:ext cx="360838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2"/>
                </a:solidFill>
              </a:rPr>
              <a:t>	Message Transfer</a:t>
            </a:r>
            <a:endParaRPr lang="en-US" b="0" dirty="0">
              <a:solidFill>
                <a:schemeClr val="tx2"/>
              </a:solidFill>
            </a:endParaRPr>
          </a:p>
        </p:txBody>
      </p:sp>
      <p:pic>
        <p:nvPicPr>
          <p:cNvPr id="176220" name="Picture 92" descr="C:\Users\CONCERTO_L02\AppData\Local\Microsoft\Windows\Temporary Internet Files\Content.IE5\1WXWSD9G\MC900431640[1]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35674" y="1235675"/>
            <a:ext cx="1087395" cy="104878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9" grpId="0" animBg="1"/>
      <p:bldP spid="176140" grpId="0" animBg="1"/>
      <p:bldP spid="176141" grpId="0" animBg="1"/>
      <p:bldP spid="176142" grpId="0" animBg="1"/>
      <p:bldP spid="176143" grpId="0" animBg="1"/>
      <p:bldP spid="176144" grpId="0" animBg="1"/>
      <p:bldP spid="176145" grpId="0" animBg="1"/>
      <p:bldP spid="176146" grpId="0" animBg="1"/>
      <p:bldP spid="176147" grpId="0" animBg="1"/>
      <p:bldP spid="1761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800" i="1" dirty="0">
                <a:solidFill>
                  <a:schemeClr val="bg1"/>
                </a:solidFill>
                <a:latin typeface="Byington" pitchFamily="2" charset="0"/>
              </a:rPr>
              <a:t>Banking </a:t>
            </a:r>
            <a:r>
              <a:rPr lang="en-US" sz="4400" i="1" dirty="0">
                <a:solidFill>
                  <a:schemeClr val="bg1"/>
                </a:solidFill>
                <a:latin typeface="Byington" pitchFamily="2" charset="0"/>
              </a:rPr>
              <a:t>Concepts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2800" dirty="0"/>
              <a:t>CARDS</a:t>
            </a:r>
            <a:endParaRPr lang="en-US" sz="2800" dirty="0"/>
          </a:p>
        </p:txBody>
      </p:sp>
      <p:sp>
        <p:nvSpPr>
          <p:cNvPr id="172042" name="AutoShape 10" descr="question503-front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72044" name="AutoShape 12" descr="question503-front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72047" name="Rectangle 15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000"/>
              <a:t>Classification of Cards</a:t>
            </a:r>
            <a:endParaRPr lang="en-US" sz="20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</a:pP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 ATM Card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 Global Card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</a:pPr>
            <a:r>
              <a:rPr lang="en-US" sz="2400"/>
              <a:t>		* Global Debit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</a:pPr>
            <a:r>
              <a:rPr lang="en-US" sz="2400"/>
              <a:t>		* Global Credit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400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11430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r>
              <a:rPr lang="en-US" sz="4800" i="1" dirty="0">
                <a:solidFill>
                  <a:schemeClr val="bg1"/>
                </a:solidFill>
                <a:latin typeface="Byington" pitchFamily="2" charset="0"/>
              </a:rPr>
              <a:t>Banking </a:t>
            </a:r>
            <a:r>
              <a:rPr lang="en-US" sz="4400" i="1" dirty="0">
                <a:solidFill>
                  <a:schemeClr val="bg1"/>
                </a:solidFill>
                <a:latin typeface="Byington" pitchFamily="2" charset="0"/>
              </a:rPr>
              <a:t>Concepts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3200" dirty="0"/>
              <a:t>Physical Characteristics </a:t>
            </a:r>
            <a:endParaRPr lang="en-US" sz="3200" dirty="0"/>
          </a:p>
        </p:txBody>
      </p:sp>
      <p:sp>
        <p:nvSpPr>
          <p:cNvPr id="173059" name="AutoShape 3" descr="question503-front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73060" name="AutoShape 4" descr="question503-front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73062" name="AutoShape 6"/>
          <p:cNvSpPr>
            <a:spLocks noChangeArrowheads="1"/>
          </p:cNvSpPr>
          <p:nvPr/>
        </p:nvSpPr>
        <p:spPr bwMode="auto">
          <a:xfrm>
            <a:off x="2879725" y="1824038"/>
            <a:ext cx="2819400" cy="14097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2879725" y="2014538"/>
            <a:ext cx="28194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auto">
          <a:xfrm>
            <a:off x="2879725" y="2509838"/>
            <a:ext cx="28194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r>
              <a:rPr lang="en-US" sz="1000" b="0">
                <a:latin typeface="Times New Roman" panose="02020603050405020304" pitchFamily="18" charset="0"/>
              </a:rPr>
              <a:t>                            Signature panel</a:t>
            </a:r>
            <a:endParaRPr lang="en-US" sz="1000" b="0">
              <a:latin typeface="Times New Roman" panose="02020603050405020304" pitchFamily="18" charset="0"/>
            </a:endParaRPr>
          </a:p>
        </p:txBody>
      </p:sp>
      <p:sp>
        <p:nvSpPr>
          <p:cNvPr id="173066" name="Rectangle 10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0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</a:pP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400" b="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400" b="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 b="0"/>
              <a:t>    </a:t>
            </a:r>
            <a:r>
              <a:rPr lang="en-US" sz="2400"/>
              <a:t>The magnetic stripe consists of three tracks on which information is stored via a encoding device.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400"/>
              <a:t>Track 1. 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400"/>
              <a:t>Track 2.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400"/>
              <a:t>Track 3.</a:t>
            </a:r>
            <a:endParaRPr 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23912"/>
          </a:xfrm>
          <a:noFill/>
          <a:ln>
            <a:solidFill>
              <a:schemeClr val="tx1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4800" i="1" dirty="0">
                <a:solidFill>
                  <a:schemeClr val="bg1"/>
                </a:solidFill>
                <a:effectLst>
                  <a:outerShdw blurRad="38100" dist="38100" dir="2700000" algn="tl">
                    <a:srgbClr val="919191"/>
                  </a:outerShdw>
                </a:effectLst>
                <a:latin typeface="Byington" pitchFamily="2" charset="0"/>
              </a:rPr>
              <a:t>Banking </a:t>
            </a:r>
            <a:r>
              <a:rPr lang="en-US" sz="4400" i="1" dirty="0">
                <a:solidFill>
                  <a:schemeClr val="bg1"/>
                </a:solidFill>
                <a:effectLst>
                  <a:outerShdw blurRad="38100" dist="38100" dir="2700000" algn="tl">
                    <a:srgbClr val="919191"/>
                  </a:outerShdw>
                </a:effectLst>
                <a:latin typeface="Byington" pitchFamily="2" charset="0"/>
              </a:rPr>
              <a:t>Concepts</a:t>
            </a:r>
            <a:endParaRPr lang="en-US" sz="3200" i="1" dirty="0">
              <a:effectLst>
                <a:outerShdw blurRad="38100" dist="38100" dir="2700000" algn="tl">
                  <a:srgbClr val="FFFFFF"/>
                </a:outerShdw>
              </a:effectLst>
              <a:latin typeface="Byington" pitchFamily="2" charset="0"/>
            </a:endParaRPr>
          </a:p>
        </p:txBody>
      </p:sp>
      <p:sp>
        <p:nvSpPr>
          <p:cNvPr id="178179" name="AutoShape 3" descr="question503-front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78180" name="AutoShape 4" descr="question503-front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/>
              <a:t>TRACK2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Primary account number (PAN), left justified (up to 19 digits)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Field separator (=)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Member number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Country code (if present; 3 digits)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Expiration date (YYMM)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  <a:buFontTx/>
              <a:buChar char="•"/>
            </a:pPr>
            <a:r>
              <a:rPr lang="en-US" sz="2400"/>
              <a:t>PIN verification data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</a:pP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</a:pPr>
            <a:r>
              <a:rPr lang="en-US" sz="2400"/>
              <a:t>		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400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0" y="0"/>
            <a:ext cx="822960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r>
              <a:rPr lang="en-US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919191"/>
                  </a:outerShdw>
                </a:effectLst>
                <a:latin typeface="Byington" pitchFamily="2" charset="0"/>
              </a:rPr>
              <a:t>Banking Concepts</a:t>
            </a:r>
            <a:endParaRPr lang="en-US" sz="3200" i="1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yington" pitchFamily="2" charset="0"/>
            </a:endParaRPr>
          </a:p>
        </p:txBody>
      </p:sp>
      <p:sp>
        <p:nvSpPr>
          <p:cNvPr id="197637" name="AutoShape 5" descr="question503-front"/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97638" name="AutoShape 6" descr="question503-front"/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197639" name="Rectangle 7"/>
          <p:cNvSpPr>
            <a:spLocks noChangeArrowheads="1"/>
          </p:cNvSpPr>
          <p:nvPr/>
        </p:nvSpPr>
        <p:spPr bwMode="auto">
          <a:xfrm>
            <a:off x="420688" y="1273175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r>
              <a:rPr lang="en-US" sz="2400"/>
              <a:t>TRANSACTION AUTHROIZATION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400"/>
              <a:t>EFT transactions require communication between a number of parties. 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  <a:buFontTx/>
              <a:buChar char="•"/>
            </a:pPr>
            <a:r>
              <a:rPr lang="en-US" sz="2400"/>
              <a:t>When a card is used at a merchant or ATM, the transaction is first routed to an acquirer, then through a number of networks to the issuer where the cardholder's account is held.</a:t>
            </a:r>
            <a:endParaRPr lang="en-US" sz="2400"/>
          </a:p>
          <a:p>
            <a:pPr marL="2057400" lvl="4" indent="-228600">
              <a:spcBef>
                <a:spcPct val="20000"/>
              </a:spcBef>
              <a:buClr>
                <a:srgbClr val="FA110D"/>
              </a:buClr>
              <a:buSzPct val="125000"/>
            </a:pPr>
            <a:r>
              <a:rPr lang="en-US" sz="2400"/>
              <a:t>		</a:t>
            </a:r>
            <a:endParaRPr lang="en-US" sz="2400"/>
          </a:p>
          <a:p>
            <a:pPr marL="342900" indent="-342900">
              <a:spcBef>
                <a:spcPct val="20000"/>
              </a:spcBef>
              <a:buClr>
                <a:srgbClr val="FA110D"/>
              </a:buClr>
              <a:buSzPct val="150000"/>
            </a:pPr>
            <a:endParaRPr lang="en-US" sz="2400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/>
              <a:t>The authorization carried out based on the parameters for an institution and controls and returns responses to the source of the transaction request.</a:t>
            </a:r>
            <a:endParaRPr lang="en-US"/>
          </a:p>
          <a:p>
            <a:endParaRPr lang="en-US"/>
          </a:p>
        </p:txBody>
      </p:sp>
      <p:sp>
        <p:nvSpPr>
          <p:cNvPr id="198660" name="Rectangle 4"/>
          <p:cNvSpPr>
            <a:spLocks noChangeArrowheads="1"/>
          </p:cNvSpPr>
          <p:nvPr/>
        </p:nvSpPr>
        <p:spPr bwMode="auto">
          <a:xfrm>
            <a:off x="0" y="0"/>
            <a:ext cx="8229600" cy="750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r>
              <a:rPr lang="en-US" sz="4800" i="1" dirty="0">
                <a:solidFill>
                  <a:schemeClr val="bg1"/>
                </a:solidFill>
                <a:effectLst>
                  <a:outerShdw blurRad="38100" dist="38100" dir="2700000" algn="tl">
                    <a:srgbClr val="919191"/>
                  </a:outerShdw>
                </a:effectLst>
                <a:latin typeface="Byington" pitchFamily="2" charset="0"/>
              </a:rPr>
              <a:t>Banking </a:t>
            </a:r>
            <a:r>
              <a:rPr lang="en-US" sz="4400" i="1" dirty="0">
                <a:solidFill>
                  <a:schemeClr val="bg1"/>
                </a:solidFill>
                <a:effectLst>
                  <a:outerShdw blurRad="38100" dist="38100" dir="2700000" algn="tl">
                    <a:srgbClr val="919191"/>
                  </a:outerShdw>
                </a:effectLst>
                <a:latin typeface="Byington" pitchFamily="2" charset="0"/>
              </a:rPr>
              <a:t>Concepts</a:t>
            </a:r>
            <a:endParaRPr lang="en-US" sz="3200" i="1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yington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Custom 5">
      <a:dk1>
        <a:srgbClr val="FFFFFF"/>
      </a:dk1>
      <a:lt1>
        <a:sysClr val="window" lastClr="FFFFFF"/>
      </a:lt1>
      <a:dk2>
        <a:srgbClr val="002060"/>
      </a:dk2>
      <a:lt2>
        <a:srgbClr val="FFFFFF"/>
      </a:lt2>
      <a:accent1>
        <a:srgbClr val="FFFFFF"/>
      </a:accent1>
      <a:accent2>
        <a:srgbClr val="CCAF0A"/>
      </a:accent2>
      <a:accent3>
        <a:srgbClr val="FFFFFF"/>
      </a:accent3>
      <a:accent4>
        <a:srgbClr val="748560"/>
      </a:accent4>
      <a:accent5>
        <a:srgbClr val="9E9273"/>
      </a:accent5>
      <a:accent6>
        <a:srgbClr val="FFFFFF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4209</Words>
  <Application>WPS Presentation</Application>
  <PresentationFormat>On-screen Show (4:3)</PresentationFormat>
  <Paragraphs>252</Paragraphs>
  <Slides>21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21</vt:i4>
      </vt:variant>
    </vt:vector>
  </HeadingPairs>
  <TitlesOfParts>
    <vt:vector size="48" baseType="lpstr">
      <vt:lpstr>Arial</vt:lpstr>
      <vt:lpstr>SimSun</vt:lpstr>
      <vt:lpstr>Wingdings</vt:lpstr>
      <vt:lpstr>Franklin Gothic Book</vt:lpstr>
      <vt:lpstr>Wingdings 2</vt:lpstr>
      <vt:lpstr>Arial</vt:lpstr>
      <vt:lpstr>Byington</vt:lpstr>
      <vt:lpstr>Times New Roman</vt:lpstr>
      <vt:lpstr>Narkisim</vt:lpstr>
      <vt:lpstr>BatangChe</vt:lpstr>
      <vt:lpstr>Stencil</vt:lpstr>
      <vt:lpstr>Segoe Print</vt:lpstr>
      <vt:lpstr>Microsoft YaHei</vt:lpstr>
      <vt:lpstr/>
      <vt:lpstr>Arial Unicode MS</vt:lpstr>
      <vt:lpstr>Malgun Gothic</vt:lpstr>
      <vt:lpstr>Calibri</vt:lpstr>
      <vt:lpstr>Custom Design</vt:lpstr>
      <vt:lpstr>Theme1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Introduction to  Banking Concepts </vt:lpstr>
      <vt:lpstr>Banking Concepts Industry Terminology</vt:lpstr>
      <vt:lpstr>PowerPoint 演示文稿</vt:lpstr>
      <vt:lpstr>PowerPoint 演示文稿</vt:lpstr>
      <vt:lpstr>PowerPoint 演示文稿</vt:lpstr>
      <vt:lpstr>Banking Concepts  Initial ATM Setup</vt:lpstr>
      <vt:lpstr>Banking Concepts  Switching Server</vt:lpstr>
      <vt:lpstr>Banking Concepts  Purpose of Switch Software</vt:lpstr>
      <vt:lpstr>Banking Concepts  Devices Connected to a Switch Server </vt:lpstr>
      <vt:lpstr>Banking Concepts  Scenario of a Switch Network </vt:lpstr>
      <vt:lpstr>Banking Concepts  Switch Modules </vt:lpstr>
      <vt:lpstr>Banking Concepts  Types of Switch</vt:lpstr>
      <vt:lpstr>Banking Concepts  Stand-Alone Switch</vt:lpstr>
      <vt:lpstr>Banking Concepts  Inter-Regional Switch</vt:lpstr>
      <vt:lpstr>Banking Concepts  Inter-Network Switch</vt:lpstr>
      <vt:lpstr>Banking Concepts </vt:lpstr>
      <vt:lpstr>Banking Concepts  CARDS</vt:lpstr>
      <vt:lpstr>Banking Concepts  Physical Characteristics </vt:lpstr>
      <vt:lpstr>Banking Concepts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  <Pages>41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Database Module</dc:title>
  <dc:creator>Jean Wall</dc:creator>
  <dc:description>12/01 J Wall - Update for Release 6.0</dc:description>
  <cp:lastModifiedBy>CONCERTO_L145</cp:lastModifiedBy>
  <cp:revision>125</cp:revision>
  <cp:lastPrinted>1999-02-24T19:21:00Z</cp:lastPrinted>
  <dcterms:created xsi:type="dcterms:W3CDTF">1997-01-20T16:21:00Z</dcterms:created>
  <dcterms:modified xsi:type="dcterms:W3CDTF">2022-08-03T04:59:52Z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1033-10.2.0.5871</vt:lpwstr>
  </property>
</Properties>
</file>