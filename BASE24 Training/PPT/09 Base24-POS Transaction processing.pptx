
<file path=[Content_Types].xml><?xml version="1.0" encoding="utf-8"?>
<Types xmlns="http://schemas.openxmlformats.org/package/2006/content-types">
  <Default Extension="jpeg" ContentType="image/jpeg"/>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80" r:id="rId4"/>
    <p:sldId id="287" r:id="rId5"/>
    <p:sldId id="269" r:id="rId6"/>
    <p:sldId id="281" r:id="rId7"/>
    <p:sldId id="282" r:id="rId8"/>
    <p:sldId id="288" r:id="rId9"/>
    <p:sldId id="283" r:id="rId10"/>
    <p:sldId id="284" r:id="rId11"/>
    <p:sldId id="285" r:id="rId12"/>
    <p:sldId id="286" r:id="rId13"/>
    <p:sldId id="266" r:id="rId14"/>
    <p:sldId id="275" r:id="rId15"/>
    <p:sldId id="276" r:id="rId16"/>
    <p:sldId id="279" r:id="rId17"/>
    <p:sldId id="274" r:id="rId18"/>
    <p:sldId id="270" r:id="rId19"/>
    <p:sldId id="28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9" autoAdjust="0"/>
    <p:restoredTop sz="94660"/>
  </p:normalViewPr>
  <p:slideViewPr>
    <p:cSldViewPr>
      <p:cViewPr varScale="1">
        <p:scale>
          <a:sx n="79" d="100"/>
          <a:sy n="79" d="100"/>
        </p:scale>
        <p:origin x="726"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
        <p:nvSpPr>
          <p:cNvPr id="8" name="Rectangle 7"/>
          <p:cNvSpPr/>
          <p:nvPr userDrawn="1"/>
        </p:nvSpPr>
        <p:spPr>
          <a:xfrm>
            <a:off x="0" y="836712"/>
            <a:ext cx="9144000" cy="72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2EE05239-D059-4130-98EA-B00370623A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2EE05239-D059-4130-98EA-B00370623A1C}"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7" name="Date Placeholder 4"/>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EE05239-D059-4130-98EA-B00370623A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EE05239-D059-4130-98EA-B00370623A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endParaRPr lang="en-US" smtClean="0"/>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endParaRPr lang="en-US" sz="12200" dirty="0"/>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endParaRPr lang="en-US" sz="122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2EE05239-D059-4130-98EA-B00370623A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AB514C-97DE-4CD1-935A-472621B76741}"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EE05239-D059-4130-98EA-B00370623A1C}" type="datetimeFigureOut">
              <a:rPr lang="en-IN" smtClean="0"/>
            </a:fld>
            <a:endParaRPr lang="en-IN"/>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3AB514C-97DE-4CD1-935A-472621B76741}" type="slidenum">
              <a:rPr lang="en-IN" smtClean="0"/>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1680" y="1916832"/>
            <a:ext cx="6480048" cy="2301240"/>
          </a:xfrm>
        </p:spPr>
        <p:txBody>
          <a:bodyPr/>
          <a:lstStyle/>
          <a:p>
            <a:r>
              <a:rPr lang="en-US" smtClean="0"/>
              <a:t>Base24-POS </a:t>
            </a:r>
            <a:endParaRPr lang="en-IN" dirty="0"/>
          </a:p>
        </p:txBody>
      </p:sp>
      <p:sp>
        <p:nvSpPr>
          <p:cNvPr id="4" name="TextBox 3"/>
          <p:cNvSpPr txBox="1"/>
          <p:nvPr/>
        </p:nvSpPr>
        <p:spPr>
          <a:xfrm>
            <a:off x="5148064" y="4437112"/>
            <a:ext cx="3240024" cy="461665"/>
          </a:xfrm>
          <a:prstGeom prst="rect">
            <a:avLst/>
          </a:prstGeom>
          <a:noFill/>
        </p:spPr>
        <p:txBody>
          <a:bodyPr wrap="square" rtlCol="0">
            <a:spAutoFit/>
          </a:bodyPr>
          <a:lstStyle/>
          <a:p>
            <a:r>
              <a:rPr lang="en-US" sz="2400" dirty="0" smtClean="0">
                <a:latin typeface="Berlin Sans FB" pitchFamily="34" charset="0"/>
              </a:rPr>
              <a:t>Transaction Processing</a:t>
            </a:r>
            <a:endParaRPr lang="en-US" sz="2400" dirty="0">
              <a:latin typeface="Berlin Sans FB"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9" y="188640"/>
            <a:ext cx="7467600" cy="908720"/>
          </a:xfrm>
        </p:spPr>
        <p:txBody>
          <a:bodyPr>
            <a:normAutofit fontScale="90000"/>
          </a:bodyPr>
          <a:lstStyle/>
          <a:p>
            <a:r>
              <a:rPr lang="en-US" sz="4700" dirty="0"/>
              <a:t>POS Processes</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32170" y="1340768"/>
            <a:ext cx="9144000" cy="4896544"/>
          </a:xfrm>
        </p:spPr>
        <p:txBody>
          <a:bodyPr>
            <a:noAutofit/>
          </a:bodyPr>
          <a:lstStyle/>
          <a:p>
            <a:pPr marL="36195" indent="0">
              <a:buNone/>
            </a:pPr>
            <a:r>
              <a:rPr lang="en-US" sz="1800" dirty="0"/>
              <a:t>Along </a:t>
            </a:r>
            <a:r>
              <a:rPr lang="en-IN" altLang="en-US" sz="1800" dirty="0"/>
              <a:t>with </a:t>
            </a:r>
            <a:r>
              <a:rPr lang="en-US" sz="1800" dirty="0"/>
              <a:t>the transaction path, </a:t>
            </a:r>
            <a:r>
              <a:rPr lang="en-US" sz="1800" dirty="0" smtClean="0"/>
              <a:t>POS processing </a:t>
            </a:r>
            <a:r>
              <a:rPr lang="en-US" sz="1800" dirty="0"/>
              <a:t>is carried out in stages by several BASE24-pos processes, each of which has its own responsibilities. The BASE24-pos processes that can be involved in transaction processing are </a:t>
            </a:r>
            <a:r>
              <a:rPr lang="en-US" sz="1800" dirty="0" smtClean="0"/>
              <a:t>as follows :</a:t>
            </a:r>
            <a:endParaRPr lang="en-US" sz="1800" dirty="0"/>
          </a:p>
          <a:p>
            <a:r>
              <a:rPr lang="en-US" sz="1800" dirty="0" smtClean="0"/>
              <a:t>Device </a:t>
            </a:r>
            <a:r>
              <a:rPr lang="en-US" sz="1800" dirty="0"/>
              <a:t>Handler/Router/Authorization processes. </a:t>
            </a:r>
            <a:endParaRPr lang="en-US" sz="1800" dirty="0" smtClean="0"/>
          </a:p>
          <a:p>
            <a:pPr marL="0" indent="0">
              <a:buNone/>
            </a:pPr>
            <a:r>
              <a:rPr lang="en-US" sz="1800" dirty="0"/>
              <a:t> </a:t>
            </a:r>
            <a:r>
              <a:rPr lang="en-US" sz="1800" dirty="0" smtClean="0"/>
              <a:t>     These </a:t>
            </a:r>
            <a:r>
              <a:rPr lang="en-US" sz="1800" dirty="0"/>
              <a:t>processes are </a:t>
            </a:r>
            <a:r>
              <a:rPr lang="en-US" sz="1800" dirty="0" smtClean="0"/>
              <a:t>made up </a:t>
            </a:r>
            <a:r>
              <a:rPr lang="en-US" sz="1800" dirty="0"/>
              <a:t>of three individual modules bound together: </a:t>
            </a:r>
            <a:endParaRPr lang="en-US" sz="1800" dirty="0" smtClean="0"/>
          </a:p>
          <a:p>
            <a:pPr marL="0" indent="0">
              <a:buNone/>
            </a:pPr>
            <a:r>
              <a:rPr lang="en-US" sz="1800" dirty="0"/>
              <a:t> </a:t>
            </a:r>
            <a:r>
              <a:rPr lang="en-US" sz="1800" dirty="0" smtClean="0"/>
              <a:t>     a </a:t>
            </a:r>
            <a:r>
              <a:rPr lang="en-US" sz="1800" dirty="0"/>
              <a:t>Device Handler module, </a:t>
            </a:r>
            <a:r>
              <a:rPr lang="en-US" sz="1800" dirty="0" smtClean="0"/>
              <a:t>a  Router module, </a:t>
            </a:r>
            <a:endParaRPr lang="en-US" sz="1800" dirty="0" smtClean="0"/>
          </a:p>
          <a:p>
            <a:pPr marL="0" indent="0">
              <a:buNone/>
            </a:pPr>
            <a:r>
              <a:rPr lang="en-US" sz="1800" dirty="0"/>
              <a:t> </a:t>
            </a:r>
            <a:r>
              <a:rPr lang="en-US" sz="1800" dirty="0" smtClean="0"/>
              <a:t>     and an Authorization module.</a:t>
            </a:r>
            <a:endParaRPr lang="en-US" sz="1800" dirty="0" smtClean="0"/>
          </a:p>
          <a:p>
            <a:r>
              <a:rPr lang="en-US" sz="1800" dirty="0" smtClean="0"/>
              <a:t>ISO Host Interface processes.</a:t>
            </a:r>
            <a:endParaRPr lang="en-US" sz="1800" dirty="0" smtClean="0"/>
          </a:p>
          <a:p>
            <a:r>
              <a:rPr lang="en-US" sz="1800" dirty="0" smtClean="0"/>
              <a:t>Interchange </a:t>
            </a:r>
            <a:r>
              <a:rPr lang="en-US" sz="1800" dirty="0"/>
              <a:t>Interface processes.</a:t>
            </a:r>
            <a:endParaRPr lang="en-US" sz="1800" dirty="0"/>
          </a:p>
          <a:p>
            <a:r>
              <a:rPr lang="en-US" sz="1800" dirty="0" smtClean="0"/>
              <a:t>BIC </a:t>
            </a:r>
            <a:r>
              <a:rPr lang="en-US" sz="1800" dirty="0"/>
              <a:t>ISO Interface processes.</a:t>
            </a:r>
            <a:endParaRPr lang="en-US" sz="1800" dirty="0"/>
          </a:p>
          <a:p>
            <a:r>
              <a:rPr lang="en-US" sz="1800" dirty="0" smtClean="0"/>
              <a:t>BASE24-pos </a:t>
            </a:r>
            <a:r>
              <a:rPr lang="en-US" sz="1800" dirty="0"/>
              <a:t>processes all communicate with one another through </a:t>
            </a:r>
            <a:r>
              <a:rPr lang="en-US" sz="1800" dirty="0" smtClean="0"/>
              <a:t>the XPNET </a:t>
            </a:r>
            <a:r>
              <a:rPr lang="en-US" sz="1800" dirty="0"/>
              <a:t>process.</a:t>
            </a:r>
            <a:endParaRPr lang="en-US" sz="18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555280" y="2060848"/>
            <a:ext cx="5990107" cy="34563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2" name="Title 1"/>
          <p:cNvSpPr>
            <a:spLocks noGrp="1"/>
          </p:cNvSpPr>
          <p:nvPr>
            <p:ph type="title"/>
          </p:nvPr>
        </p:nvSpPr>
        <p:spPr>
          <a:xfrm>
            <a:off x="77787" y="0"/>
            <a:ext cx="7467600" cy="908720"/>
          </a:xfrm>
        </p:spPr>
        <p:txBody>
          <a:bodyPr/>
          <a:lstStyle/>
          <a:p>
            <a:r>
              <a:rPr lang="en-US" sz="3200" dirty="0" smtClean="0"/>
              <a:t>Base 24 POS Configuration(On-Us)</a:t>
            </a:r>
            <a:endParaRPr lang="en-IN" sz="3200" dirty="0"/>
          </a:p>
        </p:txBody>
      </p:sp>
      <p:sp>
        <p:nvSpPr>
          <p:cNvPr id="19" name="AutoShape 9"/>
          <p:cNvSpPr>
            <a:spLocks noChangeArrowheads="1"/>
          </p:cNvSpPr>
          <p:nvPr/>
        </p:nvSpPr>
        <p:spPr bwMode="blackWhite">
          <a:xfrm>
            <a:off x="4018384" y="2505124"/>
            <a:ext cx="884237" cy="2874962"/>
          </a:xfrm>
          <a:prstGeom prst="roundRect">
            <a:avLst>
              <a:gd name="adj" fmla="val 12486"/>
            </a:avLst>
          </a:prstGeom>
          <a:solidFill>
            <a:srgbClr val="8CB8AC"/>
          </a:solidFill>
          <a:ln w="9525">
            <a:noFill/>
            <a:round/>
          </a:ln>
          <a:effectLst>
            <a:outerShdw dist="107763" dir="2700000" algn="ctr" rotWithShape="0">
              <a:schemeClr val="bg2"/>
            </a:outerShdw>
          </a:effectLst>
        </p:spPr>
        <p:txBody>
          <a:bodyPr wrap="none" lIns="92075" tIns="46038" rIns="92075" bIns="46038" anchor="ctr"/>
          <a:lstStyle/>
          <a:p>
            <a:pPr algn="ctr"/>
            <a:r>
              <a:rPr lang="en-US" sz="2400" dirty="0">
                <a:effectLst>
                  <a:outerShdw blurRad="38100" dist="38100" dir="2700000" algn="tl">
                    <a:srgbClr val="000000"/>
                  </a:outerShdw>
                </a:effectLst>
              </a:rPr>
              <a:t>X</a:t>
            </a:r>
            <a:br>
              <a:rPr lang="en-US" sz="2400" dirty="0">
                <a:effectLst>
                  <a:outerShdw blurRad="38100" dist="38100" dir="2700000" algn="tl">
                    <a:srgbClr val="000000"/>
                  </a:outerShdw>
                </a:effectLst>
              </a:rPr>
            </a:br>
            <a:r>
              <a:rPr lang="en-US" sz="2400" dirty="0">
                <a:effectLst>
                  <a:outerShdw blurRad="38100" dist="38100" dir="2700000" algn="tl">
                    <a:srgbClr val="000000"/>
                  </a:outerShdw>
                </a:effectLst>
              </a:rPr>
              <a:t>P</a:t>
            </a:r>
            <a:br>
              <a:rPr lang="en-US" sz="2400" dirty="0">
                <a:effectLst>
                  <a:outerShdw blurRad="38100" dist="38100" dir="2700000" algn="tl">
                    <a:srgbClr val="000000"/>
                  </a:outerShdw>
                </a:effectLst>
              </a:rPr>
            </a:br>
            <a:r>
              <a:rPr lang="en-US" sz="2400" dirty="0">
                <a:effectLst>
                  <a:outerShdw blurRad="38100" dist="38100" dir="2700000" algn="tl">
                    <a:srgbClr val="000000"/>
                  </a:outerShdw>
                </a:effectLst>
              </a:rPr>
              <a:t>N</a:t>
            </a:r>
            <a:br>
              <a:rPr lang="en-US" sz="2400" dirty="0">
                <a:effectLst>
                  <a:outerShdw blurRad="38100" dist="38100" dir="2700000" algn="tl">
                    <a:srgbClr val="000000"/>
                  </a:outerShdw>
                </a:effectLst>
              </a:rPr>
            </a:br>
            <a:r>
              <a:rPr lang="en-US" sz="2400" dirty="0">
                <a:effectLst>
                  <a:outerShdw blurRad="38100" dist="38100" dir="2700000" algn="tl">
                    <a:srgbClr val="000000"/>
                  </a:outerShdw>
                </a:effectLst>
              </a:rPr>
              <a:t>E</a:t>
            </a:r>
            <a:br>
              <a:rPr lang="en-US" sz="2400" dirty="0">
                <a:effectLst>
                  <a:outerShdw blurRad="38100" dist="38100" dir="2700000" algn="tl">
                    <a:srgbClr val="000000"/>
                  </a:outerShdw>
                </a:effectLst>
              </a:rPr>
            </a:br>
            <a:r>
              <a:rPr lang="en-US" sz="2400" dirty="0">
                <a:effectLst>
                  <a:outerShdw blurRad="38100" dist="38100" dir="2700000" algn="tl">
                    <a:srgbClr val="000000"/>
                  </a:outerShdw>
                </a:effectLst>
              </a:rPr>
              <a:t>T</a:t>
            </a:r>
            <a:endParaRPr lang="en-US" sz="2400" dirty="0">
              <a:effectLst>
                <a:outerShdw blurRad="38100" dist="38100" dir="2700000" algn="tl">
                  <a:srgbClr val="000000"/>
                </a:outerShdw>
              </a:effectLst>
            </a:endParaRPr>
          </a:p>
        </p:txBody>
      </p:sp>
      <p:sp>
        <p:nvSpPr>
          <p:cNvPr id="20" name="AutoShape 7"/>
          <p:cNvSpPr>
            <a:spLocks noChangeArrowheads="1"/>
          </p:cNvSpPr>
          <p:nvPr/>
        </p:nvSpPr>
        <p:spPr bwMode="blackWhite">
          <a:xfrm>
            <a:off x="1713178" y="3678282"/>
            <a:ext cx="1831529" cy="838200"/>
          </a:xfrm>
          <a:prstGeom prst="roundRect">
            <a:avLst>
              <a:gd name="adj" fmla="val 12486"/>
            </a:avLst>
          </a:prstGeom>
          <a:solidFill>
            <a:srgbClr val="CAD3E0"/>
          </a:solidFill>
          <a:ln w="9525">
            <a:noFill/>
            <a:round/>
          </a:ln>
          <a:effectLst>
            <a:outerShdw dist="107763" dir="2700000" algn="ctr" rotWithShape="0">
              <a:schemeClr val="bg2"/>
            </a:outerShdw>
          </a:effectLst>
        </p:spPr>
        <p:txBody>
          <a:bodyPr wrap="none" lIns="92075" tIns="46038" rIns="92075" bIns="46038" anchor="ctr"/>
          <a:lstStyle/>
          <a:p>
            <a:endParaRPr lang="en-US" sz="1600" dirty="0" smtClean="0">
              <a:solidFill>
                <a:schemeClr val="bg2"/>
              </a:solidFill>
            </a:endParaRPr>
          </a:p>
          <a:p>
            <a:r>
              <a:rPr lang="en-US" sz="1600" dirty="0" smtClean="0">
                <a:solidFill>
                  <a:schemeClr val="bg2"/>
                </a:solidFill>
              </a:rPr>
              <a:t>Device </a:t>
            </a:r>
            <a:endParaRPr lang="en-US" sz="1600" dirty="0" smtClean="0">
              <a:solidFill>
                <a:schemeClr val="bg2"/>
              </a:solidFill>
            </a:endParaRPr>
          </a:p>
          <a:p>
            <a:r>
              <a:rPr lang="en-US" sz="1600" dirty="0" smtClean="0">
                <a:solidFill>
                  <a:schemeClr val="bg2"/>
                </a:solidFill>
              </a:rPr>
              <a:t>Handler</a:t>
            </a:r>
            <a:endParaRPr lang="en-US" sz="1600" dirty="0" smtClean="0">
              <a:solidFill>
                <a:schemeClr val="bg2"/>
              </a:solidFill>
            </a:endParaRPr>
          </a:p>
          <a:p>
            <a:r>
              <a:rPr lang="en-US" sz="1600" dirty="0" smtClean="0">
                <a:solidFill>
                  <a:schemeClr val="bg2"/>
                </a:solidFill>
              </a:rPr>
              <a:t>(HPDH/SPDH)</a:t>
            </a:r>
            <a:endParaRPr lang="en-US" sz="1600" dirty="0" smtClean="0">
              <a:solidFill>
                <a:schemeClr val="bg2"/>
              </a:solidFill>
            </a:endParaRPr>
          </a:p>
          <a:p>
            <a:endParaRPr lang="en-US" sz="1600" dirty="0">
              <a:solidFill>
                <a:schemeClr val="bg2"/>
              </a:solidFill>
            </a:endParaRPr>
          </a:p>
        </p:txBody>
      </p:sp>
      <p:sp>
        <p:nvSpPr>
          <p:cNvPr id="4" name="Cloud 3"/>
          <p:cNvSpPr/>
          <p:nvPr/>
        </p:nvSpPr>
        <p:spPr>
          <a:xfrm>
            <a:off x="7733579" y="3534662"/>
            <a:ext cx="1410421" cy="1080120"/>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Host</a:t>
            </a:r>
            <a:endParaRPr lang="en-US" dirty="0"/>
          </a:p>
        </p:txBody>
      </p:sp>
      <p:sp>
        <p:nvSpPr>
          <p:cNvPr id="5" name="Right Arrow 4"/>
          <p:cNvSpPr/>
          <p:nvPr/>
        </p:nvSpPr>
        <p:spPr>
          <a:xfrm>
            <a:off x="260352" y="3436362"/>
            <a:ext cx="1294929" cy="1276720"/>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ln w="0"/>
                <a:solidFill>
                  <a:schemeClr val="bg2"/>
                </a:solidFill>
                <a:effectLst>
                  <a:outerShdw blurRad="38100" dist="25400" dir="5400000" algn="ctr" rotWithShape="0">
                    <a:srgbClr val="6E747A">
                      <a:alpha val="43000"/>
                    </a:srgbClr>
                  </a:outerShdw>
                </a:effectLst>
              </a:rPr>
              <a:t>POS</a:t>
            </a:r>
            <a:endParaRPr lang="en-US" dirty="0">
              <a:ln w="0"/>
              <a:solidFill>
                <a:schemeClr val="bg2"/>
              </a:solidFill>
              <a:effectLst>
                <a:outerShdw blurRad="38100" dist="25400" dir="5400000" algn="ctr" rotWithShape="0">
                  <a:srgbClr val="6E747A">
                    <a:alpha val="43000"/>
                  </a:srgbClr>
                </a:outerShdw>
              </a:effectLst>
            </a:endParaRPr>
          </a:p>
        </p:txBody>
      </p:sp>
      <p:sp>
        <p:nvSpPr>
          <p:cNvPr id="13" name="AutoShape 7"/>
          <p:cNvSpPr>
            <a:spLocks noChangeArrowheads="1"/>
          </p:cNvSpPr>
          <p:nvPr/>
        </p:nvSpPr>
        <p:spPr bwMode="blackWhite">
          <a:xfrm>
            <a:off x="5343333" y="3655622"/>
            <a:ext cx="1831529" cy="838200"/>
          </a:xfrm>
          <a:prstGeom prst="roundRect">
            <a:avLst>
              <a:gd name="adj" fmla="val 12486"/>
            </a:avLst>
          </a:prstGeom>
          <a:solidFill>
            <a:srgbClr val="CAD3E0"/>
          </a:solidFill>
          <a:ln w="9525">
            <a:noFill/>
            <a:round/>
          </a:ln>
          <a:effectLst>
            <a:outerShdw dist="107763" dir="2700000" algn="ctr" rotWithShape="0">
              <a:schemeClr val="bg2"/>
            </a:outerShdw>
          </a:effectLst>
        </p:spPr>
        <p:txBody>
          <a:bodyPr wrap="none" lIns="92075" tIns="46038" rIns="92075" bIns="46038" anchor="ctr"/>
          <a:lstStyle/>
          <a:p>
            <a:endParaRPr lang="en-US" sz="1600" dirty="0" smtClean="0">
              <a:solidFill>
                <a:schemeClr val="bg2"/>
              </a:solidFill>
            </a:endParaRPr>
          </a:p>
          <a:p>
            <a:r>
              <a:rPr lang="en-US" sz="1600" dirty="0" smtClean="0">
                <a:solidFill>
                  <a:schemeClr val="bg2"/>
                </a:solidFill>
              </a:rPr>
              <a:t>Host Interface</a:t>
            </a:r>
            <a:endParaRPr lang="en-US" sz="1600" dirty="0" smtClean="0">
              <a:solidFill>
                <a:schemeClr val="bg2"/>
              </a:solidFill>
            </a:endParaRPr>
          </a:p>
          <a:p>
            <a:r>
              <a:rPr lang="en-US" sz="1600" dirty="0" smtClean="0">
                <a:solidFill>
                  <a:schemeClr val="bg2"/>
                </a:solidFill>
              </a:rPr>
              <a:t>Process</a:t>
            </a:r>
            <a:endParaRPr lang="en-US" sz="1600" dirty="0" smtClean="0">
              <a:solidFill>
                <a:schemeClr val="bg2"/>
              </a:solidFill>
            </a:endParaRPr>
          </a:p>
          <a:p>
            <a:endParaRPr lang="en-US" sz="1600" dirty="0">
              <a:solidFill>
                <a:schemeClr val="bg2"/>
              </a:solidFill>
            </a:endParaRPr>
          </a:p>
        </p:txBody>
      </p:sp>
      <p:sp>
        <p:nvSpPr>
          <p:cNvPr id="8" name="Rounded Rectangle 7"/>
          <p:cNvSpPr/>
          <p:nvPr/>
        </p:nvSpPr>
        <p:spPr>
          <a:xfrm>
            <a:off x="1691997" y="2390952"/>
            <a:ext cx="1151811" cy="53399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Base24</a:t>
            </a:r>
            <a:endParaRPr 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2889595"/>
            <a:ext cx="1114568" cy="2370254"/>
          </a:xfrm>
          <a:prstGeom prst="rect">
            <a:avLst/>
          </a:prstGeom>
        </p:spPr>
      </p:pic>
      <p:sp>
        <p:nvSpPr>
          <p:cNvPr id="3" name="Rounded Rectangle 2"/>
          <p:cNvSpPr/>
          <p:nvPr/>
        </p:nvSpPr>
        <p:spPr>
          <a:xfrm>
            <a:off x="61412" y="5517232"/>
            <a:ext cx="1053155" cy="432048"/>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smtClean="0"/>
              <a:t>POS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7055380" cy="1400530"/>
          </a:xfrm>
        </p:spPr>
        <p:txBody>
          <a:bodyPr/>
          <a:lstStyle/>
          <a:p>
            <a:r>
              <a:rPr lang="en-US" dirty="0" smtClean="0"/>
              <a:t>POS Message Flow</a:t>
            </a:r>
            <a:endParaRPr lang="en-US" dirty="0"/>
          </a:p>
        </p:txBody>
      </p:sp>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bwMode="auto">
          <a:xfrm>
            <a:off x="323528" y="1131945"/>
            <a:ext cx="8136904" cy="5105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65888" y="854732"/>
            <a:ext cx="6192688" cy="6021288"/>
          </a:xfrm>
          <a:prstGeom prst="round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b="1" dirty="0" smtClean="0"/>
              <a:t>Steps		         Processing</a:t>
            </a:r>
            <a:endParaRPr lang="en-US" b="1" dirty="0" smtClean="0"/>
          </a:p>
          <a:p>
            <a:r>
              <a:rPr lang="en-US" dirty="0"/>
              <a:t>1-2 	</a:t>
            </a:r>
            <a:r>
              <a:rPr lang="en-US" sz="1400" dirty="0"/>
              <a:t>The POS device sends the transaction request to the </a:t>
            </a:r>
            <a:r>
              <a:rPr lang="en-US" sz="1400" dirty="0" smtClean="0"/>
              <a:t>	BASE24-pos system </a:t>
            </a:r>
            <a:r>
              <a:rPr lang="en-US" sz="1400" dirty="0"/>
              <a:t>as a native-mode message, </a:t>
            </a:r>
            <a:r>
              <a:rPr lang="en-US" sz="1400" dirty="0" smtClean="0"/>
              <a:t>	where </a:t>
            </a:r>
            <a:r>
              <a:rPr lang="en-US" sz="1400" dirty="0"/>
              <a:t>it is received by the </a:t>
            </a:r>
            <a:r>
              <a:rPr lang="en-US" sz="1400" dirty="0" smtClean="0"/>
              <a:t>XPNET process </a:t>
            </a:r>
            <a:r>
              <a:rPr lang="en-US" sz="1400" dirty="0"/>
              <a:t>and </a:t>
            </a:r>
            <a:r>
              <a:rPr lang="en-US" sz="1400" dirty="0" smtClean="0"/>
              <a:t>	forwarded </a:t>
            </a:r>
            <a:r>
              <a:rPr lang="en-US" sz="1400" dirty="0"/>
              <a:t>to the appropriate Device </a:t>
            </a:r>
            <a:r>
              <a:rPr lang="en-US" sz="1400" dirty="0" smtClean="0"/>
              <a:t>	Handler/Router/ Authorization </a:t>
            </a:r>
            <a:r>
              <a:rPr lang="en-US" sz="1400" dirty="0"/>
              <a:t>process</a:t>
            </a:r>
            <a:r>
              <a:rPr lang="en-US" sz="1400" dirty="0" smtClean="0"/>
              <a:t>.</a:t>
            </a:r>
            <a:endParaRPr lang="en-US" sz="1400" dirty="0" smtClean="0"/>
          </a:p>
          <a:p>
            <a:r>
              <a:rPr lang="en-US" sz="1400" dirty="0"/>
              <a:t>2a-2d	The Device Handler module reads the BASE24-pos </a:t>
            </a:r>
            <a:r>
              <a:rPr lang="en-US" sz="1400" dirty="0" smtClean="0"/>
              <a:t>	Terminal Data files </a:t>
            </a:r>
            <a:r>
              <a:rPr lang="en-US" sz="1400" dirty="0"/>
              <a:t>record for the POS device to </a:t>
            </a:r>
            <a:r>
              <a:rPr lang="en-US" sz="1400" dirty="0" smtClean="0"/>
              <a:t>	determine </a:t>
            </a:r>
            <a:r>
              <a:rPr lang="en-US" sz="1400" dirty="0"/>
              <a:t>how to process </a:t>
            </a:r>
            <a:r>
              <a:rPr lang="en-US" sz="1400" dirty="0" smtClean="0"/>
              <a:t>the request</a:t>
            </a:r>
            <a:r>
              <a:rPr lang="en-US" sz="1400" dirty="0"/>
              <a:t>. The Device </a:t>
            </a:r>
            <a:r>
              <a:rPr lang="en-US" sz="1400" dirty="0" smtClean="0"/>
              <a:t>	Handler </a:t>
            </a:r>
            <a:r>
              <a:rPr lang="en-US" sz="1400" dirty="0"/>
              <a:t>module then reformats the </a:t>
            </a:r>
            <a:r>
              <a:rPr lang="en-US" sz="1400" dirty="0" smtClean="0"/>
              <a:t>transaction 	request </a:t>
            </a:r>
            <a:r>
              <a:rPr lang="en-US" sz="1400" dirty="0"/>
              <a:t>into a POS Standard Internal Message </a:t>
            </a:r>
            <a:r>
              <a:rPr lang="en-US" sz="1400" dirty="0" smtClean="0"/>
              <a:t>	(PSTM</a:t>
            </a:r>
            <a:r>
              <a:rPr lang="en-US" sz="1400" dirty="0"/>
              <a:t>), sets </a:t>
            </a:r>
            <a:r>
              <a:rPr lang="en-US" sz="1400" dirty="0" smtClean="0"/>
              <a:t>a response </a:t>
            </a:r>
            <a:r>
              <a:rPr lang="en-US" sz="1400" dirty="0"/>
              <a:t>timer, and passes the </a:t>
            </a:r>
            <a:r>
              <a:rPr lang="en-US" sz="1400" dirty="0" smtClean="0"/>
              <a:t>	transaction </a:t>
            </a:r>
            <a:r>
              <a:rPr lang="en-US" sz="1400" dirty="0"/>
              <a:t>request as a 0200 </a:t>
            </a:r>
            <a:r>
              <a:rPr lang="en-US" sz="1400" dirty="0" smtClean="0"/>
              <a:t>message to </a:t>
            </a:r>
            <a:r>
              <a:rPr lang="en-US" sz="1400" dirty="0"/>
              <a:t>the </a:t>
            </a:r>
            <a:r>
              <a:rPr lang="en-US" sz="1400" dirty="0" smtClean="0"/>
              <a:t>	Router module. The </a:t>
            </a:r>
            <a:r>
              <a:rPr lang="en-US" sz="1400" dirty="0"/>
              <a:t>Router module finds the </a:t>
            </a:r>
            <a:r>
              <a:rPr lang="en-US" sz="1400" dirty="0" smtClean="0"/>
              <a:t>	retailer’s </a:t>
            </a:r>
            <a:r>
              <a:rPr lang="en-US" sz="1400" dirty="0"/>
              <a:t>record in the POS </a:t>
            </a:r>
            <a:r>
              <a:rPr lang="en-US" sz="1400" dirty="0" smtClean="0"/>
              <a:t>Retailer Definition </a:t>
            </a:r>
            <a:r>
              <a:rPr lang="en-US" sz="1400" dirty="0"/>
              <a:t>File </a:t>
            </a:r>
            <a:r>
              <a:rPr lang="en-US" sz="1400" dirty="0" smtClean="0"/>
              <a:t>	(</a:t>
            </a:r>
            <a:r>
              <a:rPr lang="en-US" sz="1400" dirty="0"/>
              <a:t>PRDF), locates a Card Prefix File (CPF) record for</a:t>
            </a:r>
            <a:endParaRPr lang="en-US" sz="1400" dirty="0"/>
          </a:p>
          <a:p>
            <a:r>
              <a:rPr lang="en-US" sz="1400" dirty="0" smtClean="0"/>
              <a:t>	the </a:t>
            </a:r>
            <a:r>
              <a:rPr lang="en-US" sz="1400" dirty="0"/>
              <a:t>card involved in the </a:t>
            </a:r>
            <a:r>
              <a:rPr lang="en-US" sz="1400" dirty="0" smtClean="0"/>
              <a:t>transaction. The </a:t>
            </a:r>
            <a:r>
              <a:rPr lang="en-US" sz="1400" dirty="0"/>
              <a:t>Router </a:t>
            </a:r>
            <a:r>
              <a:rPr lang="en-US" sz="1400" dirty="0" smtClean="0"/>
              <a:t>	module </a:t>
            </a:r>
            <a:r>
              <a:rPr lang="en-US" sz="1400" dirty="0"/>
              <a:t>then passes the message to the </a:t>
            </a:r>
            <a:r>
              <a:rPr lang="en-US" sz="1400" dirty="0" smtClean="0"/>
              <a:t>	Authorization module. From </a:t>
            </a:r>
            <a:r>
              <a:rPr lang="en-US" sz="1400" dirty="0"/>
              <a:t>the CPF, the </a:t>
            </a:r>
            <a:r>
              <a:rPr lang="en-US" sz="1400" dirty="0" smtClean="0"/>
              <a:t>	Authorization </a:t>
            </a:r>
            <a:r>
              <a:rPr lang="en-US" sz="1400" dirty="0"/>
              <a:t>module locates an Institution</a:t>
            </a:r>
            <a:endParaRPr lang="en-US" sz="1400" dirty="0"/>
          </a:p>
          <a:p>
            <a:r>
              <a:rPr lang="en-US" sz="1400" dirty="0" smtClean="0"/>
              <a:t>	Definition </a:t>
            </a:r>
            <a:r>
              <a:rPr lang="en-US" sz="1400" dirty="0"/>
              <a:t>File (IDF) record for the institution that </a:t>
            </a:r>
            <a:r>
              <a:rPr lang="en-US" sz="1400" dirty="0" smtClean="0"/>
              <a:t>	issued </a:t>
            </a:r>
            <a:r>
              <a:rPr lang="en-US" sz="1400" dirty="0"/>
              <a:t>the </a:t>
            </a:r>
            <a:r>
              <a:rPr lang="en-US" sz="1400" dirty="0" smtClean="0"/>
              <a:t>card. The </a:t>
            </a:r>
            <a:r>
              <a:rPr lang="en-US" sz="1400" dirty="0"/>
              <a:t>IDF record identifies how the </a:t>
            </a:r>
            <a:r>
              <a:rPr lang="en-US" sz="1400" dirty="0" smtClean="0"/>
              <a:t>	transaction </a:t>
            </a:r>
            <a:r>
              <a:rPr lang="en-US" sz="1400" dirty="0"/>
              <a:t>request is to </a:t>
            </a:r>
            <a:r>
              <a:rPr lang="en-US" sz="1400" dirty="0" smtClean="0"/>
              <a:t>be processed The </a:t>
            </a:r>
            <a:r>
              <a:rPr lang="en-US" sz="1400" dirty="0"/>
              <a:t>request </a:t>
            </a:r>
            <a:r>
              <a:rPr lang="en-US" sz="1400" dirty="0" smtClean="0"/>
              <a:t>	passes </a:t>
            </a:r>
            <a:r>
              <a:rPr lang="en-US" sz="1400" dirty="0"/>
              <a:t>all </a:t>
            </a:r>
            <a:r>
              <a:rPr lang="en-US" sz="1400" dirty="0" smtClean="0"/>
              <a:t>prescreening checks</a:t>
            </a:r>
            <a:r>
              <a:rPr lang="en-US" sz="1400" dirty="0"/>
              <a:t>.</a:t>
            </a:r>
            <a:endParaRPr lang="en-US" sz="1400" dirty="0" smtClean="0"/>
          </a:p>
        </p:txBody>
      </p:sp>
      <p:sp>
        <p:nvSpPr>
          <p:cNvPr id="11" name="Title 1"/>
          <p:cNvSpPr>
            <a:spLocks noGrp="1"/>
          </p:cNvSpPr>
          <p:nvPr>
            <p:ph type="title"/>
          </p:nvPr>
        </p:nvSpPr>
        <p:spPr>
          <a:xfrm>
            <a:off x="25514" y="-28291"/>
            <a:ext cx="7066765" cy="648979"/>
          </a:xfrm>
        </p:spPr>
        <p:txBody>
          <a:bodyPr/>
          <a:lstStyle/>
          <a:p>
            <a:r>
              <a:rPr lang="en-US" dirty="0" smtClean="0"/>
              <a:t>POS Detailed Processing</a:t>
            </a:r>
            <a:endParaRPr lang="en-US" dirty="0"/>
          </a:p>
        </p:txBody>
      </p:sp>
      <p:sp>
        <p:nvSpPr>
          <p:cNvPr id="12" name="Flowchart: Multidocument 11"/>
          <p:cNvSpPr/>
          <p:nvPr/>
        </p:nvSpPr>
        <p:spPr>
          <a:xfrm>
            <a:off x="7995429" y="2132856"/>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PTD</a:t>
            </a:r>
            <a:endParaRPr lang="en-US" dirty="0"/>
          </a:p>
        </p:txBody>
      </p:sp>
      <p:sp>
        <p:nvSpPr>
          <p:cNvPr id="13" name="Flowchart: Multidocument 12"/>
          <p:cNvSpPr/>
          <p:nvPr/>
        </p:nvSpPr>
        <p:spPr>
          <a:xfrm>
            <a:off x="7995429" y="4437112"/>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PRDF</a:t>
            </a:r>
            <a:endParaRPr lang="en-US" dirty="0"/>
          </a:p>
        </p:txBody>
      </p:sp>
      <p:cxnSp>
        <p:nvCxnSpPr>
          <p:cNvPr id="17" name="Elbow Connector 16"/>
          <p:cNvCxnSpPr>
            <a:stCxn id="12" idx="2"/>
          </p:cNvCxnSpPr>
          <p:nvPr/>
        </p:nvCxnSpPr>
        <p:spPr>
          <a:xfrm rot="5400000">
            <a:off x="7758867" y="2902499"/>
            <a:ext cx="470226" cy="870808"/>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Elbow Connector 18"/>
          <p:cNvCxnSpPr>
            <a:stCxn id="13" idx="2"/>
          </p:cNvCxnSpPr>
          <p:nvPr/>
        </p:nvCxnSpPr>
        <p:spPr>
          <a:xfrm rot="5400000">
            <a:off x="7758867" y="5206755"/>
            <a:ext cx="470226" cy="870808"/>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20" name="Flowchart: Multidocument 19"/>
          <p:cNvSpPr/>
          <p:nvPr/>
        </p:nvSpPr>
        <p:spPr>
          <a:xfrm>
            <a:off x="25514" y="2564904"/>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CPF</a:t>
            </a:r>
            <a:endParaRPr lang="en-US" dirty="0"/>
          </a:p>
        </p:txBody>
      </p:sp>
      <p:sp>
        <p:nvSpPr>
          <p:cNvPr id="21" name="Flowchart: Multidocument 20"/>
          <p:cNvSpPr/>
          <p:nvPr/>
        </p:nvSpPr>
        <p:spPr>
          <a:xfrm>
            <a:off x="139350" y="4509120"/>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IDF</a:t>
            </a:r>
            <a:endParaRPr lang="en-US" dirty="0"/>
          </a:p>
        </p:txBody>
      </p:sp>
      <p:cxnSp>
        <p:nvCxnSpPr>
          <p:cNvPr id="23" name="Elbow Connector 22"/>
          <p:cNvCxnSpPr>
            <a:stCxn id="20" idx="2"/>
            <a:endCxn id="4" idx="1"/>
          </p:cNvCxnSpPr>
          <p:nvPr/>
        </p:nvCxnSpPr>
        <p:spPr>
          <a:xfrm rot="16200000" flipH="1">
            <a:off x="747409" y="3246897"/>
            <a:ext cx="330538" cy="906419"/>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Elbow Connector 27"/>
          <p:cNvCxnSpPr>
            <a:stCxn id="21" idx="2"/>
          </p:cNvCxnSpPr>
          <p:nvPr/>
        </p:nvCxnSpPr>
        <p:spPr>
          <a:xfrm rot="16200000" flipH="1">
            <a:off x="770487" y="5281871"/>
            <a:ext cx="398218" cy="792583"/>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54582" y="836712"/>
            <a:ext cx="6192688" cy="6021288"/>
          </a:xfrm>
          <a:prstGeom prst="round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600" b="1" dirty="0" smtClean="0"/>
              <a:t>Steps		         Processing</a:t>
            </a:r>
            <a:endParaRPr lang="en-US" sz="1600" b="1" dirty="0" smtClean="0"/>
          </a:p>
          <a:p>
            <a:r>
              <a:rPr lang="en-US" dirty="0" smtClean="0"/>
              <a:t>3-4</a:t>
            </a:r>
            <a:r>
              <a:rPr lang="en-US" dirty="0"/>
              <a:t>	</a:t>
            </a:r>
            <a:r>
              <a:rPr lang="en-US" sz="1400" dirty="0"/>
              <a:t>The Device Handler/Router/Authorization process </a:t>
            </a:r>
            <a:r>
              <a:rPr lang="en-US" sz="1400" dirty="0" smtClean="0"/>
              <a:t>	sends </a:t>
            </a:r>
            <a:r>
              <a:rPr lang="en-US" sz="1400" dirty="0"/>
              <a:t>the </a:t>
            </a:r>
            <a:r>
              <a:rPr lang="en-US" sz="1400" dirty="0" smtClean="0"/>
              <a:t>0200 message </a:t>
            </a:r>
            <a:r>
              <a:rPr lang="en-US" sz="1400" dirty="0"/>
              <a:t>to the ISO Host Interface </a:t>
            </a:r>
            <a:r>
              <a:rPr lang="en-US" sz="1400" dirty="0" smtClean="0"/>
              <a:t>	process.</a:t>
            </a:r>
            <a:endParaRPr lang="en-US" sz="1400" dirty="0" smtClean="0"/>
          </a:p>
          <a:p>
            <a:r>
              <a:rPr lang="en-US" dirty="0" smtClean="0"/>
              <a:t>5-6</a:t>
            </a:r>
            <a:r>
              <a:rPr lang="en-US" sz="1400" dirty="0"/>
              <a:t>	The ISO Host Interface process reformats the request </a:t>
            </a:r>
            <a:r>
              <a:rPr lang="en-US" sz="1400" dirty="0" smtClean="0"/>
              <a:t>	into </a:t>
            </a:r>
            <a:r>
              <a:rPr lang="en-US" sz="1400" dirty="0"/>
              <a:t>an </a:t>
            </a:r>
            <a:r>
              <a:rPr lang="en-US" sz="1400" dirty="0" smtClean="0"/>
              <a:t>external message </a:t>
            </a:r>
            <a:r>
              <a:rPr lang="en-US" sz="1400" dirty="0"/>
              <a:t>format, sets an outbound </a:t>
            </a:r>
            <a:r>
              <a:rPr lang="en-US" sz="1400" dirty="0" smtClean="0"/>
              <a:t>	request </a:t>
            </a:r>
            <a:r>
              <a:rPr lang="en-US" sz="1400" dirty="0"/>
              <a:t>timer, and sends the </a:t>
            </a:r>
            <a:r>
              <a:rPr lang="en-US" sz="1400" dirty="0" smtClean="0"/>
              <a:t>request as </a:t>
            </a:r>
            <a:r>
              <a:rPr lang="en-US" sz="1400" dirty="0"/>
              <a:t>a 0200 </a:t>
            </a:r>
            <a:r>
              <a:rPr lang="en-US" sz="1400" dirty="0" smtClean="0"/>
              <a:t>	message </a:t>
            </a:r>
            <a:r>
              <a:rPr lang="en-US" sz="1400" dirty="0"/>
              <a:t>to the host</a:t>
            </a:r>
            <a:r>
              <a:rPr lang="en-US" sz="1400" dirty="0" smtClean="0"/>
              <a:t>.</a:t>
            </a:r>
            <a:endParaRPr lang="en-US" sz="1400" dirty="0" smtClean="0"/>
          </a:p>
          <a:p>
            <a:r>
              <a:rPr lang="en-US" dirty="0"/>
              <a:t>7–8</a:t>
            </a:r>
            <a:r>
              <a:rPr lang="en-US" sz="1400" dirty="0"/>
              <a:t> </a:t>
            </a:r>
            <a:r>
              <a:rPr lang="en-US" sz="1400" dirty="0" smtClean="0"/>
              <a:t>	The </a:t>
            </a:r>
            <a:r>
              <a:rPr lang="en-US" sz="1400" dirty="0"/>
              <a:t>host authorizes the transaction and returns a </a:t>
            </a:r>
            <a:r>
              <a:rPr lang="en-US" sz="1400" dirty="0" smtClean="0"/>
              <a:t>	0210 response message </a:t>
            </a:r>
            <a:r>
              <a:rPr lang="en-US" sz="1400" dirty="0"/>
              <a:t>to the ISO Host Interface </a:t>
            </a:r>
            <a:r>
              <a:rPr lang="en-US" sz="1400" dirty="0" smtClean="0"/>
              <a:t>	process</a:t>
            </a:r>
            <a:r>
              <a:rPr lang="en-US" sz="1400" dirty="0"/>
              <a:t>.</a:t>
            </a:r>
            <a:endParaRPr lang="en-US" sz="1400" dirty="0"/>
          </a:p>
          <a:p>
            <a:r>
              <a:rPr lang="en-US" dirty="0"/>
              <a:t>9–10</a:t>
            </a:r>
            <a:r>
              <a:rPr lang="en-US" sz="1400" dirty="0"/>
              <a:t> </a:t>
            </a:r>
            <a:r>
              <a:rPr lang="en-US" sz="1400" dirty="0" smtClean="0"/>
              <a:t>	The </a:t>
            </a:r>
            <a:r>
              <a:rPr lang="en-US" sz="1400" dirty="0"/>
              <a:t>ISO Host Interface process deletes its outbound </a:t>
            </a:r>
            <a:r>
              <a:rPr lang="en-US" sz="1400" dirty="0" smtClean="0"/>
              <a:t>	request timer, reformats </a:t>
            </a:r>
            <a:r>
              <a:rPr lang="en-US" sz="1400" dirty="0"/>
              <a:t>the external message into a </a:t>
            </a:r>
            <a:r>
              <a:rPr lang="en-US" sz="1400" dirty="0" smtClean="0"/>
              <a:t>	PSTM</a:t>
            </a:r>
            <a:r>
              <a:rPr lang="en-US" sz="1400" dirty="0"/>
              <a:t>, and sends the </a:t>
            </a:r>
            <a:r>
              <a:rPr lang="en-US" sz="1400" dirty="0" smtClean="0"/>
              <a:t>response as </a:t>
            </a:r>
            <a:r>
              <a:rPr lang="en-US" sz="1400" dirty="0"/>
              <a:t>a 0210 message to </a:t>
            </a:r>
            <a:r>
              <a:rPr lang="en-US" sz="1400" dirty="0" smtClean="0"/>
              <a:t>	the </a:t>
            </a:r>
            <a:r>
              <a:rPr lang="en-US" sz="1400" dirty="0"/>
              <a:t>Device </a:t>
            </a:r>
            <a:r>
              <a:rPr lang="en-US" sz="1400" dirty="0" smtClean="0"/>
              <a:t>Handler/Router/Authorization process.</a:t>
            </a:r>
            <a:endParaRPr lang="en-US" sz="1400" dirty="0" smtClean="0"/>
          </a:p>
          <a:p>
            <a:r>
              <a:rPr lang="en-US" sz="1700" dirty="0" smtClean="0"/>
              <a:t>10a–10e</a:t>
            </a:r>
            <a:r>
              <a:rPr lang="en-US" sz="1400" dirty="0"/>
              <a:t> </a:t>
            </a:r>
            <a:r>
              <a:rPr lang="en-US" sz="1400" dirty="0" smtClean="0"/>
              <a:t>The Authorization module updates its authorization 	files if they are being maintained by the BASE24-pos 	system, logs the response to the POS Transaction 	Log File (PTLF), and passes the response to the</a:t>
            </a:r>
            <a:endParaRPr lang="en-US" sz="1400" dirty="0" smtClean="0"/>
          </a:p>
          <a:p>
            <a:r>
              <a:rPr lang="en-US" sz="1400" dirty="0" smtClean="0"/>
              <a:t>	Device Handler module.</a:t>
            </a:r>
            <a:endParaRPr lang="en-US" sz="1400" dirty="0" smtClean="0"/>
          </a:p>
          <a:p>
            <a:r>
              <a:rPr lang="en-US" dirty="0" smtClean="0"/>
              <a:t>11–12</a:t>
            </a:r>
            <a:r>
              <a:rPr lang="en-US" sz="1400" dirty="0" smtClean="0"/>
              <a:t>	The </a:t>
            </a:r>
            <a:r>
              <a:rPr lang="en-US" sz="1400" dirty="0"/>
              <a:t>Device Handler module translates the 0210 </a:t>
            </a:r>
            <a:r>
              <a:rPr lang="en-US" sz="1400" dirty="0" smtClean="0"/>
              <a:t>	response message into </a:t>
            </a:r>
            <a:r>
              <a:rPr lang="en-US" sz="1400" dirty="0"/>
              <a:t>a native-mode response </a:t>
            </a:r>
            <a:r>
              <a:rPr lang="en-US" sz="1400" dirty="0" smtClean="0"/>
              <a:t>	message</a:t>
            </a:r>
            <a:r>
              <a:rPr lang="en-US" sz="1400" dirty="0"/>
              <a:t>, deletes the response timer, and</a:t>
            </a:r>
            <a:endParaRPr lang="en-US" sz="1400" dirty="0"/>
          </a:p>
          <a:p>
            <a:r>
              <a:rPr lang="en-US" sz="1400" dirty="0" smtClean="0"/>
              <a:t>	sends </a:t>
            </a:r>
            <a:r>
              <a:rPr lang="en-US" sz="1400" dirty="0"/>
              <a:t>the message back to the POS device by way </a:t>
            </a:r>
            <a:r>
              <a:rPr lang="en-US" sz="1400" dirty="0" smtClean="0"/>
              <a:t>	of </a:t>
            </a:r>
            <a:r>
              <a:rPr lang="en-US" sz="1400" dirty="0"/>
              <a:t>the </a:t>
            </a:r>
            <a:r>
              <a:rPr lang="en-US" sz="1400" dirty="0" smtClean="0"/>
              <a:t>XPNET process</a:t>
            </a:r>
            <a:r>
              <a:rPr lang="en-US" sz="1400" dirty="0"/>
              <a:t>.</a:t>
            </a:r>
            <a:endParaRPr lang="en-US" sz="1400" dirty="0" smtClean="0"/>
          </a:p>
        </p:txBody>
      </p:sp>
      <p:sp>
        <p:nvSpPr>
          <p:cNvPr id="11" name="Title 1"/>
          <p:cNvSpPr>
            <a:spLocks noGrp="1"/>
          </p:cNvSpPr>
          <p:nvPr>
            <p:ph type="title"/>
          </p:nvPr>
        </p:nvSpPr>
        <p:spPr>
          <a:xfrm>
            <a:off x="25514" y="-28291"/>
            <a:ext cx="7066765" cy="648979"/>
          </a:xfrm>
        </p:spPr>
        <p:txBody>
          <a:bodyPr/>
          <a:lstStyle/>
          <a:p>
            <a:r>
              <a:rPr lang="en-US" dirty="0" smtClean="0"/>
              <a:t>POS Detailed Processing</a:t>
            </a:r>
            <a:endParaRPr lang="en-US" dirty="0"/>
          </a:p>
        </p:txBody>
      </p:sp>
      <p:sp>
        <p:nvSpPr>
          <p:cNvPr id="13" name="Flowchart: Multidocument 12"/>
          <p:cNvSpPr/>
          <p:nvPr/>
        </p:nvSpPr>
        <p:spPr>
          <a:xfrm>
            <a:off x="7995429" y="4445333"/>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PTLF</a:t>
            </a:r>
            <a:endParaRPr lang="en-US" dirty="0"/>
          </a:p>
        </p:txBody>
      </p:sp>
      <p:cxnSp>
        <p:nvCxnSpPr>
          <p:cNvPr id="19" name="Elbow Connector 18"/>
          <p:cNvCxnSpPr>
            <a:stCxn id="13" idx="2"/>
          </p:cNvCxnSpPr>
          <p:nvPr/>
        </p:nvCxnSpPr>
        <p:spPr>
          <a:xfrm rot="5400000">
            <a:off x="7758867" y="5214976"/>
            <a:ext cx="470226" cy="870808"/>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Flowchart: Multidocument 13"/>
          <p:cNvSpPr/>
          <p:nvPr/>
        </p:nvSpPr>
        <p:spPr>
          <a:xfrm>
            <a:off x="139350" y="4509120"/>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PBF</a:t>
            </a:r>
            <a:endParaRPr lang="en-US" dirty="0"/>
          </a:p>
        </p:txBody>
      </p:sp>
      <p:cxnSp>
        <p:nvCxnSpPr>
          <p:cNvPr id="15" name="Elbow Connector 14"/>
          <p:cNvCxnSpPr>
            <a:stCxn id="14" idx="2"/>
          </p:cNvCxnSpPr>
          <p:nvPr/>
        </p:nvCxnSpPr>
        <p:spPr>
          <a:xfrm rot="16200000" flipH="1">
            <a:off x="770487" y="5281871"/>
            <a:ext cx="398218" cy="792583"/>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Arrow 4"/>
          <p:cNvSpPr/>
          <p:nvPr/>
        </p:nvSpPr>
        <p:spPr>
          <a:xfrm>
            <a:off x="899592" y="3414032"/>
            <a:ext cx="648072" cy="1152128"/>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6" name="Rounded Rectangle 5"/>
          <p:cNvSpPr/>
          <p:nvPr/>
        </p:nvSpPr>
        <p:spPr>
          <a:xfrm>
            <a:off x="1547664" y="1844824"/>
            <a:ext cx="5832648" cy="374441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2" name="Title 1"/>
          <p:cNvSpPr>
            <a:spLocks noGrp="1"/>
          </p:cNvSpPr>
          <p:nvPr>
            <p:ph type="title"/>
          </p:nvPr>
        </p:nvSpPr>
        <p:spPr>
          <a:xfrm>
            <a:off x="77786" y="0"/>
            <a:ext cx="8598669" cy="908720"/>
          </a:xfrm>
        </p:spPr>
        <p:txBody>
          <a:bodyPr/>
          <a:lstStyle/>
          <a:p>
            <a:r>
              <a:rPr lang="en-US" sz="2800" dirty="0" smtClean="0"/>
              <a:t>Base 24 POS Configuration (Remote – On Us)</a:t>
            </a:r>
            <a:endParaRPr lang="en-IN" sz="2800" dirty="0"/>
          </a:p>
        </p:txBody>
      </p:sp>
      <p:sp>
        <p:nvSpPr>
          <p:cNvPr id="19" name="AutoShape 9"/>
          <p:cNvSpPr>
            <a:spLocks noChangeArrowheads="1"/>
          </p:cNvSpPr>
          <p:nvPr/>
        </p:nvSpPr>
        <p:spPr bwMode="blackWhite">
          <a:xfrm>
            <a:off x="4018384" y="2505124"/>
            <a:ext cx="884237" cy="2874962"/>
          </a:xfrm>
          <a:prstGeom prst="roundRect">
            <a:avLst>
              <a:gd name="adj" fmla="val 12486"/>
            </a:avLst>
          </a:prstGeom>
          <a:solidFill>
            <a:srgbClr val="8CB8AC"/>
          </a:solidFill>
          <a:ln w="9525">
            <a:noFill/>
            <a:round/>
          </a:ln>
          <a:effectLst>
            <a:outerShdw dist="107763" dir="2700000" algn="ctr" rotWithShape="0">
              <a:schemeClr val="bg2"/>
            </a:outerShdw>
          </a:effectLst>
        </p:spPr>
        <p:txBody>
          <a:bodyPr wrap="none" lIns="92075" tIns="46038" rIns="92075" bIns="46038" anchor="ctr"/>
          <a:lstStyle/>
          <a:p>
            <a:pPr algn="ctr"/>
            <a:r>
              <a:rPr lang="en-US" sz="2400" dirty="0">
                <a:effectLst>
                  <a:outerShdw blurRad="38100" dist="38100" dir="2700000" algn="tl">
                    <a:srgbClr val="000000"/>
                  </a:outerShdw>
                </a:effectLst>
              </a:rPr>
              <a:t>X</a:t>
            </a:r>
            <a:br>
              <a:rPr lang="en-US" sz="2400" dirty="0">
                <a:effectLst>
                  <a:outerShdw blurRad="38100" dist="38100" dir="2700000" algn="tl">
                    <a:srgbClr val="000000"/>
                  </a:outerShdw>
                </a:effectLst>
              </a:rPr>
            </a:br>
            <a:r>
              <a:rPr lang="en-US" sz="2400" dirty="0">
                <a:effectLst>
                  <a:outerShdw blurRad="38100" dist="38100" dir="2700000" algn="tl">
                    <a:srgbClr val="000000"/>
                  </a:outerShdw>
                </a:effectLst>
              </a:rPr>
              <a:t>P</a:t>
            </a:r>
            <a:br>
              <a:rPr lang="en-US" sz="2400" dirty="0">
                <a:effectLst>
                  <a:outerShdw blurRad="38100" dist="38100" dir="2700000" algn="tl">
                    <a:srgbClr val="000000"/>
                  </a:outerShdw>
                </a:effectLst>
              </a:rPr>
            </a:br>
            <a:r>
              <a:rPr lang="en-US" sz="2400" dirty="0">
                <a:effectLst>
                  <a:outerShdw blurRad="38100" dist="38100" dir="2700000" algn="tl">
                    <a:srgbClr val="000000"/>
                  </a:outerShdw>
                </a:effectLst>
              </a:rPr>
              <a:t>N</a:t>
            </a:r>
            <a:br>
              <a:rPr lang="en-US" sz="2400" dirty="0">
                <a:effectLst>
                  <a:outerShdw blurRad="38100" dist="38100" dir="2700000" algn="tl">
                    <a:srgbClr val="000000"/>
                  </a:outerShdw>
                </a:effectLst>
              </a:rPr>
            </a:br>
            <a:r>
              <a:rPr lang="en-US" sz="2400" dirty="0">
                <a:effectLst>
                  <a:outerShdw blurRad="38100" dist="38100" dir="2700000" algn="tl">
                    <a:srgbClr val="000000"/>
                  </a:outerShdw>
                </a:effectLst>
              </a:rPr>
              <a:t>E</a:t>
            </a:r>
            <a:br>
              <a:rPr lang="en-US" sz="2400" dirty="0">
                <a:effectLst>
                  <a:outerShdw blurRad="38100" dist="38100" dir="2700000" algn="tl">
                    <a:srgbClr val="000000"/>
                  </a:outerShdw>
                </a:effectLst>
              </a:rPr>
            </a:br>
            <a:r>
              <a:rPr lang="en-US" sz="2400" dirty="0">
                <a:effectLst>
                  <a:outerShdw blurRad="38100" dist="38100" dir="2700000" algn="tl">
                    <a:srgbClr val="000000"/>
                  </a:outerShdw>
                </a:effectLst>
              </a:rPr>
              <a:t>T</a:t>
            </a:r>
            <a:endParaRPr lang="en-US" sz="2400" dirty="0">
              <a:effectLst>
                <a:outerShdw blurRad="38100" dist="38100" dir="2700000" algn="tl">
                  <a:srgbClr val="000000"/>
                </a:outerShdw>
              </a:effectLst>
            </a:endParaRPr>
          </a:p>
        </p:txBody>
      </p:sp>
      <p:sp>
        <p:nvSpPr>
          <p:cNvPr id="20" name="AutoShape 7"/>
          <p:cNvSpPr>
            <a:spLocks noChangeArrowheads="1"/>
          </p:cNvSpPr>
          <p:nvPr/>
        </p:nvSpPr>
        <p:spPr bwMode="blackWhite">
          <a:xfrm>
            <a:off x="1740624" y="3414032"/>
            <a:ext cx="1831529" cy="838200"/>
          </a:xfrm>
          <a:prstGeom prst="roundRect">
            <a:avLst>
              <a:gd name="adj" fmla="val 12486"/>
            </a:avLst>
          </a:prstGeom>
          <a:solidFill>
            <a:srgbClr val="CAD3E0"/>
          </a:solidFill>
          <a:ln w="9525">
            <a:noFill/>
            <a:round/>
          </a:ln>
          <a:effectLst>
            <a:outerShdw dist="107763" dir="2700000" algn="ctr" rotWithShape="0">
              <a:schemeClr val="bg2"/>
            </a:outerShdw>
          </a:effectLst>
        </p:spPr>
        <p:txBody>
          <a:bodyPr wrap="none" lIns="92075" tIns="46038" rIns="92075" bIns="46038" anchor="ctr"/>
          <a:lstStyle/>
          <a:p>
            <a:endParaRPr lang="en-US" sz="1600" dirty="0" smtClean="0">
              <a:solidFill>
                <a:schemeClr val="bg2"/>
              </a:solidFill>
            </a:endParaRPr>
          </a:p>
          <a:p>
            <a:r>
              <a:rPr lang="en-US" sz="1600" dirty="0" smtClean="0">
                <a:solidFill>
                  <a:schemeClr val="bg2"/>
                </a:solidFill>
              </a:rPr>
              <a:t>Interface Process</a:t>
            </a:r>
            <a:endParaRPr lang="en-US" sz="1600" dirty="0" smtClean="0">
              <a:solidFill>
                <a:schemeClr val="bg2"/>
              </a:solidFill>
            </a:endParaRPr>
          </a:p>
          <a:p>
            <a:endParaRPr lang="en-US" sz="1600" dirty="0">
              <a:solidFill>
                <a:schemeClr val="bg2"/>
              </a:solidFill>
            </a:endParaRPr>
          </a:p>
        </p:txBody>
      </p:sp>
      <p:sp>
        <p:nvSpPr>
          <p:cNvPr id="4" name="Cloud 3"/>
          <p:cNvSpPr/>
          <p:nvPr/>
        </p:nvSpPr>
        <p:spPr>
          <a:xfrm>
            <a:off x="7610373" y="3293072"/>
            <a:ext cx="1410421" cy="1080120"/>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Host</a:t>
            </a:r>
            <a:endParaRPr lang="en-US" dirty="0"/>
          </a:p>
        </p:txBody>
      </p:sp>
      <p:sp>
        <p:nvSpPr>
          <p:cNvPr id="8" name="Rounded Rectangle 7"/>
          <p:cNvSpPr/>
          <p:nvPr/>
        </p:nvSpPr>
        <p:spPr>
          <a:xfrm>
            <a:off x="1691997" y="2390952"/>
            <a:ext cx="1151811" cy="53399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Base24</a:t>
            </a:r>
            <a:endParaRPr lang="en-US" dirty="0"/>
          </a:p>
        </p:txBody>
      </p:sp>
      <p:sp>
        <p:nvSpPr>
          <p:cNvPr id="11" name="AutoShape 7"/>
          <p:cNvSpPr>
            <a:spLocks noChangeArrowheads="1"/>
          </p:cNvSpPr>
          <p:nvPr/>
        </p:nvSpPr>
        <p:spPr bwMode="blackWhite">
          <a:xfrm>
            <a:off x="5132682" y="2854025"/>
            <a:ext cx="1831529" cy="838200"/>
          </a:xfrm>
          <a:prstGeom prst="roundRect">
            <a:avLst>
              <a:gd name="adj" fmla="val 12486"/>
            </a:avLst>
          </a:prstGeom>
          <a:solidFill>
            <a:srgbClr val="CAD3E0"/>
          </a:solidFill>
          <a:ln w="9525">
            <a:noFill/>
            <a:round/>
          </a:ln>
          <a:effectLst>
            <a:outerShdw dist="107763" dir="2700000" algn="ctr" rotWithShape="0">
              <a:schemeClr val="bg2"/>
            </a:outerShdw>
          </a:effectLst>
        </p:spPr>
        <p:txBody>
          <a:bodyPr wrap="none" lIns="92075" tIns="46038" rIns="92075" bIns="46038" anchor="ctr"/>
          <a:lstStyle/>
          <a:p>
            <a:r>
              <a:rPr lang="en-US" sz="1600" dirty="0" smtClean="0">
                <a:solidFill>
                  <a:schemeClr val="bg2"/>
                </a:solidFill>
              </a:rPr>
              <a:t>Router Auth </a:t>
            </a:r>
            <a:endParaRPr lang="en-US" sz="1600" dirty="0" smtClean="0">
              <a:solidFill>
                <a:schemeClr val="bg2"/>
              </a:solidFill>
            </a:endParaRPr>
          </a:p>
          <a:p>
            <a:r>
              <a:rPr lang="en-US" sz="1600" dirty="0" smtClean="0">
                <a:solidFill>
                  <a:schemeClr val="bg2"/>
                </a:solidFill>
              </a:rPr>
              <a:t>Process(RTAU)</a:t>
            </a:r>
            <a:endParaRPr lang="en-US" sz="1600" dirty="0" smtClean="0">
              <a:solidFill>
                <a:schemeClr val="bg2"/>
              </a:solidFill>
            </a:endParaRPr>
          </a:p>
          <a:p>
            <a:endParaRPr lang="en-US" sz="1600" dirty="0">
              <a:solidFill>
                <a:schemeClr val="bg2"/>
              </a:solidFill>
            </a:endParaRPr>
          </a:p>
        </p:txBody>
      </p:sp>
      <p:sp>
        <p:nvSpPr>
          <p:cNvPr id="14" name="AutoShape 7"/>
          <p:cNvSpPr>
            <a:spLocks noChangeArrowheads="1"/>
          </p:cNvSpPr>
          <p:nvPr/>
        </p:nvSpPr>
        <p:spPr bwMode="blackWhite">
          <a:xfrm>
            <a:off x="5161432" y="4006153"/>
            <a:ext cx="1831529" cy="838200"/>
          </a:xfrm>
          <a:prstGeom prst="roundRect">
            <a:avLst>
              <a:gd name="adj" fmla="val 12486"/>
            </a:avLst>
          </a:prstGeom>
          <a:solidFill>
            <a:srgbClr val="CAD3E0"/>
          </a:solidFill>
          <a:ln w="9525">
            <a:noFill/>
            <a:round/>
          </a:ln>
          <a:effectLst>
            <a:outerShdw dist="107763" dir="2700000" algn="ctr" rotWithShape="0">
              <a:schemeClr val="bg2"/>
            </a:outerShdw>
          </a:effectLst>
        </p:spPr>
        <p:txBody>
          <a:bodyPr wrap="none" lIns="92075" tIns="46038" rIns="92075" bIns="46038" anchor="ctr"/>
          <a:lstStyle/>
          <a:p>
            <a:r>
              <a:rPr lang="en-US" sz="1600" dirty="0" smtClean="0">
                <a:solidFill>
                  <a:schemeClr val="bg2"/>
                </a:solidFill>
              </a:rPr>
              <a:t>Host Interface</a:t>
            </a:r>
            <a:endParaRPr lang="en-US" sz="1600" dirty="0" smtClean="0">
              <a:solidFill>
                <a:schemeClr val="bg2"/>
              </a:solidFill>
            </a:endParaRPr>
          </a:p>
          <a:p>
            <a:endParaRPr lang="en-US" sz="1600" dirty="0">
              <a:solidFill>
                <a:schemeClr val="bg2"/>
              </a:solidFill>
            </a:endParaRPr>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8684" y="2981253"/>
            <a:ext cx="1270169" cy="18631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72" y="116632"/>
            <a:ext cx="7720880" cy="936104"/>
          </a:xfrm>
        </p:spPr>
        <p:txBody>
          <a:bodyPr/>
          <a:lstStyle/>
          <a:p>
            <a:r>
              <a:rPr lang="en-US" dirty="0" smtClean="0"/>
              <a:t>POS Incoming Message Flow</a:t>
            </a:r>
            <a:endParaRPr lang="en-US" dirty="0"/>
          </a:p>
        </p:txBody>
      </p:sp>
      <p:pic>
        <p:nvPicPr>
          <p:cNvPr id="3" name="Picture 2"/>
          <p:cNvPicPr>
            <a:picLocks noChangeAspect="1"/>
          </p:cNvPicPr>
          <p:nvPr/>
        </p:nvPicPr>
        <p:blipFill>
          <a:blip r:embed="rId1"/>
          <a:stretch>
            <a:fillRect/>
          </a:stretch>
        </p:blipFill>
        <p:spPr>
          <a:xfrm>
            <a:off x="409506" y="1502316"/>
            <a:ext cx="7992888" cy="52197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65888" y="764704"/>
            <a:ext cx="6192688" cy="6021288"/>
          </a:xfrm>
          <a:prstGeom prst="round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b="1" dirty="0" smtClean="0"/>
              <a:t>Steps		         Processing</a:t>
            </a:r>
            <a:endParaRPr lang="en-US" b="1" dirty="0" smtClean="0"/>
          </a:p>
          <a:p>
            <a:r>
              <a:rPr lang="en-US" dirty="0"/>
              <a:t>1-2 	</a:t>
            </a:r>
            <a:r>
              <a:rPr lang="en-US" sz="1400" dirty="0"/>
              <a:t>A </a:t>
            </a:r>
            <a:r>
              <a:rPr lang="en-US" sz="1400" dirty="0" smtClean="0"/>
              <a:t>host/interchange </a:t>
            </a:r>
            <a:r>
              <a:rPr lang="en-US" sz="1400" dirty="0"/>
              <a:t>acquires the transaction </a:t>
            </a:r>
            <a:r>
              <a:rPr lang="en-US" sz="1400" dirty="0" smtClean="0"/>
              <a:t>	request</a:t>
            </a:r>
            <a:r>
              <a:rPr lang="en-US" sz="1400" dirty="0"/>
              <a:t>. This </a:t>
            </a:r>
            <a:r>
              <a:rPr lang="en-US" sz="1400" dirty="0" smtClean="0"/>
              <a:t>acquirer </a:t>
            </a:r>
            <a:r>
              <a:rPr lang="en-US" sz="1400" dirty="0"/>
              <a:t>host sends </a:t>
            </a:r>
            <a:r>
              <a:rPr lang="en-US" sz="1400" dirty="0" smtClean="0"/>
              <a:t>the transaction 	request </a:t>
            </a:r>
            <a:r>
              <a:rPr lang="en-US" sz="1400" dirty="0"/>
              <a:t>to the </a:t>
            </a:r>
            <a:r>
              <a:rPr lang="en-US" sz="1400" dirty="0" smtClean="0"/>
              <a:t>BASE24-pos </a:t>
            </a:r>
            <a:r>
              <a:rPr lang="en-US" sz="1400" dirty="0"/>
              <a:t>system in external </a:t>
            </a:r>
            <a:r>
              <a:rPr lang="en-US" sz="1400" dirty="0" smtClean="0"/>
              <a:t>	message format, where </a:t>
            </a:r>
            <a:r>
              <a:rPr lang="en-US" sz="1400" dirty="0"/>
              <a:t>it is received by the </a:t>
            </a:r>
            <a:r>
              <a:rPr lang="en-US" sz="1400" dirty="0" smtClean="0"/>
              <a:t>	acquirer Interface process.</a:t>
            </a:r>
            <a:endParaRPr lang="en-US" sz="1400" dirty="0" smtClean="0"/>
          </a:p>
          <a:p>
            <a:r>
              <a:rPr lang="en-US" dirty="0"/>
              <a:t>3–4</a:t>
            </a:r>
            <a:r>
              <a:rPr lang="en-US" sz="1400" dirty="0"/>
              <a:t>	The </a:t>
            </a:r>
            <a:r>
              <a:rPr lang="en-US" sz="1400" dirty="0" smtClean="0"/>
              <a:t>Interchange </a:t>
            </a:r>
            <a:r>
              <a:rPr lang="en-US" sz="1400" dirty="0"/>
              <a:t>Interface process reformats the </a:t>
            </a:r>
            <a:r>
              <a:rPr lang="en-US" sz="1400" dirty="0" smtClean="0"/>
              <a:t>	request </a:t>
            </a:r>
            <a:r>
              <a:rPr lang="en-US" sz="1400" dirty="0"/>
              <a:t>message into </a:t>
            </a:r>
            <a:r>
              <a:rPr lang="en-US" sz="1400" dirty="0" smtClean="0"/>
              <a:t>the </a:t>
            </a:r>
            <a:r>
              <a:rPr lang="en-US" sz="1400" dirty="0"/>
              <a:t>POS Standard Internal </a:t>
            </a:r>
            <a:r>
              <a:rPr lang="en-US" sz="1400" dirty="0" smtClean="0"/>
              <a:t>	Message </a:t>
            </a:r>
            <a:r>
              <a:rPr lang="en-US" sz="1400" dirty="0"/>
              <a:t>(PSTM) format, sets a response </a:t>
            </a:r>
            <a:r>
              <a:rPr lang="en-US" sz="1400" dirty="0" smtClean="0"/>
              <a:t>timer</a:t>
            </a:r>
            <a:r>
              <a:rPr lang="en-US" sz="1400" dirty="0"/>
              <a:t>, and </a:t>
            </a:r>
            <a:r>
              <a:rPr lang="en-US" sz="1400" dirty="0" smtClean="0"/>
              <a:t>	sends </a:t>
            </a:r>
            <a:r>
              <a:rPr lang="en-US" sz="1400" dirty="0"/>
              <a:t>the 0200 request message to the Router/</a:t>
            </a:r>
            <a:endParaRPr lang="en-US" sz="1400" dirty="0"/>
          </a:p>
          <a:p>
            <a:r>
              <a:rPr lang="en-US" sz="1400" dirty="0" smtClean="0"/>
              <a:t>	Authorization(RTAU) </a:t>
            </a:r>
            <a:r>
              <a:rPr lang="en-US" sz="1400" dirty="0"/>
              <a:t>process. (When transactions are </a:t>
            </a:r>
            <a:r>
              <a:rPr lang="en-US" sz="1400" dirty="0" smtClean="0"/>
              <a:t>	received </a:t>
            </a:r>
            <a:r>
              <a:rPr lang="en-US" sz="1400" dirty="0"/>
              <a:t>from a </a:t>
            </a:r>
            <a:r>
              <a:rPr lang="en-US" sz="1400" dirty="0" smtClean="0"/>
              <a:t>host/interchange the </a:t>
            </a:r>
            <a:r>
              <a:rPr lang="en-US" sz="1400" dirty="0"/>
              <a:t>Device </a:t>
            </a:r>
            <a:r>
              <a:rPr lang="en-US" sz="1400" dirty="0" smtClean="0"/>
              <a:t>	Handler </a:t>
            </a:r>
            <a:r>
              <a:rPr lang="en-US" sz="1400" dirty="0"/>
              <a:t>module is not required</a:t>
            </a:r>
            <a:r>
              <a:rPr lang="en-US" sz="1400" dirty="0" smtClean="0"/>
              <a:t>.)</a:t>
            </a:r>
            <a:endParaRPr lang="en-US" sz="1400" dirty="0" smtClean="0"/>
          </a:p>
          <a:p>
            <a:r>
              <a:rPr lang="en-US" sz="1400" dirty="0"/>
              <a:t>4a-4c	The Router module finds the retailer’s record in the </a:t>
            </a:r>
            <a:r>
              <a:rPr lang="en-US" sz="1400" dirty="0" smtClean="0"/>
              <a:t>	POS </a:t>
            </a:r>
            <a:r>
              <a:rPr lang="en-US" sz="1400" dirty="0"/>
              <a:t>Retailer </a:t>
            </a:r>
            <a:r>
              <a:rPr lang="en-US" sz="1400" dirty="0" smtClean="0"/>
              <a:t>Definition </a:t>
            </a:r>
            <a:r>
              <a:rPr lang="en-US" sz="1400" dirty="0"/>
              <a:t>File (PRDF), locates a Card </a:t>
            </a:r>
            <a:r>
              <a:rPr lang="en-US" sz="1400" dirty="0" smtClean="0"/>
              <a:t>	Prefix </a:t>
            </a:r>
            <a:r>
              <a:rPr lang="en-US" sz="1400" dirty="0"/>
              <a:t>File (CPF) record for </a:t>
            </a:r>
            <a:r>
              <a:rPr lang="en-US" sz="1400" dirty="0" smtClean="0"/>
              <a:t>the </a:t>
            </a:r>
            <a:r>
              <a:rPr lang="en-US" sz="1400" dirty="0"/>
              <a:t>card involved in the </a:t>
            </a:r>
            <a:r>
              <a:rPr lang="en-US" sz="1400" dirty="0" smtClean="0"/>
              <a:t>	transaction. </a:t>
            </a:r>
            <a:r>
              <a:rPr lang="en-US" sz="1400" dirty="0"/>
              <a:t>The </a:t>
            </a:r>
            <a:r>
              <a:rPr lang="en-US" sz="1400" dirty="0" smtClean="0"/>
              <a:t>Router </a:t>
            </a:r>
            <a:r>
              <a:rPr lang="en-US" sz="1400" dirty="0"/>
              <a:t>module then passes the </a:t>
            </a:r>
            <a:r>
              <a:rPr lang="en-US" sz="1400" dirty="0" smtClean="0"/>
              <a:t>	message </a:t>
            </a:r>
            <a:r>
              <a:rPr lang="en-US" sz="1400" dirty="0"/>
              <a:t>to the </a:t>
            </a:r>
            <a:r>
              <a:rPr lang="en-US" sz="1400" dirty="0" smtClean="0"/>
              <a:t>Authorization module. From </a:t>
            </a:r>
            <a:r>
              <a:rPr lang="en-US" sz="1400" dirty="0"/>
              <a:t>the </a:t>
            </a:r>
            <a:r>
              <a:rPr lang="en-US" sz="1400" dirty="0" smtClean="0"/>
              <a:t>	CPF</a:t>
            </a:r>
            <a:r>
              <a:rPr lang="en-US" sz="1400" dirty="0"/>
              <a:t>, </a:t>
            </a:r>
            <a:r>
              <a:rPr lang="en-US" sz="1400" dirty="0" smtClean="0"/>
              <a:t>the Authorization </a:t>
            </a:r>
            <a:r>
              <a:rPr lang="en-US" sz="1400" dirty="0"/>
              <a:t>module locates an Institution </a:t>
            </a:r>
            <a:endParaRPr lang="en-US" sz="1400" dirty="0"/>
          </a:p>
          <a:p>
            <a:r>
              <a:rPr lang="en-US" sz="1400" dirty="0" smtClean="0"/>
              <a:t>	Definition </a:t>
            </a:r>
            <a:r>
              <a:rPr lang="en-US" sz="1400" dirty="0"/>
              <a:t>File (IDF) record for the institution that </a:t>
            </a:r>
            <a:r>
              <a:rPr lang="en-US" sz="1400" dirty="0" smtClean="0"/>
              <a:t>	issued </a:t>
            </a:r>
            <a:r>
              <a:rPr lang="en-US" sz="1400" dirty="0"/>
              <a:t>the card. </a:t>
            </a:r>
            <a:r>
              <a:rPr lang="en-US" sz="1400" dirty="0" smtClean="0"/>
              <a:t>The </a:t>
            </a:r>
            <a:r>
              <a:rPr lang="en-US" sz="1400" dirty="0"/>
              <a:t>IDF record identifies how the </a:t>
            </a:r>
            <a:r>
              <a:rPr lang="en-US" sz="1400" dirty="0" smtClean="0"/>
              <a:t>	transaction </a:t>
            </a:r>
            <a:r>
              <a:rPr lang="en-US" sz="1400" dirty="0"/>
              <a:t>request is to be </a:t>
            </a:r>
            <a:r>
              <a:rPr lang="en-US" sz="1400" dirty="0" smtClean="0"/>
              <a:t>processed. </a:t>
            </a:r>
            <a:r>
              <a:rPr lang="en-US" sz="1400" dirty="0"/>
              <a:t>The request </a:t>
            </a:r>
            <a:r>
              <a:rPr lang="en-US" sz="1400" dirty="0" smtClean="0"/>
              <a:t>	passes </a:t>
            </a:r>
            <a:r>
              <a:rPr lang="en-US" sz="1400" dirty="0"/>
              <a:t>all </a:t>
            </a:r>
            <a:r>
              <a:rPr lang="en-US" sz="1400" dirty="0" smtClean="0"/>
              <a:t>	prescreening checks</a:t>
            </a:r>
            <a:r>
              <a:rPr lang="en-US" sz="1400" dirty="0"/>
              <a:t>.</a:t>
            </a:r>
            <a:endParaRPr lang="en-US" sz="1400" dirty="0" smtClean="0"/>
          </a:p>
        </p:txBody>
      </p:sp>
      <p:sp>
        <p:nvSpPr>
          <p:cNvPr id="11" name="Title 1"/>
          <p:cNvSpPr>
            <a:spLocks noGrp="1"/>
          </p:cNvSpPr>
          <p:nvPr>
            <p:ph type="title"/>
          </p:nvPr>
        </p:nvSpPr>
        <p:spPr>
          <a:xfrm>
            <a:off x="25514" y="-28291"/>
            <a:ext cx="7066765" cy="648979"/>
          </a:xfrm>
        </p:spPr>
        <p:txBody>
          <a:bodyPr/>
          <a:lstStyle/>
          <a:p>
            <a:r>
              <a:rPr lang="en-US" dirty="0" smtClean="0"/>
              <a:t>POS Detailed Processing</a:t>
            </a:r>
            <a:endParaRPr lang="en-US" dirty="0"/>
          </a:p>
        </p:txBody>
      </p:sp>
      <p:sp>
        <p:nvSpPr>
          <p:cNvPr id="13" name="Flowchart: Multidocument 12"/>
          <p:cNvSpPr/>
          <p:nvPr/>
        </p:nvSpPr>
        <p:spPr>
          <a:xfrm>
            <a:off x="7995429" y="4437112"/>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PRDF</a:t>
            </a:r>
            <a:endParaRPr lang="en-US" dirty="0"/>
          </a:p>
        </p:txBody>
      </p:sp>
      <p:cxnSp>
        <p:nvCxnSpPr>
          <p:cNvPr id="19" name="Elbow Connector 18"/>
          <p:cNvCxnSpPr>
            <a:stCxn id="13" idx="2"/>
          </p:cNvCxnSpPr>
          <p:nvPr/>
        </p:nvCxnSpPr>
        <p:spPr>
          <a:xfrm rot="5400000">
            <a:off x="7758867" y="5206755"/>
            <a:ext cx="470226" cy="870808"/>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20" name="Flowchart: Multidocument 19"/>
          <p:cNvSpPr/>
          <p:nvPr/>
        </p:nvSpPr>
        <p:spPr>
          <a:xfrm>
            <a:off x="25514" y="2564904"/>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CPF</a:t>
            </a:r>
            <a:endParaRPr lang="en-US" dirty="0"/>
          </a:p>
        </p:txBody>
      </p:sp>
      <p:sp>
        <p:nvSpPr>
          <p:cNvPr id="21" name="Flowchart: Multidocument 20"/>
          <p:cNvSpPr/>
          <p:nvPr/>
        </p:nvSpPr>
        <p:spPr>
          <a:xfrm>
            <a:off x="139350" y="4509120"/>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IDF</a:t>
            </a:r>
            <a:endParaRPr lang="en-US" dirty="0"/>
          </a:p>
        </p:txBody>
      </p:sp>
      <p:cxnSp>
        <p:nvCxnSpPr>
          <p:cNvPr id="23" name="Elbow Connector 22"/>
          <p:cNvCxnSpPr>
            <a:stCxn id="20" idx="2"/>
            <a:endCxn id="4" idx="1"/>
          </p:cNvCxnSpPr>
          <p:nvPr/>
        </p:nvCxnSpPr>
        <p:spPr>
          <a:xfrm rot="16200000" flipH="1">
            <a:off x="792423" y="3201883"/>
            <a:ext cx="240510" cy="906419"/>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Elbow Connector 27"/>
          <p:cNvCxnSpPr>
            <a:stCxn id="21" idx="2"/>
          </p:cNvCxnSpPr>
          <p:nvPr/>
        </p:nvCxnSpPr>
        <p:spPr>
          <a:xfrm rot="16200000" flipH="1">
            <a:off x="770487" y="5281871"/>
            <a:ext cx="398218" cy="792583"/>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Flowchart: Multidocument 13"/>
          <p:cNvSpPr/>
          <p:nvPr/>
        </p:nvSpPr>
        <p:spPr>
          <a:xfrm>
            <a:off x="8002708" y="1861739"/>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ICFE</a:t>
            </a:r>
            <a:endParaRPr lang="en-US" dirty="0"/>
          </a:p>
        </p:txBody>
      </p:sp>
      <p:cxnSp>
        <p:nvCxnSpPr>
          <p:cNvPr id="15" name="Elbow Connector 14"/>
          <p:cNvCxnSpPr>
            <a:stCxn id="14" idx="2"/>
          </p:cNvCxnSpPr>
          <p:nvPr/>
        </p:nvCxnSpPr>
        <p:spPr>
          <a:xfrm rot="5400000">
            <a:off x="7766146" y="2631382"/>
            <a:ext cx="470226" cy="870808"/>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65888" y="908720"/>
            <a:ext cx="6192688" cy="5949280"/>
          </a:xfrm>
          <a:prstGeom prst="round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600" b="1" dirty="0" smtClean="0"/>
              <a:t>Steps		         Processing</a:t>
            </a:r>
            <a:endParaRPr lang="en-US" sz="1600" b="1" dirty="0" smtClean="0"/>
          </a:p>
          <a:p>
            <a:r>
              <a:rPr lang="en-US" dirty="0" smtClean="0"/>
              <a:t>5-6</a:t>
            </a:r>
            <a:r>
              <a:rPr lang="en-US" dirty="0"/>
              <a:t>	</a:t>
            </a:r>
            <a:r>
              <a:rPr lang="en-US" sz="1400" dirty="0"/>
              <a:t>The Router/Authorization process sends the 0200 </a:t>
            </a:r>
            <a:r>
              <a:rPr lang="en-US" sz="1400" dirty="0" smtClean="0"/>
              <a:t>	message </a:t>
            </a:r>
            <a:r>
              <a:rPr lang="en-US" sz="1400" dirty="0"/>
              <a:t>to the </a:t>
            </a:r>
            <a:r>
              <a:rPr lang="en-US" sz="1400" dirty="0" smtClean="0"/>
              <a:t>issuer </a:t>
            </a:r>
            <a:r>
              <a:rPr lang="en-US" sz="1400" dirty="0"/>
              <a:t>ISO Host Interface process</a:t>
            </a:r>
            <a:r>
              <a:rPr lang="en-US" sz="1400" dirty="0" smtClean="0"/>
              <a:t>.</a:t>
            </a:r>
            <a:endParaRPr lang="en-US" sz="1400" dirty="0" smtClean="0"/>
          </a:p>
          <a:p>
            <a:r>
              <a:rPr lang="en-US" dirty="0" smtClean="0"/>
              <a:t>7-8</a:t>
            </a:r>
            <a:r>
              <a:rPr lang="en-US" sz="1400" dirty="0"/>
              <a:t>	The ISO Host Interface process reformats the request </a:t>
            </a:r>
            <a:r>
              <a:rPr lang="en-US" sz="1400" dirty="0" smtClean="0"/>
              <a:t>	into </a:t>
            </a:r>
            <a:r>
              <a:rPr lang="en-US" sz="1400" dirty="0"/>
              <a:t>an </a:t>
            </a:r>
            <a:r>
              <a:rPr lang="en-US" sz="1400" dirty="0" smtClean="0"/>
              <a:t>external message </a:t>
            </a:r>
            <a:r>
              <a:rPr lang="en-US" sz="1400" dirty="0"/>
              <a:t>format, sets an outbound </a:t>
            </a:r>
            <a:r>
              <a:rPr lang="en-US" sz="1400" dirty="0" smtClean="0"/>
              <a:t>	request </a:t>
            </a:r>
            <a:r>
              <a:rPr lang="en-US" sz="1400" dirty="0"/>
              <a:t>timer, and sends the </a:t>
            </a:r>
            <a:r>
              <a:rPr lang="en-US" sz="1400" dirty="0" smtClean="0"/>
              <a:t>request as </a:t>
            </a:r>
            <a:r>
              <a:rPr lang="en-US" sz="1400" dirty="0"/>
              <a:t>a 0200 </a:t>
            </a:r>
            <a:r>
              <a:rPr lang="en-US" sz="1400" dirty="0" smtClean="0"/>
              <a:t>	message </a:t>
            </a:r>
            <a:r>
              <a:rPr lang="en-US" sz="1400" dirty="0"/>
              <a:t>to the host</a:t>
            </a:r>
            <a:r>
              <a:rPr lang="en-US" sz="1400" dirty="0" smtClean="0"/>
              <a:t>.</a:t>
            </a:r>
            <a:endParaRPr lang="en-US" sz="1400" dirty="0" smtClean="0"/>
          </a:p>
          <a:p>
            <a:r>
              <a:rPr lang="en-US" dirty="0" smtClean="0"/>
              <a:t>9-10</a:t>
            </a:r>
            <a:r>
              <a:rPr lang="en-US" sz="1400" dirty="0" smtClean="0"/>
              <a:t>	</a:t>
            </a:r>
            <a:r>
              <a:rPr lang="en-US" sz="1400" dirty="0"/>
              <a:t>The issuer host approves the transaction request </a:t>
            </a:r>
            <a:r>
              <a:rPr lang="en-US" sz="1400" dirty="0" smtClean="0"/>
              <a:t>	and </a:t>
            </a:r>
            <a:r>
              <a:rPr lang="en-US" sz="1400" dirty="0"/>
              <a:t>returns a 0210 </a:t>
            </a:r>
            <a:r>
              <a:rPr lang="en-US" sz="1400" dirty="0" smtClean="0"/>
              <a:t>response </a:t>
            </a:r>
            <a:r>
              <a:rPr lang="en-US" sz="1400" dirty="0"/>
              <a:t>message to the issuer </a:t>
            </a:r>
            <a:r>
              <a:rPr lang="en-US" sz="1400" dirty="0" smtClean="0"/>
              <a:t>	ISO </a:t>
            </a:r>
            <a:r>
              <a:rPr lang="en-US" sz="1400" dirty="0"/>
              <a:t>Host Interface process</a:t>
            </a:r>
            <a:r>
              <a:rPr lang="en-US" sz="1400" dirty="0" smtClean="0"/>
              <a:t>.</a:t>
            </a:r>
            <a:endParaRPr lang="en-US" sz="1400" dirty="0" smtClean="0"/>
          </a:p>
          <a:p>
            <a:r>
              <a:rPr lang="en-US" dirty="0" smtClean="0"/>
              <a:t>11-12</a:t>
            </a:r>
            <a:r>
              <a:rPr lang="en-US" sz="1400" dirty="0" smtClean="0"/>
              <a:t> 	</a:t>
            </a:r>
            <a:r>
              <a:rPr lang="en-US" sz="1400" dirty="0"/>
              <a:t>The issuer ISO Host Interface process deletes its </a:t>
            </a:r>
            <a:r>
              <a:rPr lang="en-US" sz="1400" dirty="0" smtClean="0"/>
              <a:t>	outbound </a:t>
            </a:r>
            <a:r>
              <a:rPr lang="en-US" sz="1400" dirty="0"/>
              <a:t>request </a:t>
            </a:r>
            <a:r>
              <a:rPr lang="en-US" sz="1400" dirty="0" smtClean="0"/>
              <a:t>timer</a:t>
            </a:r>
            <a:r>
              <a:rPr lang="en-US" sz="1400" dirty="0"/>
              <a:t>, reformats the external </a:t>
            </a:r>
            <a:r>
              <a:rPr lang="en-US" sz="1400" dirty="0" smtClean="0"/>
              <a:t>	message </a:t>
            </a:r>
            <a:r>
              <a:rPr lang="en-US" sz="1400" dirty="0"/>
              <a:t>into a PSTM, and sends the </a:t>
            </a:r>
            <a:r>
              <a:rPr lang="en-US" sz="1400" dirty="0" smtClean="0"/>
              <a:t>response </a:t>
            </a:r>
            <a:r>
              <a:rPr lang="en-US" sz="1400" dirty="0"/>
              <a:t>as a </a:t>
            </a:r>
            <a:r>
              <a:rPr lang="en-US" sz="1400" dirty="0" smtClean="0"/>
              <a:t>	0210 </a:t>
            </a:r>
            <a:r>
              <a:rPr lang="en-US" sz="1400" dirty="0"/>
              <a:t>message to the Router/Authorization </a:t>
            </a:r>
            <a:r>
              <a:rPr lang="en-US" sz="1400" dirty="0" smtClean="0"/>
              <a:t>	Process.</a:t>
            </a:r>
            <a:endParaRPr lang="en-US" sz="1400" dirty="0" smtClean="0"/>
          </a:p>
          <a:p>
            <a:r>
              <a:rPr lang="en-US" sz="1400" dirty="0" smtClean="0"/>
              <a:t>12a–12d</a:t>
            </a:r>
            <a:r>
              <a:rPr lang="en-US" sz="1400" dirty="0"/>
              <a:t> </a:t>
            </a:r>
            <a:r>
              <a:rPr lang="en-US" sz="1400" dirty="0" smtClean="0"/>
              <a:t>   The </a:t>
            </a:r>
            <a:r>
              <a:rPr lang="en-US" sz="1400" dirty="0"/>
              <a:t>Authorization module updates its authorization </a:t>
            </a:r>
            <a:r>
              <a:rPr lang="en-US" sz="1400" dirty="0" smtClean="0"/>
              <a:t>	files </a:t>
            </a:r>
            <a:r>
              <a:rPr lang="en-US" sz="1400" dirty="0"/>
              <a:t>if they are </a:t>
            </a:r>
            <a:r>
              <a:rPr lang="en-US" sz="1400" dirty="0" smtClean="0"/>
              <a:t>being </a:t>
            </a:r>
            <a:r>
              <a:rPr lang="en-US" sz="1400" dirty="0"/>
              <a:t>maintained by the BASE24-pos </a:t>
            </a:r>
            <a:r>
              <a:rPr lang="en-US" sz="1400" dirty="0" smtClean="0"/>
              <a:t>	system </a:t>
            </a:r>
            <a:r>
              <a:rPr lang="en-US" sz="1400" dirty="0"/>
              <a:t>and logs the response </a:t>
            </a:r>
            <a:r>
              <a:rPr lang="en-US" sz="1400" dirty="0" smtClean="0"/>
              <a:t>to the </a:t>
            </a:r>
            <a:r>
              <a:rPr lang="en-US" sz="1400" dirty="0"/>
              <a:t>POS Transaction </a:t>
            </a:r>
            <a:r>
              <a:rPr lang="en-US" sz="1400" dirty="0" smtClean="0"/>
              <a:t>	Log </a:t>
            </a:r>
            <a:r>
              <a:rPr lang="en-US" sz="1400" dirty="0"/>
              <a:t>File (PTLF</a:t>
            </a:r>
            <a:r>
              <a:rPr lang="en-US" sz="1400" dirty="0" smtClean="0"/>
              <a:t>).</a:t>
            </a:r>
            <a:endParaRPr lang="en-US" sz="1400" dirty="0" smtClean="0"/>
          </a:p>
          <a:p>
            <a:r>
              <a:rPr lang="en-US" sz="1400" dirty="0" smtClean="0"/>
              <a:t>12e–12g	</a:t>
            </a:r>
            <a:r>
              <a:rPr lang="en-US" sz="1400" dirty="0"/>
              <a:t>The Router/Authorization process formats and sends </a:t>
            </a:r>
            <a:r>
              <a:rPr lang="en-US" sz="1400" dirty="0" smtClean="0"/>
              <a:t>	a </a:t>
            </a:r>
            <a:r>
              <a:rPr lang="en-US" sz="1400" dirty="0"/>
              <a:t>0220 </a:t>
            </a:r>
            <a:r>
              <a:rPr lang="en-US" sz="1400" dirty="0" smtClean="0"/>
              <a:t>completion </a:t>
            </a:r>
            <a:r>
              <a:rPr lang="en-US" sz="1400" dirty="0"/>
              <a:t>message to the issuer ISO Host </a:t>
            </a:r>
            <a:r>
              <a:rPr lang="en-US" sz="1400" dirty="0" smtClean="0"/>
              <a:t>	Interface </a:t>
            </a:r>
            <a:r>
              <a:rPr lang="en-US" sz="1400" dirty="0"/>
              <a:t>process</a:t>
            </a:r>
            <a:r>
              <a:rPr lang="en-US" sz="1400" dirty="0" smtClean="0"/>
              <a:t>.</a:t>
            </a:r>
            <a:endParaRPr lang="en-US" sz="1400" dirty="0" smtClean="0"/>
          </a:p>
        </p:txBody>
      </p:sp>
      <p:sp>
        <p:nvSpPr>
          <p:cNvPr id="11" name="Title 1"/>
          <p:cNvSpPr>
            <a:spLocks noGrp="1"/>
          </p:cNvSpPr>
          <p:nvPr>
            <p:ph type="title"/>
          </p:nvPr>
        </p:nvSpPr>
        <p:spPr>
          <a:xfrm>
            <a:off x="25514" y="-28291"/>
            <a:ext cx="7066765" cy="648979"/>
          </a:xfrm>
        </p:spPr>
        <p:txBody>
          <a:bodyPr/>
          <a:lstStyle/>
          <a:p>
            <a:r>
              <a:rPr lang="en-US" dirty="0" smtClean="0"/>
              <a:t>POS Detailed Processing</a:t>
            </a:r>
            <a:endParaRPr lang="en-US" dirty="0"/>
          </a:p>
        </p:txBody>
      </p:sp>
      <p:sp>
        <p:nvSpPr>
          <p:cNvPr id="13" name="Flowchart: Multidocument 12"/>
          <p:cNvSpPr/>
          <p:nvPr/>
        </p:nvSpPr>
        <p:spPr>
          <a:xfrm>
            <a:off x="7995429" y="4445333"/>
            <a:ext cx="1008112" cy="1008112"/>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PTLF</a:t>
            </a:r>
            <a:endParaRPr lang="en-US" dirty="0"/>
          </a:p>
        </p:txBody>
      </p:sp>
      <p:cxnSp>
        <p:nvCxnSpPr>
          <p:cNvPr id="19" name="Elbow Connector 18"/>
          <p:cNvCxnSpPr>
            <a:stCxn id="13" idx="2"/>
          </p:cNvCxnSpPr>
          <p:nvPr/>
        </p:nvCxnSpPr>
        <p:spPr>
          <a:xfrm rot="5400000">
            <a:off x="7758867" y="5214976"/>
            <a:ext cx="470226" cy="870808"/>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403648" y="908720"/>
            <a:ext cx="6192688" cy="5949280"/>
          </a:xfrm>
          <a:prstGeom prst="round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600" b="1" dirty="0" smtClean="0"/>
              <a:t>Steps		         Processing</a:t>
            </a:r>
            <a:endParaRPr lang="en-US" sz="1600" b="1" dirty="0" smtClean="0"/>
          </a:p>
          <a:p>
            <a:r>
              <a:rPr lang="en-US" sz="1400" dirty="0"/>
              <a:t>12h–12i </a:t>
            </a:r>
            <a:r>
              <a:rPr lang="en-US" dirty="0"/>
              <a:t>	</a:t>
            </a:r>
            <a:r>
              <a:rPr lang="en-US" sz="1400" dirty="0"/>
              <a:t>The issuer ISO Host Interface process reformats the 	0220 completion message into an external message 	format and sends the completion message to the 	host. The completion message notifies the host that </a:t>
            </a:r>
            <a:endParaRPr lang="en-US" sz="1400" dirty="0"/>
          </a:p>
          <a:p>
            <a:r>
              <a:rPr lang="en-US" sz="1400" dirty="0"/>
              <a:t>	the transaction completed as authorized.</a:t>
            </a:r>
            <a:endParaRPr lang="en-US" sz="1400" dirty="0"/>
          </a:p>
          <a:p>
            <a:r>
              <a:rPr lang="en-US" dirty="0" smtClean="0"/>
              <a:t>13-14</a:t>
            </a:r>
            <a:r>
              <a:rPr lang="en-US" dirty="0"/>
              <a:t>	</a:t>
            </a:r>
            <a:r>
              <a:rPr lang="en-US" sz="1400" dirty="0"/>
              <a:t>The Router/Authorization process formats a 0210 </a:t>
            </a:r>
            <a:r>
              <a:rPr lang="en-US" sz="1400" dirty="0" smtClean="0"/>
              <a:t>	response </a:t>
            </a:r>
            <a:r>
              <a:rPr lang="en-US" sz="1400" dirty="0"/>
              <a:t>message </a:t>
            </a:r>
            <a:r>
              <a:rPr lang="en-US" sz="1400" dirty="0" smtClean="0"/>
              <a:t>and </a:t>
            </a:r>
            <a:r>
              <a:rPr lang="en-US" sz="1400" dirty="0"/>
              <a:t>sends it to the acquirer ISO </a:t>
            </a:r>
            <a:r>
              <a:rPr lang="en-US" sz="1400" dirty="0" smtClean="0"/>
              <a:t>	Host </a:t>
            </a:r>
            <a:r>
              <a:rPr lang="en-US" sz="1400" dirty="0"/>
              <a:t>Interface process</a:t>
            </a:r>
            <a:r>
              <a:rPr lang="en-US" sz="1400" dirty="0" smtClean="0"/>
              <a:t>.</a:t>
            </a:r>
            <a:endParaRPr lang="en-US" sz="1400" dirty="0" smtClean="0"/>
          </a:p>
          <a:p>
            <a:r>
              <a:rPr lang="en-US" dirty="0" smtClean="0"/>
              <a:t>15-16</a:t>
            </a:r>
            <a:r>
              <a:rPr lang="en-US" sz="1400" dirty="0"/>
              <a:t>	The acquirer ISO Host Interface process reformats </a:t>
            </a:r>
            <a:r>
              <a:rPr lang="en-US" sz="1400" dirty="0" smtClean="0"/>
              <a:t>	the </a:t>
            </a:r>
            <a:r>
              <a:rPr lang="en-US" sz="1400" dirty="0"/>
              <a:t>0210 response </a:t>
            </a:r>
            <a:r>
              <a:rPr lang="en-US" sz="1400" dirty="0" smtClean="0"/>
              <a:t>into </a:t>
            </a:r>
            <a:r>
              <a:rPr lang="en-US" sz="1400" dirty="0"/>
              <a:t>external message format, </a:t>
            </a:r>
            <a:r>
              <a:rPr lang="en-US" sz="1400" dirty="0" smtClean="0"/>
              <a:t>	deletes </a:t>
            </a:r>
            <a:r>
              <a:rPr lang="en-US" sz="1400" dirty="0"/>
              <a:t>the response timer, and sends </a:t>
            </a:r>
            <a:r>
              <a:rPr lang="en-US" sz="1400" dirty="0" smtClean="0"/>
              <a:t>the </a:t>
            </a:r>
            <a:r>
              <a:rPr lang="en-US" sz="1400" dirty="0"/>
              <a:t>response </a:t>
            </a:r>
            <a:r>
              <a:rPr lang="en-US" sz="1400" dirty="0" smtClean="0"/>
              <a:t>	to </a:t>
            </a:r>
            <a:r>
              <a:rPr lang="en-US" sz="1400" dirty="0"/>
              <a:t>the acquirer host</a:t>
            </a:r>
            <a:r>
              <a:rPr lang="en-US" sz="1400" dirty="0" smtClean="0"/>
              <a:t>.</a:t>
            </a:r>
            <a:endParaRPr lang="en-US" sz="1400" dirty="0" smtClean="0"/>
          </a:p>
          <a:p>
            <a:endParaRPr lang="en-US" sz="1400" dirty="0" smtClean="0"/>
          </a:p>
        </p:txBody>
      </p:sp>
      <p:sp>
        <p:nvSpPr>
          <p:cNvPr id="11" name="Title 1"/>
          <p:cNvSpPr>
            <a:spLocks noGrp="1"/>
          </p:cNvSpPr>
          <p:nvPr>
            <p:ph type="title"/>
          </p:nvPr>
        </p:nvSpPr>
        <p:spPr>
          <a:xfrm>
            <a:off x="25514" y="-28291"/>
            <a:ext cx="7066765" cy="648979"/>
          </a:xfrm>
        </p:spPr>
        <p:txBody>
          <a:bodyPr/>
          <a:lstStyle/>
          <a:p>
            <a:r>
              <a:rPr lang="en-US" dirty="0" smtClean="0"/>
              <a:t>POS Detailed Processing</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055380" cy="1400530"/>
          </a:xfrm>
        </p:spPr>
        <p:txBody>
          <a:bodyPr/>
          <a:lstStyle/>
          <a:p>
            <a:r>
              <a:rPr lang="en-US" dirty="0" smtClean="0"/>
              <a:t>Hypercom DH</a:t>
            </a:r>
            <a:endParaRPr lang="en-IN" dirty="0"/>
          </a:p>
        </p:txBody>
      </p:sp>
      <p:sp>
        <p:nvSpPr>
          <p:cNvPr id="3" name="Content Placeholder 2"/>
          <p:cNvSpPr>
            <a:spLocks noGrp="1"/>
          </p:cNvSpPr>
          <p:nvPr>
            <p:ph idx="1"/>
          </p:nvPr>
        </p:nvSpPr>
        <p:spPr>
          <a:xfrm>
            <a:off x="171862" y="1400530"/>
            <a:ext cx="8648609" cy="5052806"/>
          </a:xfrm>
        </p:spPr>
        <p:txBody>
          <a:bodyPr>
            <a:normAutofit fontScale="85000" lnSpcReduction="20000"/>
          </a:bodyPr>
          <a:lstStyle/>
          <a:p>
            <a:pPr>
              <a:lnSpc>
                <a:spcPct val="100000"/>
              </a:lnSpc>
            </a:pPr>
            <a:r>
              <a:rPr lang="en-US" dirty="0" smtClean="0"/>
              <a:t>Translates Message Formats</a:t>
            </a:r>
            <a:endParaRPr lang="en-US" dirty="0" smtClean="0"/>
          </a:p>
          <a:p>
            <a:pPr>
              <a:lnSpc>
                <a:spcPct val="100000"/>
              </a:lnSpc>
            </a:pPr>
            <a:r>
              <a:rPr lang="en-US" dirty="0" smtClean="0"/>
              <a:t>Performs Consistency Checks on Messages</a:t>
            </a:r>
            <a:endParaRPr lang="en-US" dirty="0" smtClean="0"/>
          </a:p>
          <a:p>
            <a:pPr>
              <a:lnSpc>
                <a:spcPct val="100000"/>
              </a:lnSpc>
            </a:pPr>
            <a:r>
              <a:rPr lang="en-US" dirty="0" smtClean="0"/>
              <a:t>Maintains Transaction Timer</a:t>
            </a:r>
            <a:endParaRPr lang="en-US" dirty="0" smtClean="0"/>
          </a:p>
          <a:p>
            <a:pPr>
              <a:lnSpc>
                <a:spcPct val="100000"/>
              </a:lnSpc>
            </a:pPr>
            <a:r>
              <a:rPr lang="en-US" dirty="0" smtClean="0"/>
              <a:t>Performs PIN Decryption</a:t>
            </a:r>
            <a:endParaRPr lang="en-US" dirty="0" smtClean="0"/>
          </a:p>
          <a:p>
            <a:pPr>
              <a:lnSpc>
                <a:spcPct val="100000"/>
              </a:lnSpc>
            </a:pPr>
            <a:r>
              <a:rPr lang="en-US" dirty="0" smtClean="0"/>
              <a:t>Assign </a:t>
            </a:r>
            <a:r>
              <a:rPr lang="en-IN" dirty="0" smtClean="0"/>
              <a:t>transaction sequence numbers to transactions if the originating POS terminals are not capable of assigning them</a:t>
            </a:r>
            <a:endParaRPr lang="en-IN" dirty="0" smtClean="0"/>
          </a:p>
          <a:p>
            <a:r>
              <a:rPr lang="en-US" dirty="0" smtClean="0"/>
              <a:t>Router &amp; Authorization modules bound with HPDH process, perform the routing &amp; authorization part</a:t>
            </a:r>
            <a:endParaRPr lang="en-US" dirty="0" smtClean="0"/>
          </a:p>
          <a:p>
            <a:r>
              <a:rPr lang="en-US" dirty="0"/>
              <a:t>The Hypercom External Message is a variable-content, variable-length message</a:t>
            </a:r>
            <a:r>
              <a:rPr lang="en-US" dirty="0" smtClean="0"/>
              <a:t>, based </a:t>
            </a:r>
            <a:r>
              <a:rPr lang="en-US" dirty="0"/>
              <a:t>on the ISO 8583 message format developed by the </a:t>
            </a:r>
            <a:r>
              <a:rPr lang="en-US" dirty="0" smtClean="0"/>
              <a:t>International Organization </a:t>
            </a:r>
            <a:r>
              <a:rPr lang="en-US" dirty="0"/>
              <a:t>for Standardization (ISO).</a:t>
            </a:r>
            <a:endParaRPr lang="en-US" dirty="0" smtClean="0"/>
          </a:p>
          <a:p>
            <a:r>
              <a:rPr lang="en-US" dirty="0"/>
              <a:t>In addition, two major components that allow the HPDH module to perform </a:t>
            </a:r>
            <a:r>
              <a:rPr lang="en-US" dirty="0" smtClean="0"/>
              <a:t>its functions </a:t>
            </a:r>
            <a:r>
              <a:rPr lang="en-US" dirty="0"/>
              <a:t>are the network access controller (NAC) and the network </a:t>
            </a:r>
            <a:r>
              <a:rPr lang="en-US" dirty="0" smtClean="0"/>
              <a:t>management system </a:t>
            </a:r>
            <a:r>
              <a:rPr lang="en-US" dirty="0"/>
              <a:t>(NMS). The NAC provides end-to-end network optimization </a:t>
            </a:r>
            <a:r>
              <a:rPr lang="en-US" dirty="0" smtClean="0"/>
              <a:t>and concentration </a:t>
            </a:r>
            <a:r>
              <a:rPr lang="en-US" dirty="0"/>
              <a:t>to free the host of processing that is better handled elsewhere. </a:t>
            </a:r>
            <a:r>
              <a:rPr lang="en-US" dirty="0" smtClean="0"/>
              <a:t>The NMS </a:t>
            </a:r>
            <a:r>
              <a:rPr lang="en-US" dirty="0"/>
              <a:t>provides a method to control NACs and terminals throughout the network</a:t>
            </a:r>
            <a:r>
              <a:rPr lang="en-US" dirty="0" smtClean="0"/>
              <a:t>.</a:t>
            </a:r>
            <a:endParaRPr lang="en-US" dirty="0" smtClean="0"/>
          </a:p>
          <a:p>
            <a:r>
              <a:rPr lang="en-US" dirty="0"/>
              <a:t>The NAC is required in order to use the HPDH module with BASE24-pos, whereas the NMS is optional.</a:t>
            </a:r>
            <a:endParaRPr lang="en-US" dirty="0"/>
          </a:p>
          <a:p>
            <a:endParaRPr lang="en-US" dirty="0" smtClean="0"/>
          </a:p>
          <a:p>
            <a:endParaRPr lang="en-US" dirty="0"/>
          </a:p>
          <a:p>
            <a:pPr>
              <a:buNone/>
            </a:pPr>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15" y="-28291"/>
            <a:ext cx="7055380" cy="1400530"/>
          </a:xfrm>
        </p:spPr>
        <p:txBody>
          <a:bodyPr/>
          <a:lstStyle/>
          <a:p>
            <a:r>
              <a:rPr lang="en-US" dirty="0"/>
              <a:t>Router Module Processing</a:t>
            </a:r>
            <a:endParaRPr lang="en-US" dirty="0"/>
          </a:p>
        </p:txBody>
      </p:sp>
      <p:sp>
        <p:nvSpPr>
          <p:cNvPr id="3" name="Content Placeholder 2"/>
          <p:cNvSpPr>
            <a:spLocks noGrp="1"/>
          </p:cNvSpPr>
          <p:nvPr>
            <p:ph idx="1"/>
          </p:nvPr>
        </p:nvSpPr>
        <p:spPr>
          <a:xfrm>
            <a:off x="25515" y="1124744"/>
            <a:ext cx="9010981" cy="5733256"/>
          </a:xfrm>
        </p:spPr>
        <p:txBody>
          <a:bodyPr>
            <a:noAutofit/>
          </a:bodyPr>
          <a:lstStyle/>
          <a:p>
            <a:r>
              <a:rPr lang="en-US" sz="1800" dirty="0"/>
              <a:t>The Router module receives messages and routes them to hosts, interchanges, </a:t>
            </a:r>
            <a:r>
              <a:rPr lang="en-US" sz="1800" dirty="0" smtClean="0"/>
              <a:t>a Transaction </a:t>
            </a:r>
            <a:r>
              <a:rPr lang="en-US" sz="1800" dirty="0"/>
              <a:t>Context Manager process, Router modules in other logical </a:t>
            </a:r>
            <a:r>
              <a:rPr lang="en-US" sz="1800" dirty="0" smtClean="0"/>
              <a:t>networks, or </a:t>
            </a:r>
            <a:r>
              <a:rPr lang="en-US" sz="1800" dirty="0"/>
              <a:t>its bound Authorization module. The Router module can receive messages </a:t>
            </a:r>
            <a:r>
              <a:rPr lang="en-US" sz="1800" dirty="0" smtClean="0"/>
              <a:t>from its </a:t>
            </a:r>
            <a:r>
              <a:rPr lang="en-US" sz="1800" dirty="0"/>
              <a:t>bound Device Handler module, an ISO Host Interface process, an </a:t>
            </a:r>
            <a:r>
              <a:rPr lang="en-US" sz="1800" dirty="0" smtClean="0"/>
              <a:t>Interchange Interface </a:t>
            </a:r>
            <a:r>
              <a:rPr lang="en-US" sz="1800" dirty="0"/>
              <a:t>process a Transaction Context Manager process, or another </a:t>
            </a:r>
            <a:r>
              <a:rPr lang="en-US" sz="1800" dirty="0" smtClean="0"/>
              <a:t>logical network</a:t>
            </a:r>
            <a:r>
              <a:rPr lang="en-US" sz="1600" dirty="0"/>
              <a:t>.</a:t>
            </a:r>
            <a:endParaRPr lang="en-US" sz="1600" dirty="0"/>
          </a:p>
          <a:p>
            <a:r>
              <a:rPr lang="en-US" b="1" dirty="0"/>
              <a:t>Tasks of the Router Module</a:t>
            </a:r>
            <a:endParaRPr lang="en-US" b="1" dirty="0"/>
          </a:p>
          <a:p>
            <a:pPr marL="0" indent="0">
              <a:buNone/>
            </a:pPr>
            <a:r>
              <a:rPr lang="en-US" sz="1600" dirty="0" smtClean="0"/>
              <a:t>       When </a:t>
            </a:r>
            <a:r>
              <a:rPr lang="en-US" sz="1600" dirty="0"/>
              <a:t>the Router module receives a transaction message, it </a:t>
            </a:r>
            <a:r>
              <a:rPr lang="en-US" sz="1600" dirty="0" smtClean="0"/>
              <a:t>performs </a:t>
            </a:r>
            <a:r>
              <a:rPr lang="en-US" sz="1600" dirty="0"/>
              <a:t>the </a:t>
            </a:r>
            <a:r>
              <a:rPr lang="en-US" sz="1600" dirty="0" smtClean="0"/>
              <a:t>following</a:t>
            </a:r>
            <a:endParaRPr lang="en-US" sz="1600" dirty="0" smtClean="0"/>
          </a:p>
          <a:p>
            <a:pPr marL="0" indent="0">
              <a:buNone/>
            </a:pPr>
            <a:r>
              <a:rPr lang="en-US" sz="1600" dirty="0"/>
              <a:t> </a:t>
            </a:r>
            <a:r>
              <a:rPr lang="en-US" sz="1600" dirty="0" smtClean="0"/>
              <a:t>      tasks:</a:t>
            </a:r>
            <a:endParaRPr lang="en-US" sz="1600" dirty="0"/>
          </a:p>
          <a:p>
            <a:pPr>
              <a:buFont typeface="Wingdings" panose="05000000000000000000" pitchFamily="2" charset="2"/>
              <a:buChar char="v"/>
            </a:pPr>
            <a:r>
              <a:rPr lang="en-US" sz="1600" dirty="0" smtClean="0"/>
              <a:t>Determines </a:t>
            </a:r>
            <a:r>
              <a:rPr lang="en-US" sz="1600" dirty="0"/>
              <a:t>whether the message can be routed to an authorizing entity. </a:t>
            </a:r>
            <a:r>
              <a:rPr lang="en-US" sz="1600" dirty="0" smtClean="0"/>
              <a:t>The Router </a:t>
            </a:r>
            <a:r>
              <a:rPr lang="en-US" sz="1600" dirty="0"/>
              <a:t>module determines how to route the transaction according </a:t>
            </a:r>
            <a:r>
              <a:rPr lang="en-US" sz="1600" dirty="0" smtClean="0"/>
              <a:t>to information </a:t>
            </a:r>
            <a:r>
              <a:rPr lang="en-US" sz="1600" dirty="0"/>
              <a:t>from files and the POS Standard Internal Message (PSTM). </a:t>
            </a:r>
            <a:r>
              <a:rPr lang="en-US" sz="1600" dirty="0" smtClean="0"/>
              <a:t>If the </a:t>
            </a:r>
            <a:r>
              <a:rPr lang="en-US" sz="1600" dirty="0"/>
              <a:t>Router module cannot obtain the information it needs to route </a:t>
            </a:r>
            <a:r>
              <a:rPr lang="en-US" sz="1600" dirty="0" smtClean="0"/>
              <a:t>a transaction</a:t>
            </a:r>
            <a:r>
              <a:rPr lang="en-US" sz="1600" dirty="0"/>
              <a:t>, it denies the transaction request.</a:t>
            </a:r>
            <a:endParaRPr lang="en-US" sz="1600" dirty="0"/>
          </a:p>
          <a:p>
            <a:pPr>
              <a:buFont typeface="Wingdings" panose="05000000000000000000" pitchFamily="2" charset="2"/>
              <a:buChar char="v"/>
            </a:pPr>
            <a:r>
              <a:rPr lang="en-US" sz="1600" dirty="0" smtClean="0"/>
              <a:t>Determines </a:t>
            </a:r>
            <a:r>
              <a:rPr lang="en-US" sz="1600" dirty="0"/>
              <a:t>the routing parameters to use for the transaction and sets fields </a:t>
            </a:r>
            <a:r>
              <a:rPr lang="en-US" sz="1600" dirty="0" smtClean="0"/>
              <a:t>in the </a:t>
            </a:r>
            <a:r>
              <a:rPr lang="en-US" sz="1600" dirty="0"/>
              <a:t>PSTM based on those parameters. Routing parameters include </a:t>
            </a:r>
            <a:r>
              <a:rPr lang="en-US" sz="1600" dirty="0" smtClean="0"/>
              <a:t>the primary </a:t>
            </a:r>
            <a:r>
              <a:rPr lang="en-US" sz="1600" dirty="0"/>
              <a:t>authorizer, alternate authorizers, override destination, and </a:t>
            </a:r>
            <a:r>
              <a:rPr lang="en-US" sz="1600" dirty="0" smtClean="0"/>
              <a:t>offline limits</a:t>
            </a:r>
            <a:r>
              <a:rPr lang="en-US" sz="1600" dirty="0"/>
              <a:t>. At this point, the Router module can determine an authorizer</a:t>
            </a:r>
            <a:r>
              <a:rPr lang="en-US" sz="1600" dirty="0" smtClean="0"/>
              <a:t>.</a:t>
            </a:r>
            <a:endParaRPr lang="en-US" sz="16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24744"/>
            <a:ext cx="8964488" cy="4195481"/>
          </a:xfrm>
        </p:spPr>
        <p:txBody>
          <a:bodyPr/>
          <a:lstStyle/>
          <a:p>
            <a:pPr>
              <a:buFont typeface="Wingdings" panose="05000000000000000000" pitchFamily="2" charset="2"/>
              <a:buChar char="v"/>
            </a:pPr>
            <a:r>
              <a:rPr lang="en-US" dirty="0"/>
              <a:t>Sends the message to the appropriate authorizer. If the authorizer is the Authorization module, the Router module passes the message to that module. If the authorizer is an interchange, host, or Router/Authorization process in another logical network, the Router module sends the message to the XPNET process to be routed to the appropriate Interchange Interface, ISO </a:t>
            </a:r>
            <a:r>
              <a:rPr lang="en-US" dirty="0" smtClean="0"/>
              <a:t>Host Interface</a:t>
            </a:r>
            <a:r>
              <a:rPr lang="en-US" dirty="0"/>
              <a:t>, or Router/Authorization process.</a:t>
            </a:r>
            <a:endParaRPr lang="en-US" dirty="0"/>
          </a:p>
          <a:p>
            <a:pPr marL="0" indent="0">
              <a:buNone/>
            </a:pPr>
            <a:endParaRPr lang="en-US" dirty="0"/>
          </a:p>
        </p:txBody>
      </p:sp>
      <p:sp>
        <p:nvSpPr>
          <p:cNvPr id="4" name="Title 1"/>
          <p:cNvSpPr>
            <a:spLocks noGrp="1"/>
          </p:cNvSpPr>
          <p:nvPr>
            <p:ph type="title"/>
          </p:nvPr>
        </p:nvSpPr>
        <p:spPr>
          <a:xfrm>
            <a:off x="25515" y="-28291"/>
            <a:ext cx="7055380" cy="1400530"/>
          </a:xfrm>
        </p:spPr>
        <p:txBody>
          <a:bodyPr/>
          <a:lstStyle/>
          <a:p>
            <a:r>
              <a:rPr lang="en-US" dirty="0"/>
              <a:t>Router Module Processing</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24744"/>
            <a:ext cx="8964488" cy="4195481"/>
          </a:xfrm>
        </p:spPr>
        <p:txBody>
          <a:bodyPr>
            <a:normAutofit/>
          </a:bodyPr>
          <a:lstStyle/>
          <a:p>
            <a:r>
              <a:rPr lang="en-US" dirty="0"/>
              <a:t>The Authorization module receives transactions from the Router module </a:t>
            </a:r>
            <a:r>
              <a:rPr lang="en-US" dirty="0" smtClean="0"/>
              <a:t>and authorizes </a:t>
            </a:r>
            <a:r>
              <a:rPr lang="en-US" dirty="0"/>
              <a:t>them according to an institution’s authorization parameters </a:t>
            </a:r>
            <a:r>
              <a:rPr lang="en-US" dirty="0" smtClean="0"/>
              <a:t>and controls</a:t>
            </a:r>
            <a:r>
              <a:rPr lang="en-US" dirty="0"/>
              <a:t>. </a:t>
            </a:r>
            <a:r>
              <a:rPr lang="en-US" dirty="0" smtClean="0"/>
              <a:t>The </a:t>
            </a:r>
            <a:r>
              <a:rPr lang="en-US" dirty="0"/>
              <a:t>Authorization module </a:t>
            </a:r>
            <a:r>
              <a:rPr lang="en-US" dirty="0" smtClean="0"/>
              <a:t>is responsible </a:t>
            </a:r>
            <a:r>
              <a:rPr lang="en-US" dirty="0"/>
              <a:t>for selecting appropriate routing and authorization parameters from </a:t>
            </a:r>
            <a:r>
              <a:rPr lang="en-US" dirty="0" smtClean="0"/>
              <a:t>the Institution </a:t>
            </a:r>
            <a:r>
              <a:rPr lang="en-US" dirty="0"/>
              <a:t>Definition File (IDF) Routing Table, </a:t>
            </a:r>
            <a:r>
              <a:rPr lang="en-US" dirty="0" smtClean="0"/>
              <a:t>The </a:t>
            </a:r>
            <a:r>
              <a:rPr lang="en-US" dirty="0"/>
              <a:t>Authorization module also logs transactions to a POS </a:t>
            </a:r>
            <a:r>
              <a:rPr lang="en-US" dirty="0" smtClean="0"/>
              <a:t>Transaction Log </a:t>
            </a:r>
            <a:r>
              <a:rPr lang="en-US" dirty="0"/>
              <a:t>File (PTLF),</a:t>
            </a:r>
            <a:endParaRPr lang="en-US" dirty="0"/>
          </a:p>
        </p:txBody>
      </p:sp>
      <p:sp>
        <p:nvSpPr>
          <p:cNvPr id="4" name="Title 1"/>
          <p:cNvSpPr>
            <a:spLocks noGrp="1"/>
          </p:cNvSpPr>
          <p:nvPr>
            <p:ph type="title"/>
          </p:nvPr>
        </p:nvSpPr>
        <p:spPr>
          <a:xfrm>
            <a:off x="25514" y="-28291"/>
            <a:ext cx="8650942" cy="1400530"/>
          </a:xfrm>
        </p:spPr>
        <p:txBody>
          <a:bodyPr/>
          <a:lstStyle/>
          <a:p>
            <a:r>
              <a:rPr lang="en-US" dirty="0"/>
              <a:t>Authorization Module Processing</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6" y="116632"/>
            <a:ext cx="7055380" cy="1400530"/>
          </a:xfrm>
        </p:spPr>
        <p:txBody>
          <a:bodyPr/>
          <a:lstStyle/>
          <a:p>
            <a:r>
              <a:rPr lang="en-US" dirty="0" smtClean="0"/>
              <a:t>Interchange </a:t>
            </a:r>
            <a:r>
              <a:rPr lang="en-US" dirty="0"/>
              <a:t>Interface</a:t>
            </a:r>
            <a:endParaRPr lang="en-US" dirty="0"/>
          </a:p>
        </p:txBody>
      </p:sp>
      <p:sp>
        <p:nvSpPr>
          <p:cNvPr id="3" name="Content Placeholder 2"/>
          <p:cNvSpPr>
            <a:spLocks noGrp="1"/>
          </p:cNvSpPr>
          <p:nvPr>
            <p:ph idx="1"/>
          </p:nvPr>
        </p:nvSpPr>
        <p:spPr>
          <a:xfrm>
            <a:off x="163107" y="1524802"/>
            <a:ext cx="6711654" cy="4195481"/>
          </a:xfrm>
        </p:spPr>
        <p:txBody>
          <a:bodyPr/>
          <a:lstStyle/>
          <a:p>
            <a:r>
              <a:rPr lang="en-US" dirty="0"/>
              <a:t>S</a:t>
            </a:r>
            <a:r>
              <a:rPr lang="en-US" dirty="0" smtClean="0"/>
              <a:t>erves </a:t>
            </a:r>
            <a:r>
              <a:rPr lang="en-US" dirty="0"/>
              <a:t>as a link between two networks</a:t>
            </a:r>
            <a:r>
              <a:rPr lang="en-US" dirty="0" smtClean="0"/>
              <a:t>.</a:t>
            </a:r>
            <a:endParaRPr lang="en-US" dirty="0" smtClean="0"/>
          </a:p>
          <a:p>
            <a:r>
              <a:rPr lang="en-US" dirty="0" smtClean="0"/>
              <a:t>Adheres to Certified standards (e.g. Visa/MDS)</a:t>
            </a:r>
            <a:endParaRPr lang="en-US" dirty="0" smtClean="0"/>
          </a:p>
          <a:p>
            <a:r>
              <a:rPr lang="en-US" dirty="0" smtClean="0"/>
              <a:t>These </a:t>
            </a:r>
            <a:r>
              <a:rPr lang="en-US" dirty="0"/>
              <a:t>standards include sending and accepting </a:t>
            </a:r>
            <a:r>
              <a:rPr lang="en-US" dirty="0" smtClean="0"/>
              <a:t>the appropriate </a:t>
            </a:r>
            <a:r>
              <a:rPr lang="en-US" dirty="0"/>
              <a:t>form of the </a:t>
            </a:r>
            <a:r>
              <a:rPr lang="en-US" dirty="0" smtClean="0"/>
              <a:t>external </a:t>
            </a:r>
            <a:r>
              <a:rPr lang="en-US" dirty="0"/>
              <a:t>message</a:t>
            </a:r>
            <a:endParaRPr lang="en-US" dirty="0" smtClean="0"/>
          </a:p>
          <a:p>
            <a:r>
              <a:rPr lang="en-US" dirty="0"/>
              <a:t>Facilitating settlement between BASE24 and </a:t>
            </a:r>
            <a:r>
              <a:rPr lang="en-US" dirty="0" smtClean="0"/>
              <a:t>Interchanges.</a:t>
            </a:r>
            <a:endParaRPr lang="en-US" dirty="0" smtClean="0"/>
          </a:p>
          <a:p>
            <a:r>
              <a:rPr lang="en-US" dirty="0" smtClean="0"/>
              <a:t>Providing </a:t>
            </a:r>
            <a:r>
              <a:rPr lang="en-US" dirty="0"/>
              <a:t>store and forward (SAF) capabilities</a:t>
            </a:r>
            <a:r>
              <a:rPr lang="en-US" dirty="0" smtClean="0"/>
              <a:t>.</a:t>
            </a:r>
            <a:endParaRPr lang="en-US" dirty="0" smtClean="0"/>
          </a:p>
          <a:p>
            <a:r>
              <a:rPr lang="en-US" dirty="0"/>
              <a:t>Managing communications between BASE24 and </a:t>
            </a:r>
            <a:r>
              <a:rPr lang="en-US" dirty="0" smtClean="0"/>
              <a:t>Interchanges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6" y="116632"/>
            <a:ext cx="7055380" cy="1400530"/>
          </a:xfrm>
        </p:spPr>
        <p:txBody>
          <a:bodyPr/>
          <a:lstStyle/>
          <a:p>
            <a:r>
              <a:rPr lang="en-US" dirty="0"/>
              <a:t>Host Interface</a:t>
            </a:r>
            <a:endParaRPr lang="en-US" dirty="0"/>
          </a:p>
        </p:txBody>
      </p:sp>
      <p:sp>
        <p:nvSpPr>
          <p:cNvPr id="3" name="Content Placeholder 2"/>
          <p:cNvSpPr>
            <a:spLocks noGrp="1"/>
          </p:cNvSpPr>
          <p:nvPr>
            <p:ph idx="1"/>
          </p:nvPr>
        </p:nvSpPr>
        <p:spPr>
          <a:xfrm>
            <a:off x="163107" y="1524802"/>
            <a:ext cx="6711654" cy="4195481"/>
          </a:xfrm>
        </p:spPr>
        <p:txBody>
          <a:bodyPr/>
          <a:lstStyle/>
          <a:p>
            <a:r>
              <a:rPr lang="en-US" dirty="0"/>
              <a:t>Formats messages</a:t>
            </a:r>
            <a:endParaRPr lang="en-US" dirty="0"/>
          </a:p>
          <a:p>
            <a:r>
              <a:rPr lang="en-US" dirty="0"/>
              <a:t>Performs host availability</a:t>
            </a:r>
            <a:endParaRPr lang="en-US" dirty="0"/>
          </a:p>
          <a:p>
            <a:r>
              <a:rPr lang="en-US" dirty="0"/>
              <a:t>Handles timing check on requests to host</a:t>
            </a:r>
            <a:endParaRPr lang="en-US" dirty="0"/>
          </a:p>
          <a:p>
            <a:r>
              <a:rPr lang="en-US" dirty="0"/>
              <a:t>Supports flexible ISO message contents</a:t>
            </a:r>
            <a:endParaRPr lang="en-US" dirty="0"/>
          </a:p>
          <a:p>
            <a:r>
              <a:rPr lang="en-US" dirty="0"/>
              <a:t>Controls store and forward (SAF) processing</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7055380" cy="1400530"/>
          </a:xfrm>
        </p:spPr>
        <p:txBody>
          <a:bodyPr/>
          <a:lstStyle/>
          <a:p>
            <a:r>
              <a:rPr lang="en-US" dirty="0" smtClean="0"/>
              <a:t>Questions …!</a:t>
            </a:r>
            <a:endParaRPr lang="en-US" dirty="0"/>
          </a:p>
        </p:txBody>
      </p:sp>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5436096" y="3933056"/>
            <a:ext cx="3030156" cy="2354627"/>
          </a:xfr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TC104033917[[fn=Berlin]]</Template>
  <TotalTime>0</TotalTime>
  <Words>9484</Words>
  <Application>WPS Presentation</Application>
  <PresentationFormat>On-screen Show (4:3)</PresentationFormat>
  <Paragraphs>181</Paragraphs>
  <Slides>18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SimSun</vt:lpstr>
      <vt:lpstr>Wingdings</vt:lpstr>
      <vt:lpstr>Wingdings 3</vt:lpstr>
      <vt:lpstr>Arial</vt:lpstr>
      <vt:lpstr>Berlin Sans FB</vt:lpstr>
      <vt:lpstr>Century Gothic</vt:lpstr>
      <vt:lpstr>Segoe Print</vt:lpstr>
      <vt:lpstr>Microsoft YaHei</vt:lpstr>
      <vt:lpstr>Symbol</vt:lpstr>
      <vt:lpstr>Calibri</vt:lpstr>
      <vt:lpstr>Ion</vt:lpstr>
      <vt:lpstr>Base24-POS </vt:lpstr>
      <vt:lpstr>POS Processes </vt:lpstr>
      <vt:lpstr>Base 24 POS Configuration(On-Us)</vt:lpstr>
      <vt:lpstr>POS Message Flow</vt:lpstr>
      <vt:lpstr>POS Detailed Processing</vt:lpstr>
      <vt:lpstr>POS Detailed Processing</vt:lpstr>
      <vt:lpstr>Base 24 POS Configuration (Remote – On Us)</vt:lpstr>
      <vt:lpstr>POS Incoming Message Flow</vt:lpstr>
      <vt:lpstr>POS Detailed Processing</vt:lpstr>
      <vt:lpstr>POS Detailed Processing</vt:lpstr>
      <vt:lpstr>POS Detailed Processing</vt:lpstr>
      <vt:lpstr>Hypercom DH</vt:lpstr>
      <vt:lpstr>Router Module Processing</vt:lpstr>
      <vt:lpstr>Router Module Processing</vt:lpstr>
      <vt:lpstr>Authorization Module Processing</vt:lpstr>
      <vt:lpstr>Interchange Interface</vt:lpstr>
      <vt:lpstr>Host Interface</vt:lpstr>
      <vt:lpstr>Questions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Base24-POS</dc:title>
  <dc:creator>CONCERTO_L02</dc:creator>
  <cp:lastModifiedBy>Jeevan Drave</cp:lastModifiedBy>
  <cp:revision>52</cp:revision>
  <dcterms:created xsi:type="dcterms:W3CDTF">2011-07-07T12:38:00Z</dcterms:created>
  <dcterms:modified xsi:type="dcterms:W3CDTF">2016-10-27T09:38:27Z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1033-10.1.0.5785</vt:lpwstr>
  </property>
</Properties>
</file>