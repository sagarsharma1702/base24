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lgn="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3"/>
          <p:cNvPicPr>
            <a:picLocks noChangeAspect="1"/>
          </p:cNvPicPr>
          <p:nvPr/>
        </p:nvPicPr>
        <p:blipFill>
          <a:blip r:embed="rId12"/>
          <a:stretch>
            <a:fillRect/>
          </a:stretch>
        </p:blipFill>
        <p:spPr>
          <a:xfrm>
            <a:off x="-8467" y="0"/>
            <a:ext cx="12200467"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p:sp>
        <p:nvSpPr>
          <p:cNvPr id="2" name="Title 1"/>
          <p:cNvSpPr>
            <a:spLocks noGrp="1"/>
          </p:cNvSpPr>
          <p:nvPr>
            <p:ph type="ctrTitle"/>
          </p:nvPr>
        </p:nvSpPr>
        <p:spPr/>
        <p:txBody>
          <a:bodyPr/>
          <a:p>
            <a:r>
              <a:rPr lang="en-US" sz="4800"/>
              <a:t>ISO</a:t>
            </a:r>
            <a:r>
              <a:rPr lang="en-US"/>
              <a:t> </a:t>
            </a:r>
            <a:endParaRPr lang="en-US"/>
          </a:p>
        </p:txBody>
      </p:sp>
      <p:sp>
        <p:nvSpPr>
          <p:cNvPr id="3" name="Subtitle 2"/>
          <p:cNvSpPr>
            <a:spLocks noGrp="1"/>
          </p:cNvSpPr>
          <p:nvPr>
            <p:ph type="subTitle" idx="1"/>
          </p:nvPr>
        </p:nvSpPr>
        <p:spPr>
          <a:xfrm>
            <a:off x="0" y="3602355"/>
            <a:ext cx="12192000" cy="1655445"/>
          </a:xfrm>
        </p:spPr>
        <p:txBody>
          <a:bodyPr/>
          <a:p>
            <a:r>
              <a:rPr lang="en-US"/>
              <a:t>international standard for financial transaction card originated interchange messaging</a:t>
            </a:r>
            <a:endParaRPr lang="en-US"/>
          </a:p>
        </p:txBody>
      </p:sp>
      <p:sp>
        <p:nvSpPr>
          <p:cNvPr id="1073742867" name="Freeform 1073742866"/>
          <p:cNvSpPr/>
          <p:nvPr/>
        </p:nvSpPr>
        <p:spPr>
          <a:xfrm>
            <a:off x="10568305" y="4326255"/>
            <a:ext cx="23495" cy="36195"/>
          </a:xfrm>
          <a:custGeom>
            <a:avLst/>
            <a:gdLst/>
            <a:ahLst/>
            <a:cxnLst/>
            <a:pathLst>
              <a:path w="24" h="24">
                <a:moveTo>
                  <a:pt x="19" y="0"/>
                </a:moveTo>
                <a:lnTo>
                  <a:pt x="4" y="0"/>
                </a:lnTo>
                <a:lnTo>
                  <a:pt x="0" y="5"/>
                </a:lnTo>
                <a:lnTo>
                  <a:pt x="0" y="19"/>
                </a:lnTo>
                <a:lnTo>
                  <a:pt x="4" y="24"/>
                </a:lnTo>
                <a:lnTo>
                  <a:pt x="19" y="24"/>
                </a:lnTo>
                <a:lnTo>
                  <a:pt x="19" y="19"/>
                </a:lnTo>
                <a:lnTo>
                  <a:pt x="24" y="19"/>
                </a:lnTo>
                <a:lnTo>
                  <a:pt x="24" y="5"/>
                </a:lnTo>
                <a:lnTo>
                  <a:pt x="19" y="5"/>
                </a:lnTo>
                <a:lnTo>
                  <a:pt x="19" y="0"/>
                </a:lnTo>
                <a:close/>
              </a:path>
            </a:pathLst>
          </a:custGeom>
          <a:solidFill>
            <a:srgbClr val="000000"/>
          </a:solidFill>
          <a:ln w="9525">
            <a:noFill/>
          </a:ln>
        </p:spPr>
        <p:txBody>
          <a:bodyPr/>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p:sp>
        <p:nvSpPr>
          <p:cNvPr id="2" name="Title 1"/>
          <p:cNvSpPr>
            <a:spLocks noGrp="1"/>
          </p:cNvSpPr>
          <p:nvPr>
            <p:ph type="title"/>
          </p:nvPr>
        </p:nvSpPr>
        <p:spPr/>
        <p:txBody>
          <a:bodyPr/>
          <a:p>
            <a:r>
              <a:rPr lang="en-US"/>
              <a:t>What is ISO ?</a:t>
            </a:r>
            <a:endParaRPr lang="en-US"/>
          </a:p>
        </p:txBody>
      </p:sp>
      <p:sp>
        <p:nvSpPr>
          <p:cNvPr id="3" name="Content Placeholder 2"/>
          <p:cNvSpPr>
            <a:spLocks noGrp="1"/>
          </p:cNvSpPr>
          <p:nvPr>
            <p:ph idx="1"/>
          </p:nvPr>
        </p:nvSpPr>
        <p:spPr>
          <a:xfrm>
            <a:off x="838200" y="1477645"/>
            <a:ext cx="10515600" cy="5083810"/>
          </a:xfrm>
        </p:spPr>
        <p:txBody>
          <a:bodyPr>
            <a:normAutofit fontScale="50000"/>
          </a:bodyPr>
          <a:p>
            <a:r>
              <a:rPr lang="en-US" sz="3335"/>
              <a:t>ISO is an international standard for financial transaction card originated interchange messaging. It is the International Organization for Standardization standard for systems that exchange electronic transactions initiated by cardholders using payment cards.</a:t>
            </a:r>
            <a:endParaRPr lang="en-US"/>
          </a:p>
          <a:p>
            <a:r>
              <a:rPr lang="en-US" sz="4000"/>
              <a:t>ISO 8583 defines a message format and a communication flow so that different systems can exchange these transaction requests and responses. The vast majority of transactions made when a customer uses a card to make a payment in a store (EFTPOS) use ISO 8583 at some point in the communication chain, as do transactions made at ATMs. In particular, the Mastercard, Visa and Verve networks base their authorization communications on the ISO 8583 standard, as do many other institutions and networks.</a:t>
            </a:r>
            <a:endParaRPr lang="en-US" sz="4000"/>
          </a:p>
          <a:p>
            <a:r>
              <a:rPr lang="en-US" sz="4000"/>
              <a:t>Although ISO 8583 defines a common standard, it is not typically used directly by systems or networks. It defines many standard fields (data elements) which remain the same in all systems or networks, and leaves a few additional fields for passing network-specific details. These fields are used by each network to adapt the standard for its own use with custom fields and custom usages like Proximity Cards.</a:t>
            </a:r>
            <a:endParaRPr lang="en-US" sz="4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p:sp>
        <p:nvSpPr>
          <p:cNvPr id="2" name="Title 1"/>
          <p:cNvSpPr>
            <a:spLocks noGrp="1"/>
          </p:cNvSpPr>
          <p:nvPr>
            <p:ph type="title"/>
          </p:nvPr>
        </p:nvSpPr>
        <p:spPr/>
        <p:txBody>
          <a:bodyPr/>
          <a:p>
            <a:r>
              <a:rPr lang="en-US"/>
              <a:t>Introduction</a:t>
            </a:r>
            <a:endParaRPr lang="en-US"/>
          </a:p>
        </p:txBody>
      </p:sp>
      <p:sp>
        <p:nvSpPr>
          <p:cNvPr id="3" name="Content Placeholder 2"/>
          <p:cNvSpPr>
            <a:spLocks noGrp="1"/>
          </p:cNvSpPr>
          <p:nvPr>
            <p:ph idx="1"/>
          </p:nvPr>
        </p:nvSpPr>
        <p:spPr/>
        <p:txBody>
          <a:bodyPr/>
          <a:p>
            <a:pPr marL="0" indent="0">
              <a:buNone/>
            </a:pPr>
            <a:r>
              <a:rPr lang="en-US" sz="3200" b="1"/>
              <a:t>The ISO 8583 specification has three parts</a:t>
            </a:r>
            <a:endParaRPr lang="en-US" sz="3200" b="1"/>
          </a:p>
          <a:p>
            <a:pPr marL="0" indent="0">
              <a:buNone/>
            </a:pPr>
            <a:endParaRPr lang="en-US"/>
          </a:p>
          <a:p>
            <a:r>
              <a:rPr lang="en-US"/>
              <a:t>Part 1: Messages, data elements, and code values</a:t>
            </a:r>
            <a:endParaRPr lang="en-US"/>
          </a:p>
          <a:p>
            <a:r>
              <a:rPr lang="en-US"/>
              <a:t>Part 2: Application and registration procedures for Institution Identification Codes (IIC)</a:t>
            </a:r>
            <a:endParaRPr lang="en-US"/>
          </a:p>
          <a:p>
            <a:r>
              <a:rPr lang="en-US"/>
              <a:t>Part 3: Maintenance procedures for the aforementioned messages, data elements and code values</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p:sp>
        <p:nvSpPr>
          <p:cNvPr id="2" name="Title 1"/>
          <p:cNvSpPr>
            <a:spLocks noGrp="1"/>
          </p:cNvSpPr>
          <p:nvPr>
            <p:ph type="title"/>
          </p:nvPr>
        </p:nvSpPr>
        <p:spPr/>
        <p:txBody>
          <a:bodyPr>
            <a:normAutofit/>
          </a:bodyPr>
          <a:p>
            <a:r>
              <a:rPr lang="en-US"/>
              <a:t>ISO message is made of the following parts</a:t>
            </a:r>
            <a:endParaRPr lang="en-US"/>
          </a:p>
        </p:txBody>
      </p:sp>
      <p:sp>
        <p:nvSpPr>
          <p:cNvPr id="3" name="Content Placeholder 2"/>
          <p:cNvSpPr>
            <a:spLocks noGrp="1"/>
          </p:cNvSpPr>
          <p:nvPr>
            <p:ph idx="1"/>
          </p:nvPr>
        </p:nvSpPr>
        <p:spPr/>
        <p:txBody>
          <a:bodyPr/>
          <a:p>
            <a:endParaRPr lang="en-US"/>
          </a:p>
          <a:p>
            <a:r>
              <a:rPr lang="en-US"/>
              <a:t>Message type indicator (MTI).</a:t>
            </a:r>
            <a:endParaRPr lang="en-US"/>
          </a:p>
          <a:p>
            <a:pPr marL="0" indent="0">
              <a:buNone/>
            </a:pPr>
            <a:endParaRPr lang="en-US"/>
          </a:p>
          <a:p>
            <a:r>
              <a:rPr lang="en-US"/>
              <a:t> primary bitmap and secondary bitmap.</a:t>
            </a:r>
            <a:endParaRPr lang="en-US"/>
          </a:p>
          <a:p>
            <a:pPr marL="0" indent="0">
              <a:buNone/>
            </a:pPr>
            <a:endParaRPr lang="en-US"/>
          </a:p>
          <a:p>
            <a:r>
              <a:rPr lang="en-US"/>
              <a:t>Data elements, the actual information fields of the message.</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p:sp>
        <p:nvSpPr>
          <p:cNvPr id="2" name="Title 1"/>
          <p:cNvSpPr>
            <a:spLocks noGrp="1"/>
          </p:cNvSpPr>
          <p:nvPr>
            <p:ph type="title"/>
          </p:nvPr>
        </p:nvSpPr>
        <p:spPr/>
        <p:txBody>
          <a:bodyPr/>
          <a:p>
            <a:r>
              <a:rPr lang="en-US" b="1"/>
              <a:t>MTI (Message type indicator)</a:t>
            </a:r>
            <a:endParaRPr lang="en-US" b="1"/>
          </a:p>
        </p:txBody>
      </p:sp>
      <p:sp>
        <p:nvSpPr>
          <p:cNvPr id="3" name="Content Placeholder 2"/>
          <p:cNvSpPr>
            <a:spLocks noGrp="1"/>
          </p:cNvSpPr>
          <p:nvPr>
            <p:ph idx="1"/>
          </p:nvPr>
        </p:nvSpPr>
        <p:spPr/>
        <p:txBody>
          <a:bodyPr>
            <a:normAutofit fontScale="90000" lnSpcReduction="10000"/>
          </a:bodyPr>
          <a:p>
            <a:pPr marL="0" indent="0">
              <a:buNone/>
            </a:pPr>
            <a:r>
              <a:rPr lang="en-US" b="1"/>
              <a:t>The message type indicator is a four-digit numeric field which indicates the overall function of the message.</a:t>
            </a:r>
            <a:endParaRPr lang="en-US" b="1"/>
          </a:p>
          <a:p>
            <a:pPr marL="0" indent="0">
              <a:buNone/>
            </a:pPr>
            <a:endParaRPr lang="en-US"/>
          </a:p>
          <a:p>
            <a:r>
              <a:rPr lang="en-US"/>
              <a:t>The first digit of the MTI indicates the ISO version in which the message is encoded.</a:t>
            </a:r>
            <a:endParaRPr lang="en-US"/>
          </a:p>
          <a:p>
            <a:r>
              <a:rPr lang="en-US"/>
              <a:t>Position two of the MTI specifies the overall purpose of the message.</a:t>
            </a:r>
            <a:endParaRPr lang="en-US"/>
          </a:p>
          <a:p>
            <a:r>
              <a:rPr lang="en-US"/>
              <a:t>Position three of the MTI specifies the messages function which defines how the message should flow within the system.</a:t>
            </a:r>
            <a:endParaRPr lang="en-US"/>
          </a:p>
          <a:p>
            <a:r>
              <a:rPr lang="en-US"/>
              <a:t>Position four of the MTI defines the location of the message source within the payment chain.</a:t>
            </a:r>
            <a:endParaRPr lang="en-US"/>
          </a:p>
          <a:p>
            <a:pPr marL="0" indent="0">
              <a:buNone/>
            </a:pP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p:sp>
        <p:nvSpPr>
          <p:cNvPr id="2" name="Title 1"/>
          <p:cNvSpPr>
            <a:spLocks noGrp="1"/>
          </p:cNvSpPr>
          <p:nvPr>
            <p:ph type="title"/>
          </p:nvPr>
        </p:nvSpPr>
        <p:spPr/>
        <p:txBody>
          <a:bodyPr>
            <a:normAutofit fontScale="90000"/>
          </a:bodyPr>
          <a:p>
            <a:br>
              <a:rPr lang="en-US" b="1">
                <a:sym typeface="+mn-ea"/>
              </a:rPr>
            </a:br>
            <a:r>
              <a:rPr lang="en-US" b="1">
                <a:sym typeface="+mn-ea"/>
              </a:rPr>
              <a:t>The first digit of the MTI indicates the ISO version in which the message is encoded.</a:t>
            </a:r>
            <a:endParaRPr lang="en-US" b="1"/>
          </a:p>
        </p:txBody>
      </p:sp>
      <p:sp>
        <p:nvSpPr>
          <p:cNvPr id="3" name="Content Placeholder 2"/>
          <p:cNvSpPr>
            <a:spLocks noGrp="1"/>
          </p:cNvSpPr>
          <p:nvPr>
            <p:ph idx="1"/>
          </p:nvPr>
        </p:nvSpPr>
        <p:spPr/>
        <p:txBody>
          <a:bodyPr>
            <a:normAutofit/>
          </a:bodyPr>
          <a:p>
            <a:endParaRPr lang="en-US"/>
          </a:p>
          <a:p>
            <a:endParaRPr lang="en-US"/>
          </a:p>
        </p:txBody>
      </p:sp>
      <p:pic>
        <p:nvPicPr>
          <p:cNvPr id="4" name="Picture 3"/>
          <p:cNvPicPr>
            <a:picLocks noChangeAspect="1"/>
          </p:cNvPicPr>
          <p:nvPr/>
        </p:nvPicPr>
        <p:blipFill>
          <a:blip r:embed="rId1"/>
          <a:stretch>
            <a:fillRect/>
          </a:stretch>
        </p:blipFill>
        <p:spPr>
          <a:xfrm>
            <a:off x="4109085" y="1691005"/>
            <a:ext cx="3776345" cy="48145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p:sp>
        <p:nvSpPr>
          <p:cNvPr id="2" name="Title 1"/>
          <p:cNvSpPr>
            <a:spLocks noGrp="1"/>
          </p:cNvSpPr>
          <p:nvPr>
            <p:ph type="title"/>
          </p:nvPr>
        </p:nvSpPr>
        <p:spPr>
          <a:xfrm>
            <a:off x="609600" y="190500"/>
            <a:ext cx="10972800" cy="582613"/>
          </a:xfrm>
        </p:spPr>
        <p:txBody>
          <a:bodyPr>
            <a:normAutofit fontScale="90000"/>
          </a:bodyPr>
          <a:p>
            <a:br>
              <a:rPr lang="en-US" b="1"/>
            </a:br>
            <a:r>
              <a:rPr lang="en-US" b="1"/>
              <a:t>Position two of the MTI specifies the overall purpose of the message.</a:t>
            </a:r>
            <a:endParaRPr lang="en-US" b="1"/>
          </a:p>
        </p:txBody>
      </p:sp>
      <p:pic>
        <p:nvPicPr>
          <p:cNvPr id="4" name="Content Placeholder 3"/>
          <p:cNvPicPr>
            <a:picLocks noChangeAspect="1"/>
          </p:cNvPicPr>
          <p:nvPr>
            <p:ph idx="1"/>
          </p:nvPr>
        </p:nvPicPr>
        <p:blipFill>
          <a:blip r:embed="rId1"/>
          <a:stretch>
            <a:fillRect/>
          </a:stretch>
        </p:blipFill>
        <p:spPr>
          <a:xfrm>
            <a:off x="362585" y="1690370"/>
            <a:ext cx="11535410" cy="48012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p:sp>
        <p:nvSpPr>
          <p:cNvPr id="2" name="Title 1"/>
          <p:cNvSpPr>
            <a:spLocks noGrp="1"/>
          </p:cNvSpPr>
          <p:nvPr>
            <p:ph type="title"/>
          </p:nvPr>
        </p:nvSpPr>
        <p:spPr>
          <a:xfrm>
            <a:off x="838200" y="365125"/>
            <a:ext cx="10515600" cy="1325563"/>
          </a:xfrm>
        </p:spPr>
        <p:txBody>
          <a:bodyPr>
            <a:normAutofit fontScale="90000"/>
          </a:bodyPr>
          <a:p>
            <a:r>
              <a:rPr lang="en-US" sz="3555" b="1"/>
              <a:t>Position three of the MTI specifies the messages function which defines how the message should flow within the system.</a:t>
            </a:r>
            <a:endParaRPr lang="en-US" sz="3555" b="1"/>
          </a:p>
        </p:txBody>
      </p:sp>
      <p:pic>
        <p:nvPicPr>
          <p:cNvPr id="4" name="Content Placeholder 3"/>
          <p:cNvPicPr>
            <a:picLocks noChangeAspect="1"/>
          </p:cNvPicPr>
          <p:nvPr>
            <p:ph idx="1"/>
          </p:nvPr>
        </p:nvPicPr>
        <p:blipFill>
          <a:blip r:embed="rId1"/>
          <a:stretch>
            <a:fillRect/>
          </a:stretch>
        </p:blipFill>
        <p:spPr>
          <a:xfrm>
            <a:off x="177165" y="2030095"/>
            <a:ext cx="11824970" cy="46304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9000">
              <a:schemeClr val="accent1">
                <a:lumMod val="45000"/>
                <a:lumOff val="55000"/>
              </a:schemeClr>
            </a:gs>
            <a:gs pos="88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p:sp>
        <p:nvSpPr>
          <p:cNvPr id="2" name="Title 1"/>
          <p:cNvSpPr>
            <a:spLocks noGrp="1"/>
          </p:cNvSpPr>
          <p:nvPr>
            <p:ph type="title"/>
          </p:nvPr>
        </p:nvSpPr>
        <p:spPr/>
        <p:txBody>
          <a:bodyPr>
            <a:normAutofit fontScale="90000"/>
          </a:bodyPr>
          <a:p>
            <a:br>
              <a:rPr lang="en-US" b="1"/>
            </a:br>
            <a:br>
              <a:rPr lang="en-US" b="1"/>
            </a:br>
            <a:r>
              <a:rPr lang="en-US" b="1"/>
              <a:t>Position four of the MTI defines the location of the message source within the payment chain.</a:t>
            </a:r>
            <a:endParaRPr lang="en-US" b="1"/>
          </a:p>
        </p:txBody>
      </p:sp>
      <p:pic>
        <p:nvPicPr>
          <p:cNvPr id="4" name="Content Placeholder 3"/>
          <p:cNvPicPr>
            <a:picLocks noChangeAspect="1"/>
          </p:cNvPicPr>
          <p:nvPr>
            <p:ph idx="1"/>
          </p:nvPr>
        </p:nvPicPr>
        <p:blipFill>
          <a:blip r:embed="rId1"/>
          <a:stretch>
            <a:fillRect/>
          </a:stretch>
        </p:blipFill>
        <p:spPr>
          <a:xfrm>
            <a:off x="4029710" y="1920875"/>
            <a:ext cx="3191510" cy="45535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9000">
              <a:schemeClr val="accent1">
                <a:lumMod val="45000"/>
                <a:lumOff val="55000"/>
              </a:schemeClr>
            </a:gs>
            <a:gs pos="88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p:sp>
        <p:nvSpPr>
          <p:cNvPr id="2" name="Title 1"/>
          <p:cNvSpPr>
            <a:spLocks noGrp="1"/>
          </p:cNvSpPr>
          <p:nvPr>
            <p:ph type="title"/>
          </p:nvPr>
        </p:nvSpPr>
        <p:spPr/>
        <p:txBody>
          <a:bodyPr/>
          <a:p>
            <a:br>
              <a:rPr lang="en-US" b="1">
                <a:sym typeface="+mn-ea"/>
              </a:rPr>
            </a:br>
            <a:r>
              <a:rPr lang="en-US" b="1">
                <a:sym typeface="+mn-ea"/>
              </a:rPr>
              <a:t>Examples </a:t>
            </a:r>
            <a:endParaRPr lang="en-US" b="1"/>
          </a:p>
        </p:txBody>
      </p:sp>
      <p:sp>
        <p:nvSpPr>
          <p:cNvPr id="3" name="Content Placeholder 2"/>
          <p:cNvSpPr>
            <a:spLocks noGrp="1"/>
          </p:cNvSpPr>
          <p:nvPr>
            <p:ph idx="1"/>
          </p:nvPr>
        </p:nvSpPr>
        <p:spPr/>
        <p:txBody>
          <a:bodyPr/>
          <a:p>
            <a:pPr marL="0" indent="0">
              <a:buNone/>
            </a:pPr>
            <a:endParaRPr lang="en-US" b="1"/>
          </a:p>
          <a:p>
            <a:pPr marL="0" indent="0">
              <a:buNone/>
            </a:pPr>
            <a:r>
              <a:rPr lang="en-US" b="1"/>
              <a:t>Given an MTI value of 0110, the following example lists what each position indicates:</a:t>
            </a:r>
            <a:endParaRPr lang="en-US"/>
          </a:p>
          <a:p>
            <a:r>
              <a:rPr lang="en-US"/>
              <a:t>0xxx → version of ISO 8583 (0 = 1987 version)</a:t>
            </a:r>
            <a:endParaRPr lang="en-US"/>
          </a:p>
          <a:p>
            <a:r>
              <a:rPr lang="en-US"/>
              <a:t>x1xx → class of the message (1 = authorization message)</a:t>
            </a:r>
            <a:endParaRPr lang="en-US"/>
          </a:p>
          <a:p>
            <a:r>
              <a:rPr lang="en-US"/>
              <a:t>xx1x → function of the message (1 = response)</a:t>
            </a:r>
            <a:endParaRPr lang="en-US"/>
          </a:p>
          <a:p>
            <a:r>
              <a:rPr lang="en-US"/>
              <a:t>xxx0 → who began the communication (0 = acquirer)</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9000">
              <a:schemeClr val="accent1">
                <a:lumMod val="45000"/>
                <a:lumOff val="55000"/>
              </a:schemeClr>
            </a:gs>
            <a:gs pos="88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p:sp>
        <p:nvSpPr>
          <p:cNvPr id="2" name="Title 1"/>
          <p:cNvSpPr>
            <a:spLocks noGrp="1"/>
          </p:cNvSpPr>
          <p:nvPr>
            <p:ph type="title"/>
          </p:nvPr>
        </p:nvSpPr>
        <p:spPr>
          <a:xfrm>
            <a:off x="838200" y="365125"/>
            <a:ext cx="10515600" cy="635000"/>
          </a:xfrm>
        </p:spPr>
        <p:txBody>
          <a:bodyPr>
            <a:normAutofit fontScale="90000"/>
          </a:bodyPr>
          <a:p>
            <a:endParaRPr lang="en-US"/>
          </a:p>
        </p:txBody>
      </p:sp>
      <p:pic>
        <p:nvPicPr>
          <p:cNvPr id="4" name="Content Placeholder 3"/>
          <p:cNvPicPr>
            <a:picLocks noChangeAspect="1"/>
          </p:cNvPicPr>
          <p:nvPr>
            <p:ph idx="1"/>
          </p:nvPr>
        </p:nvPicPr>
        <p:blipFill>
          <a:blip r:embed="rId1"/>
          <a:stretch>
            <a:fillRect/>
          </a:stretch>
        </p:blipFill>
        <p:spPr>
          <a:xfrm>
            <a:off x="838835" y="364490"/>
            <a:ext cx="10514965" cy="63341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9000">
              <a:schemeClr val="accent1">
                <a:lumMod val="45000"/>
                <a:lumOff val="55000"/>
              </a:schemeClr>
            </a:gs>
            <a:gs pos="88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p:sp>
        <p:nvSpPr>
          <p:cNvPr id="2" name="Title 1"/>
          <p:cNvSpPr>
            <a:spLocks noGrp="1"/>
          </p:cNvSpPr>
          <p:nvPr>
            <p:ph type="title"/>
          </p:nvPr>
        </p:nvSpPr>
        <p:spPr>
          <a:xfrm>
            <a:off x="838200" y="365125"/>
            <a:ext cx="10515600" cy="773430"/>
          </a:xfrm>
        </p:spPr>
        <p:txBody>
          <a:bodyPr/>
          <a:p>
            <a:r>
              <a:rPr lang="en-US" b="1"/>
              <a:t>Bitmaps </a:t>
            </a:r>
            <a:endParaRPr lang="en-US" b="1"/>
          </a:p>
        </p:txBody>
      </p:sp>
      <p:sp>
        <p:nvSpPr>
          <p:cNvPr id="3" name="Content Placeholder 2"/>
          <p:cNvSpPr>
            <a:spLocks noGrp="1"/>
          </p:cNvSpPr>
          <p:nvPr>
            <p:ph idx="1"/>
          </p:nvPr>
        </p:nvSpPr>
        <p:spPr>
          <a:xfrm>
            <a:off x="838200" y="1444625"/>
            <a:ext cx="10515600" cy="5131435"/>
          </a:xfrm>
        </p:spPr>
        <p:txBody>
          <a:bodyPr>
            <a:normAutofit fontScale="70000"/>
          </a:bodyPr>
          <a:p>
            <a:r>
              <a:rPr lang="en-US" sz="3000"/>
              <a:t>In ISO 8583, a bitmap is a field or subfield within a message, which indicates whether other data elements or data element subfields are present elsewhere in the message.</a:t>
            </a:r>
            <a:endParaRPr lang="en-US" sz="3000"/>
          </a:p>
          <a:p>
            <a:r>
              <a:rPr lang="en-US" sz="3000"/>
              <a:t>A field is considered to be present only when the corresponding bit in the bitmap is set. For example, a hex with value 0x82 (decimal 130) is binary 1000 0010, which means fields 1 and 7 are present in the message and fields 2, 3, 4, 5, 6 and 8 are not.</a:t>
            </a:r>
            <a:endParaRPr lang="en-US" sz="3000"/>
          </a:p>
          <a:p>
            <a:r>
              <a:rPr lang="en-US" sz="3000"/>
              <a:t>The bitmap may be represented as 8 bytes of binary data or as 16 hexadecimal characters (0–9, A–F) in the ASCII or EBCDIC character sets. A message will contain at least one bitmap, called the primary bitmap, which indicates data whether elements 1 to 64 are present. The presence of an optional secondary bitmap is also indicated by the first bit in the primary bitmap. If present, the secondary bitmap indicates whether data elements 65 to 128 are present. Similarly, a tertiary bitmap can be used to indicate the </a:t>
            </a:r>
            <a:r>
              <a:rPr lang="en-US"/>
              <a:t>presence of fields 129 to 192, although these data elements are rarely used.</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9000">
              <a:schemeClr val="accent1">
                <a:lumMod val="45000"/>
                <a:lumOff val="55000"/>
              </a:schemeClr>
            </a:gs>
            <a:gs pos="88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p:sp>
        <p:nvSpPr>
          <p:cNvPr id="2" name="Title 1"/>
          <p:cNvSpPr>
            <a:spLocks noGrp="1"/>
          </p:cNvSpPr>
          <p:nvPr>
            <p:ph type="title"/>
          </p:nvPr>
        </p:nvSpPr>
        <p:spPr>
          <a:xfrm>
            <a:off x="838200" y="365125"/>
            <a:ext cx="10515600" cy="896620"/>
          </a:xfrm>
        </p:spPr>
        <p:txBody>
          <a:bodyPr/>
          <a:p>
            <a:r>
              <a:rPr lang="en-US" b="1"/>
              <a:t>Examples</a:t>
            </a:r>
            <a:endParaRPr lang="en-US" b="1"/>
          </a:p>
        </p:txBody>
      </p:sp>
      <p:sp>
        <p:nvSpPr>
          <p:cNvPr id="3" name="Content Placeholder 2"/>
          <p:cNvSpPr>
            <a:spLocks noGrp="1"/>
          </p:cNvSpPr>
          <p:nvPr>
            <p:ph idx="1"/>
          </p:nvPr>
        </p:nvSpPr>
        <p:spPr>
          <a:xfrm>
            <a:off x="838200" y="1380490"/>
            <a:ext cx="10515600" cy="4796790"/>
          </a:xfrm>
        </p:spPr>
        <p:txBody>
          <a:bodyPr>
            <a:normAutofit/>
          </a:bodyPr>
          <a:p>
            <a:r>
              <a:rPr lang="en-US" sz="2400"/>
              <a:t>Given a bitmap value of 70 10 00 11 02 C0 48 04,</a:t>
            </a:r>
            <a:endParaRPr lang="en-US" sz="2400"/>
          </a:p>
          <a:p>
            <a:r>
              <a:rPr lang="en-US" sz="1600"/>
              <a:t>0x70 = 0111 0000 (counting from the left, the second, third and fourth bits are 1, indicating that fields 2, 3 and 4 are present)</a:t>
            </a:r>
            <a:endParaRPr lang="en-US" sz="1600"/>
          </a:p>
          <a:p>
            <a:r>
              <a:rPr lang="en-US" sz="1600"/>
              <a:t>0x10 = 0001 0000 (the first bit corresponds to field 9, so the fourth bit here indicates field 12 is present)</a:t>
            </a:r>
            <a:endParaRPr lang="en-US" sz="1600"/>
          </a:p>
          <a:p>
            <a:r>
              <a:rPr lang="en-US" sz="1600"/>
              <a:t>0x00 = 0000 0000 (no fields present)</a:t>
            </a:r>
            <a:endParaRPr lang="en-US" sz="1600"/>
          </a:p>
          <a:p>
            <a:r>
              <a:rPr lang="en-US" sz="1600"/>
              <a:t>0x11 = 0001 0001 (fields 28 and 32 are present)</a:t>
            </a:r>
            <a:endParaRPr lang="en-US" sz="1600"/>
          </a:p>
          <a:p>
            <a:r>
              <a:rPr lang="en-US" sz="1600"/>
              <a:t>0x02 = 0000 0010 (field 39 is present)</a:t>
            </a:r>
            <a:endParaRPr lang="en-US" sz="1600"/>
          </a:p>
          <a:p>
            <a:r>
              <a:rPr lang="en-US" sz="1600"/>
              <a:t>0xC0 = 1100 0000 (fields 41 and 42 are present)</a:t>
            </a:r>
            <a:endParaRPr lang="en-US" sz="1600"/>
          </a:p>
          <a:p>
            <a:r>
              <a:rPr lang="en-US" sz="1600"/>
              <a:t>0x48 = 0100 1000 (fields 50 and 53 are present)</a:t>
            </a:r>
            <a:endParaRPr lang="en-US" sz="1600"/>
          </a:p>
          <a:p>
            <a:r>
              <a:rPr lang="en-US" sz="1600"/>
              <a:t>0x04 = 0000 0100 (field 62 is present)</a:t>
            </a:r>
            <a:endParaRPr lang="en-US" sz="1600"/>
          </a:p>
        </p:txBody>
      </p:sp>
      <p:pic>
        <p:nvPicPr>
          <p:cNvPr id="4" name="Picture 3"/>
          <p:cNvPicPr>
            <a:picLocks noChangeAspect="1"/>
          </p:cNvPicPr>
          <p:nvPr/>
        </p:nvPicPr>
        <p:blipFill>
          <a:blip r:embed="rId1"/>
          <a:stretch>
            <a:fillRect/>
          </a:stretch>
        </p:blipFill>
        <p:spPr>
          <a:xfrm>
            <a:off x="261620" y="4439285"/>
            <a:ext cx="11675110" cy="203009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9000">
              <a:schemeClr val="accent1">
                <a:lumMod val="45000"/>
                <a:lumOff val="55000"/>
              </a:schemeClr>
            </a:gs>
            <a:gs pos="88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p:sp>
        <p:nvSpPr>
          <p:cNvPr id="2" name="Title 1"/>
          <p:cNvSpPr>
            <a:spLocks noGrp="1"/>
          </p:cNvSpPr>
          <p:nvPr>
            <p:ph type="title"/>
          </p:nvPr>
        </p:nvSpPr>
        <p:spPr>
          <a:xfrm>
            <a:off x="838200" y="365125"/>
            <a:ext cx="10515600" cy="727075"/>
          </a:xfrm>
        </p:spPr>
        <p:txBody>
          <a:bodyPr>
            <a:normAutofit fontScale="90000"/>
          </a:bodyPr>
          <a:p>
            <a:r>
              <a:rPr lang="en-US" b="1"/>
              <a:t>Data elements</a:t>
            </a:r>
            <a:endParaRPr lang="en-US" b="1"/>
          </a:p>
        </p:txBody>
      </p:sp>
      <p:sp>
        <p:nvSpPr>
          <p:cNvPr id="3" name="Content Placeholder 2"/>
          <p:cNvSpPr>
            <a:spLocks noGrp="1"/>
          </p:cNvSpPr>
          <p:nvPr>
            <p:ph idx="1"/>
          </p:nvPr>
        </p:nvSpPr>
        <p:spPr>
          <a:xfrm>
            <a:off x="838200" y="1515745"/>
            <a:ext cx="10515600" cy="4661535"/>
          </a:xfrm>
        </p:spPr>
        <p:txBody>
          <a:bodyPr/>
          <a:p>
            <a:pPr marL="0" indent="0">
              <a:buNone/>
            </a:pPr>
            <a:r>
              <a:rPr lang="en-US"/>
              <a:t>Data elements are the individual fields carrying the transaction information. There are up to 128 data elements specified in the original ISO 8583:1987 standard.</a:t>
            </a:r>
            <a:endParaRPr lang="en-US"/>
          </a:p>
          <a:p>
            <a:pPr marL="0" indent="0">
              <a:buNone/>
            </a:pPr>
            <a:r>
              <a:rPr lang="en-US"/>
              <a:t>While each data element has a specified meaning and format, the standard also includes some general purpose data elements and system- or country-specific data elements which vary enormously in use and form from implementation to implementation.</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9000">
              <a:schemeClr val="accent1">
                <a:lumMod val="45000"/>
                <a:lumOff val="55000"/>
              </a:schemeClr>
            </a:gs>
            <a:gs pos="88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p:sp>
        <p:nvSpPr>
          <p:cNvPr id="2" name="Title 1"/>
          <p:cNvSpPr>
            <a:spLocks noGrp="1"/>
          </p:cNvSpPr>
          <p:nvPr>
            <p:ph type="title"/>
          </p:nvPr>
        </p:nvSpPr>
        <p:spPr>
          <a:xfrm>
            <a:off x="711835" y="613410"/>
            <a:ext cx="10972800" cy="582613"/>
          </a:xfrm>
        </p:spPr>
        <p:txBody>
          <a:bodyPr>
            <a:normAutofit/>
          </a:bodyPr>
          <a:p>
            <a:r>
              <a:rPr lang="en-US" sz="2665" b="1"/>
              <a:t>Each data element is described in a standard format which defines the permitted content of the field (numeric, binary, etc.) and the field length (variable or fixed),</a:t>
            </a:r>
            <a:endParaRPr lang="en-US" sz="2665" b="1"/>
          </a:p>
        </p:txBody>
      </p:sp>
      <p:pic>
        <p:nvPicPr>
          <p:cNvPr id="4" name="Content Placeholder 3"/>
          <p:cNvPicPr>
            <a:picLocks noChangeAspect="1"/>
          </p:cNvPicPr>
          <p:nvPr>
            <p:ph idx="1"/>
          </p:nvPr>
        </p:nvPicPr>
        <p:blipFill>
          <a:blip r:embed="rId1"/>
          <a:stretch>
            <a:fillRect/>
          </a:stretch>
        </p:blipFill>
        <p:spPr>
          <a:xfrm>
            <a:off x="837565" y="1825625"/>
            <a:ext cx="10362565" cy="46894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9000">
              <a:schemeClr val="accent1">
                <a:lumMod val="45000"/>
                <a:lumOff val="55000"/>
              </a:schemeClr>
            </a:gs>
            <a:gs pos="88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p:sp>
        <p:nvSpPr>
          <p:cNvPr id="2" name="Title 1"/>
          <p:cNvSpPr>
            <a:spLocks noGrp="1"/>
          </p:cNvSpPr>
          <p:nvPr>
            <p:ph type="title"/>
          </p:nvPr>
        </p:nvSpPr>
        <p:spPr>
          <a:xfrm>
            <a:off x="838200" y="594360"/>
            <a:ext cx="10515600" cy="1096645"/>
          </a:xfrm>
        </p:spPr>
        <p:txBody>
          <a:bodyPr>
            <a:normAutofit/>
          </a:bodyPr>
          <a:p>
            <a:r>
              <a:rPr lang="en-US" sz="2400" b="1"/>
              <a:t>Additionally, each field may be either fixed or variable length. If variable, the length of the field will be preceded by a length indicator.</a:t>
            </a:r>
            <a:endParaRPr lang="en-US" sz="2400" b="1"/>
          </a:p>
        </p:txBody>
      </p:sp>
      <p:pic>
        <p:nvPicPr>
          <p:cNvPr id="4" name="Content Placeholder 3"/>
          <p:cNvPicPr>
            <a:picLocks noChangeAspect="1"/>
          </p:cNvPicPr>
          <p:nvPr>
            <p:ph idx="1"/>
          </p:nvPr>
        </p:nvPicPr>
        <p:blipFill>
          <a:blip r:embed="rId1"/>
          <a:stretch>
            <a:fillRect/>
          </a:stretch>
        </p:blipFill>
        <p:spPr>
          <a:xfrm>
            <a:off x="269875" y="1690370"/>
            <a:ext cx="11781790" cy="451548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9000">
              <a:schemeClr val="accent1">
                <a:lumMod val="45000"/>
                <a:lumOff val="55000"/>
              </a:schemeClr>
            </a:gs>
            <a:gs pos="88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p:sp>
        <p:nvSpPr>
          <p:cNvPr id="2" name="Title 1"/>
          <p:cNvSpPr>
            <a:spLocks noGrp="1"/>
          </p:cNvSpPr>
          <p:nvPr>
            <p:ph type="title"/>
          </p:nvPr>
        </p:nvSpPr>
        <p:spPr/>
        <p:txBody>
          <a:bodyPr/>
          <a:p>
            <a:br>
              <a:rPr lang="en-US"/>
            </a:br>
            <a:br>
              <a:rPr lang="en-US"/>
            </a:br>
            <a:r>
              <a:rPr lang="en-US"/>
              <a:t>Examples</a:t>
            </a:r>
            <a:endParaRPr lang="en-US"/>
          </a:p>
        </p:txBody>
      </p:sp>
      <p:pic>
        <p:nvPicPr>
          <p:cNvPr id="4" name="Content Placeholder 3"/>
          <p:cNvPicPr>
            <a:picLocks noChangeAspect="1"/>
          </p:cNvPicPr>
          <p:nvPr>
            <p:ph idx="1"/>
          </p:nvPr>
        </p:nvPicPr>
        <p:blipFill>
          <a:blip r:embed="rId1"/>
          <a:stretch>
            <a:fillRect/>
          </a:stretch>
        </p:blipFill>
        <p:spPr>
          <a:xfrm>
            <a:off x="946150" y="1914525"/>
            <a:ext cx="8991600" cy="39547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9000">
              <a:schemeClr val="accent1">
                <a:lumMod val="45000"/>
                <a:lumOff val="55000"/>
              </a:schemeClr>
            </a:gs>
            <a:gs pos="88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p:sp>
        <p:nvSpPr>
          <p:cNvPr id="2" name="Title 1"/>
          <p:cNvSpPr>
            <a:spLocks noGrp="1"/>
          </p:cNvSpPr>
          <p:nvPr>
            <p:ph type="title"/>
          </p:nvPr>
        </p:nvSpPr>
        <p:spPr>
          <a:xfrm>
            <a:off x="838200" y="365125"/>
            <a:ext cx="10515600" cy="850265"/>
          </a:xfrm>
        </p:spPr>
        <p:txBody>
          <a:bodyPr/>
          <a:p>
            <a:r>
              <a:rPr lang="en-US" sz="2800" b="1"/>
              <a:t>ISO-defined data elements</a:t>
            </a:r>
            <a:endParaRPr lang="en-US" sz="2800" b="1"/>
          </a:p>
        </p:txBody>
      </p:sp>
      <p:pic>
        <p:nvPicPr>
          <p:cNvPr id="4" name="Content Placeholder 3"/>
          <p:cNvPicPr>
            <a:picLocks noChangeAspect="1"/>
          </p:cNvPicPr>
          <p:nvPr>
            <p:ph idx="1"/>
          </p:nvPr>
        </p:nvPicPr>
        <p:blipFill>
          <a:blip r:embed="rId1"/>
          <a:stretch>
            <a:fillRect/>
          </a:stretch>
        </p:blipFill>
        <p:spPr>
          <a:xfrm>
            <a:off x="239395" y="1376680"/>
            <a:ext cx="11651615" cy="528256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9000">
              <a:schemeClr val="accent1">
                <a:lumMod val="45000"/>
                <a:lumOff val="55000"/>
              </a:schemeClr>
            </a:gs>
            <a:gs pos="88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p:sp>
        <p:nvSpPr>
          <p:cNvPr id="2" name="Title 1"/>
          <p:cNvSpPr>
            <a:spLocks noGrp="1"/>
          </p:cNvSpPr>
          <p:nvPr>
            <p:ph type="title"/>
          </p:nvPr>
        </p:nvSpPr>
        <p:spPr>
          <a:xfrm>
            <a:off x="838200" y="365125"/>
            <a:ext cx="10515600" cy="205105"/>
          </a:xfrm>
        </p:spPr>
        <p:txBody>
          <a:bodyPr>
            <a:normAutofit fontScale="90000"/>
          </a:bodyPr>
          <a:p>
            <a:endParaRPr lang="en-US"/>
          </a:p>
        </p:txBody>
      </p:sp>
      <p:pic>
        <p:nvPicPr>
          <p:cNvPr id="4" name="Content Placeholder 3"/>
          <p:cNvPicPr>
            <a:picLocks noChangeAspect="1"/>
          </p:cNvPicPr>
          <p:nvPr>
            <p:ph idx="1"/>
          </p:nvPr>
        </p:nvPicPr>
        <p:blipFill>
          <a:blip r:embed="rId1"/>
          <a:stretch>
            <a:fillRect/>
          </a:stretch>
        </p:blipFill>
        <p:spPr>
          <a:xfrm>
            <a:off x="240030" y="365760"/>
            <a:ext cx="11789410" cy="625983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9000">
              <a:schemeClr val="accent1">
                <a:lumMod val="45000"/>
                <a:lumOff val="55000"/>
              </a:schemeClr>
            </a:gs>
            <a:gs pos="88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p:sp>
        <p:nvSpPr>
          <p:cNvPr id="2" name="Title 1"/>
          <p:cNvSpPr>
            <a:spLocks noGrp="1"/>
          </p:cNvSpPr>
          <p:nvPr>
            <p:ph type="title"/>
          </p:nvPr>
        </p:nvSpPr>
        <p:spPr>
          <a:xfrm>
            <a:off x="838200" y="365125"/>
            <a:ext cx="10515600" cy="113665"/>
          </a:xfrm>
        </p:spPr>
        <p:txBody>
          <a:bodyPr>
            <a:normAutofit fontScale="90000"/>
          </a:bodyPr>
          <a:p>
            <a:endParaRPr lang="en-US"/>
          </a:p>
        </p:txBody>
      </p:sp>
      <p:pic>
        <p:nvPicPr>
          <p:cNvPr id="5" name="Content Placeholder 4"/>
          <p:cNvPicPr>
            <a:picLocks noChangeAspect="1"/>
          </p:cNvPicPr>
          <p:nvPr>
            <p:ph idx="1"/>
          </p:nvPr>
        </p:nvPicPr>
        <p:blipFill>
          <a:blip r:embed="rId1"/>
          <a:stretch>
            <a:fillRect/>
          </a:stretch>
        </p:blipFill>
        <p:spPr>
          <a:xfrm>
            <a:off x="254000" y="365125"/>
            <a:ext cx="11652250" cy="625665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9000">
              <a:schemeClr val="accent1">
                <a:lumMod val="45000"/>
                <a:lumOff val="55000"/>
              </a:schemeClr>
            </a:gs>
            <a:gs pos="88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223520" y="365125"/>
            <a:ext cx="11710035" cy="630301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9000">
              <a:schemeClr val="accent1">
                <a:lumMod val="45000"/>
                <a:lumOff val="55000"/>
              </a:schemeClr>
            </a:gs>
            <a:gs pos="88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224790" y="364490"/>
            <a:ext cx="11722100" cy="619569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9000">
              <a:schemeClr val="accent1">
                <a:lumMod val="45000"/>
                <a:lumOff val="55000"/>
              </a:schemeClr>
            </a:gs>
            <a:gs pos="88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317500" y="364490"/>
            <a:ext cx="11542395" cy="622744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9000">
              <a:schemeClr val="accent1">
                <a:lumMod val="45000"/>
                <a:lumOff val="55000"/>
              </a:schemeClr>
            </a:gs>
            <a:gs pos="88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308610" y="364490"/>
            <a:ext cx="11665585" cy="616521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9000">
              <a:schemeClr val="accent1">
                <a:lumMod val="45000"/>
                <a:lumOff val="55000"/>
              </a:schemeClr>
            </a:gs>
            <a:gs pos="88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p:sp>
        <p:nvSpPr>
          <p:cNvPr id="2" name="Title 1"/>
          <p:cNvSpPr>
            <a:spLocks noGrp="1"/>
          </p:cNvSpPr>
          <p:nvPr>
            <p:ph type="title"/>
          </p:nvPr>
        </p:nvSpPr>
        <p:spPr>
          <a:xfrm>
            <a:off x="838200" y="365125"/>
            <a:ext cx="10515600" cy="358775"/>
          </a:xfrm>
        </p:spPr>
        <p:txBody>
          <a:bodyPr>
            <a:normAutofit fontScale="90000"/>
          </a:bodyPr>
          <a:p>
            <a:endParaRPr lang="en-US"/>
          </a:p>
        </p:txBody>
      </p:sp>
      <p:sp>
        <p:nvSpPr>
          <p:cNvPr id="3" name="Content Placeholder 2"/>
          <p:cNvSpPr>
            <a:spLocks noGrp="1"/>
          </p:cNvSpPr>
          <p:nvPr>
            <p:ph idx="1"/>
          </p:nvPr>
        </p:nvSpPr>
        <p:spPr/>
        <p:txBody>
          <a:bodyPr/>
          <a:p>
            <a:pPr marL="0" indent="0">
              <a:buNone/>
            </a:pPr>
            <a:r>
              <a:rPr lang="en-US" sz="5400"/>
              <a:t>                   </a:t>
            </a:r>
            <a:endParaRPr lang="en-US" sz="5400"/>
          </a:p>
          <a:p>
            <a:pPr marL="0" indent="0">
              <a:buNone/>
            </a:pPr>
            <a:r>
              <a:rPr lang="en-US" sz="5400"/>
              <a:t>                   Thank You.</a:t>
            </a:r>
            <a:endParaRPr lang="en-US" sz="5400"/>
          </a:p>
        </p:txBody>
      </p:sp>
    </p:spTree>
  </p:cSld>
  <p:clrMapOvr>
    <a:masterClrMapping/>
  </p:clrMapOvr>
</p:sld>
</file>

<file path=ppt/theme/theme1.xml><?xml version="1.0" encoding="utf-8"?>
<a:theme xmlns:a="http://schemas.openxmlformats.org/drawingml/2006/main" name="Gear Drives">
  <a:themeElements>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fontScheme name="Gear Dri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ear Dri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ar Dri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ar Dri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ar Dri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ar Dri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ar Dri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ar Dri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ar Dri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ar Dri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ar Dri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ar Dri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ar Dri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5261</Words>
  <Application>WPS Presentation</Application>
  <PresentationFormat>Widescreen</PresentationFormat>
  <Paragraphs>88</Paragraphs>
  <Slides>25</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25</vt:i4>
      </vt:variant>
    </vt:vector>
  </HeadingPairs>
  <TitlesOfParts>
    <vt:vector size="32" baseType="lpstr">
      <vt:lpstr>Arial</vt:lpstr>
      <vt:lpstr>SimSun</vt:lpstr>
      <vt:lpstr>Wingdings</vt:lpstr>
      <vt:lpstr>Microsoft YaHei</vt:lpstr>
      <vt:lpstr>Arial Unicode MS</vt:lpstr>
      <vt:lpstr>Calibri</vt:lpstr>
      <vt:lpstr>Gear Drives</vt:lpstr>
      <vt:lpstr>ISO </vt:lpstr>
      <vt:lpstr>What is ISO ?</vt:lpstr>
      <vt:lpstr>Introduction</vt:lpstr>
      <vt:lpstr>ISO message is made of the following parts</vt:lpstr>
      <vt:lpstr>MTI (Message type indicator)</vt:lpstr>
      <vt:lpstr> The first digit of the MTI indicates the ISO version in which the message is encoded.</vt:lpstr>
      <vt:lpstr> Position two of the MTI specifies the overall purpose of the message.</vt:lpstr>
      <vt:lpstr>Position three of the MTI specifies the messages function which defines how the message should flow within the system.</vt:lpstr>
      <vt:lpstr>  Position four of the MTI defines the location of the message source within the payment chain.</vt:lpstr>
      <vt:lpstr> Examples </vt:lpstr>
      <vt:lpstr>PowerPoint 演示文稿</vt:lpstr>
      <vt:lpstr>Bitmaps </vt:lpstr>
      <vt:lpstr>Examples</vt:lpstr>
      <vt:lpstr>Data elements</vt:lpstr>
      <vt:lpstr>Each data element is described in a standard format which defines the permitted content of the field (numeric, binary, etc.) and the field length (variable or fixed),</vt:lpstr>
      <vt:lpstr>Additionally, each field may be either fixed or variable length. If variable, the length of the field will be preceded by a length indicator.</vt:lpstr>
      <vt:lpstr>  Examples</vt:lpstr>
      <vt:lpstr>ISO-defined data elements</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ISO </dc:title>
  <dc:creator>CONCERTO_L78</dc:creator>
  <cp:lastModifiedBy>CONCERTO_L78</cp:lastModifiedBy>
  <cp:revision>79</cp:revision>
  <dcterms:created xsi:type="dcterms:W3CDTF">2024-01-18T06:00:00Z</dcterms:created>
  <dcterms:modified xsi:type="dcterms:W3CDTF">2024-01-18T08:28:08Z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281AF04C4BC14A0997A446C7B40C3D37_11</vt:lpwstr>
  </property>
  <property fmtid="{D5CDD505-2E9C-101B-9397-08002B2CF9AE}" pid="3" name="KSOProductBuildVer">
    <vt:lpwstr>1033-12.2.0.13359</vt:lpwstr>
  </property>
</Properties>
</file>