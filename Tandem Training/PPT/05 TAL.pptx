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4"/>
  </p:handoutMasterIdLst>
  <p:sldIdLst>
    <p:sldId id="304" r:id="rId3"/>
    <p:sldId id="257" r:id="rId5"/>
    <p:sldId id="289" r:id="rId6"/>
    <p:sldId id="258" r:id="rId7"/>
    <p:sldId id="259" r:id="rId8"/>
    <p:sldId id="290" r:id="rId9"/>
    <p:sldId id="291" r:id="rId10"/>
    <p:sldId id="293" r:id="rId11"/>
    <p:sldId id="294" r:id="rId12"/>
    <p:sldId id="295" r:id="rId13"/>
    <p:sldId id="262" r:id="rId14"/>
    <p:sldId id="266" r:id="rId15"/>
    <p:sldId id="305" r:id="rId16"/>
    <p:sldId id="306" r:id="rId17"/>
    <p:sldId id="267" r:id="rId18"/>
    <p:sldId id="268" r:id="rId19"/>
    <p:sldId id="297" r:id="rId20"/>
    <p:sldId id="298" r:id="rId21"/>
    <p:sldId id="274" r:id="rId22"/>
    <p:sldId id="275" r:id="rId23"/>
    <p:sldId id="281" r:id="rId24"/>
    <p:sldId id="276" r:id="rId25"/>
    <p:sldId id="270" r:id="rId26"/>
    <p:sldId id="277" r:id="rId27"/>
    <p:sldId id="278" r:id="rId28"/>
    <p:sldId id="299" r:id="rId29"/>
    <p:sldId id="279" r:id="rId30"/>
    <p:sldId id="280" r:id="rId31"/>
    <p:sldId id="282" r:id="rId32"/>
    <p:sldId id="283" r:id="rId33"/>
    <p:sldId id="284" r:id="rId34"/>
    <p:sldId id="300" r:id="rId35"/>
    <p:sldId id="285" r:id="rId36"/>
    <p:sldId id="286" r:id="rId37"/>
    <p:sldId id="287" r:id="rId38"/>
    <p:sldId id="288" r:id="rId39"/>
    <p:sldId id="301" r:id="rId40"/>
    <p:sldId id="302" r:id="rId41"/>
    <p:sldId id="260" r:id="rId42"/>
    <p:sldId id="261" r:id="rId43"/>
    <p:sldId id="263" r:id="rId44"/>
    <p:sldId id="264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B9ED"/>
    <a:srgbClr val="BABDBE"/>
    <a:srgbClr val="9EA2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58" autoAdjust="0"/>
  </p:normalViewPr>
  <p:slideViewPr>
    <p:cSldViewPr>
      <p:cViewPr>
        <p:scale>
          <a:sx n="80" d="100"/>
          <a:sy n="80" d="100"/>
        </p:scale>
        <p:origin x="-558" y="-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9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handoutMaster" Target="handoutMasters/handoutMaster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421E0A-0856-4662-94AF-DF7D8E12C519}" type="doc">
      <dgm:prSet loTypeId="urn:microsoft.com/office/officeart/2005/8/layout/funnel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611336-7938-4359-829B-CDFFD9EC90CD}">
      <dgm:prSet phldrT="[Text]"/>
      <dgm:spPr/>
      <dgm:t>
        <a:bodyPr/>
        <a:lstStyle/>
        <a:p>
          <a:r>
            <a:rPr lang="en-US" dirty="0" smtClean="0">
              <a:solidFill>
                <a:schemeClr val="bg2"/>
              </a:solidFill>
            </a:rPr>
            <a:t>Code</a:t>
          </a:r>
          <a:endParaRPr lang="en-US" dirty="0">
            <a:solidFill>
              <a:schemeClr val="bg2"/>
            </a:solidFill>
          </a:endParaRPr>
        </a:p>
      </dgm:t>
    </dgm:pt>
    <dgm:pt modelId="{3F5A832B-5C01-40DA-AC96-53E630F4078C}" cxnId="{61B885EE-573F-4A96-B2E7-72E38CD4F71F}" type="parTrans">
      <dgm:prSet/>
      <dgm:spPr/>
      <dgm:t>
        <a:bodyPr/>
        <a:lstStyle/>
        <a:p>
          <a:endParaRPr lang="en-US"/>
        </a:p>
      </dgm:t>
    </dgm:pt>
    <dgm:pt modelId="{55C6AD6B-BB39-4874-BC4C-D926C00DA865}" cxnId="{61B885EE-573F-4A96-B2E7-72E38CD4F71F}" type="sibTrans">
      <dgm:prSet/>
      <dgm:spPr/>
      <dgm:t>
        <a:bodyPr/>
        <a:lstStyle/>
        <a:p>
          <a:endParaRPr lang="en-US"/>
        </a:p>
      </dgm:t>
    </dgm:pt>
    <dgm:pt modelId="{CE458887-FC93-4F42-823B-49C3BF2E6C34}">
      <dgm:prSet phldrT="[Text]"/>
      <dgm:spPr/>
      <dgm:t>
        <a:bodyPr/>
        <a:lstStyle/>
        <a:p>
          <a:r>
            <a:rPr lang="en-US" dirty="0" smtClean="0">
              <a:solidFill>
                <a:schemeClr val="bg2"/>
              </a:solidFill>
            </a:rPr>
            <a:t>Library</a:t>
          </a:r>
          <a:endParaRPr lang="en-US" dirty="0">
            <a:solidFill>
              <a:schemeClr val="bg2"/>
            </a:solidFill>
          </a:endParaRPr>
        </a:p>
      </dgm:t>
    </dgm:pt>
    <dgm:pt modelId="{E840AFD3-F4DC-400F-AF01-6E5C65F457ED}" cxnId="{2C942E3E-825B-4FF6-BAA7-25BF83A432C1}" type="parTrans">
      <dgm:prSet/>
      <dgm:spPr/>
      <dgm:t>
        <a:bodyPr/>
        <a:lstStyle/>
        <a:p>
          <a:endParaRPr lang="en-US"/>
        </a:p>
      </dgm:t>
    </dgm:pt>
    <dgm:pt modelId="{53F6D36E-23E6-4F76-9CDB-6263EF3D8323}" cxnId="{2C942E3E-825B-4FF6-BAA7-25BF83A432C1}" type="sibTrans">
      <dgm:prSet/>
      <dgm:spPr/>
      <dgm:t>
        <a:bodyPr/>
        <a:lstStyle/>
        <a:p>
          <a:endParaRPr lang="en-US"/>
        </a:p>
      </dgm:t>
    </dgm:pt>
    <dgm:pt modelId="{92CF71D3-6E79-4C81-B391-0EF0CED0DE30}">
      <dgm:prSet phldrT="[Text]"/>
      <dgm:spPr/>
      <dgm:t>
        <a:bodyPr/>
        <a:lstStyle/>
        <a:p>
          <a:r>
            <a:rPr lang="en-US" dirty="0" smtClean="0">
              <a:solidFill>
                <a:schemeClr val="bg2"/>
              </a:solidFill>
            </a:rPr>
            <a:t>Data</a:t>
          </a:r>
          <a:endParaRPr lang="en-US" dirty="0">
            <a:solidFill>
              <a:schemeClr val="bg2"/>
            </a:solidFill>
          </a:endParaRPr>
        </a:p>
      </dgm:t>
    </dgm:pt>
    <dgm:pt modelId="{B08482E3-7687-4B73-A6CB-C5DC2C39BDD0}" cxnId="{DFF28AE8-5B28-41BE-9BA5-374661483D79}" type="parTrans">
      <dgm:prSet/>
      <dgm:spPr/>
      <dgm:t>
        <a:bodyPr/>
        <a:lstStyle/>
        <a:p>
          <a:endParaRPr lang="en-US"/>
        </a:p>
      </dgm:t>
    </dgm:pt>
    <dgm:pt modelId="{3044C0F4-E452-42B5-8CB9-653B84308DCE}" cxnId="{DFF28AE8-5B28-41BE-9BA5-374661483D79}" type="sibTrans">
      <dgm:prSet/>
      <dgm:spPr/>
      <dgm:t>
        <a:bodyPr/>
        <a:lstStyle/>
        <a:p>
          <a:endParaRPr lang="en-US"/>
        </a:p>
      </dgm:t>
    </dgm:pt>
    <dgm:pt modelId="{172B5677-913A-4C88-A9AF-93471636D9DA}">
      <dgm:prSet phldrT="[Text]"/>
      <dgm:spPr/>
      <dgm:t>
        <a:bodyPr/>
        <a:lstStyle/>
        <a:p>
          <a:r>
            <a:rPr lang="en-US" dirty="0" smtClean="0"/>
            <a:t>Environment</a:t>
          </a:r>
          <a:endParaRPr lang="en-US" dirty="0"/>
        </a:p>
      </dgm:t>
    </dgm:pt>
    <dgm:pt modelId="{771D57CD-E928-4574-BBF3-957267450968}" cxnId="{1815007D-4ECC-48AA-9060-0CED136F1F47}" type="parTrans">
      <dgm:prSet/>
      <dgm:spPr/>
      <dgm:t>
        <a:bodyPr/>
        <a:lstStyle/>
        <a:p>
          <a:endParaRPr lang="en-US"/>
        </a:p>
      </dgm:t>
    </dgm:pt>
    <dgm:pt modelId="{21B2E2DB-3A66-44DA-910B-A6FB9D7FB0FC}" cxnId="{1815007D-4ECC-48AA-9060-0CED136F1F47}" type="sibTrans">
      <dgm:prSet/>
      <dgm:spPr/>
      <dgm:t>
        <a:bodyPr/>
        <a:lstStyle/>
        <a:p>
          <a:endParaRPr lang="en-US"/>
        </a:p>
      </dgm:t>
    </dgm:pt>
    <dgm:pt modelId="{610B114D-6157-4152-8822-9CF790F42A72}" type="pres">
      <dgm:prSet presAssocID="{EC421E0A-0856-4662-94AF-DF7D8E12C519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36D4511-5EB3-485A-94DC-B1A9161D1D71}" type="pres">
      <dgm:prSet presAssocID="{EC421E0A-0856-4662-94AF-DF7D8E12C519}" presName="ellipse" presStyleLbl="trBgShp" presStyleIdx="0" presStyleCnt="1"/>
      <dgm:spPr/>
    </dgm:pt>
    <dgm:pt modelId="{BA8262EE-7D03-4929-A94A-F6D5373B09EE}" type="pres">
      <dgm:prSet presAssocID="{EC421E0A-0856-4662-94AF-DF7D8E12C519}" presName="arrow1" presStyleLbl="fgShp" presStyleIdx="0" presStyleCnt="1"/>
      <dgm:spPr>
        <a:noFill/>
      </dgm:spPr>
    </dgm:pt>
    <dgm:pt modelId="{979E1779-DBA2-45E9-BD64-69A8DCEF1913}" type="pres">
      <dgm:prSet presAssocID="{EC421E0A-0856-4662-94AF-DF7D8E12C519}" presName="rectangle" presStyleLbl="revTx" presStyleIdx="0" presStyleCnt="1" custAng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4D713B-3B90-4AA3-8264-98E6B27F626D}" type="pres">
      <dgm:prSet presAssocID="{CE458887-FC93-4F42-823B-49C3BF2E6C34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902291-7C0B-431E-8DEE-BA2E4F344091}" type="pres">
      <dgm:prSet presAssocID="{92CF71D3-6E79-4C81-B391-0EF0CED0DE30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3F12D9-EED4-4A1B-B47E-2DA7B5F4D329}" type="pres">
      <dgm:prSet presAssocID="{172B5677-913A-4C88-A9AF-93471636D9DA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AD49DA-016C-4505-A7C7-A3C6FE1DA2DD}" type="pres">
      <dgm:prSet presAssocID="{EC421E0A-0856-4662-94AF-DF7D8E12C519}" presName="funnel" presStyleLbl="trAlignAcc1" presStyleIdx="0" presStyleCnt="1" custScaleX="101144" custScaleY="95983" custLinFactNeighborX="714" custLinFactNeighborY="-1786"/>
      <dgm:spPr/>
      <dgm:t>
        <a:bodyPr/>
        <a:lstStyle/>
        <a:p>
          <a:endParaRPr lang="en-IN"/>
        </a:p>
      </dgm:t>
    </dgm:pt>
  </dgm:ptLst>
  <dgm:cxnLst>
    <dgm:cxn modelId="{892CB018-1E5B-4D2A-9573-EEDBF8DDE97B}" type="presOf" srcId="{CE458887-FC93-4F42-823B-49C3BF2E6C34}" destId="{F8902291-7C0B-431E-8DEE-BA2E4F344091}" srcOrd="0" destOrd="0" presId="urn:microsoft.com/office/officeart/2005/8/layout/funnel1"/>
    <dgm:cxn modelId="{DAAC3A7E-09FB-41F6-BF54-B33D1D731E82}" type="presOf" srcId="{EC421E0A-0856-4662-94AF-DF7D8E12C519}" destId="{610B114D-6157-4152-8822-9CF790F42A72}" srcOrd="0" destOrd="0" presId="urn:microsoft.com/office/officeart/2005/8/layout/funnel1"/>
    <dgm:cxn modelId="{2C942E3E-825B-4FF6-BAA7-25BF83A432C1}" srcId="{EC421E0A-0856-4662-94AF-DF7D8E12C519}" destId="{CE458887-FC93-4F42-823B-49C3BF2E6C34}" srcOrd="1" destOrd="0" parTransId="{E840AFD3-F4DC-400F-AF01-6E5C65F457ED}" sibTransId="{53F6D36E-23E6-4F76-9CDB-6263EF3D8323}"/>
    <dgm:cxn modelId="{DFF28AE8-5B28-41BE-9BA5-374661483D79}" srcId="{EC421E0A-0856-4662-94AF-DF7D8E12C519}" destId="{92CF71D3-6E79-4C81-B391-0EF0CED0DE30}" srcOrd="2" destOrd="0" parTransId="{B08482E3-7687-4B73-A6CB-C5DC2C39BDD0}" sibTransId="{3044C0F4-E452-42B5-8CB9-653B84308DCE}"/>
    <dgm:cxn modelId="{61B885EE-573F-4A96-B2E7-72E38CD4F71F}" srcId="{EC421E0A-0856-4662-94AF-DF7D8E12C519}" destId="{10611336-7938-4359-829B-CDFFD9EC90CD}" srcOrd="0" destOrd="0" parTransId="{3F5A832B-5C01-40DA-AC96-53E630F4078C}" sibTransId="{55C6AD6B-BB39-4874-BC4C-D926C00DA865}"/>
    <dgm:cxn modelId="{DB448078-1424-489C-9EF9-30DDB6A13341}" type="presOf" srcId="{92CF71D3-6E79-4C81-B391-0EF0CED0DE30}" destId="{0B4D713B-3B90-4AA3-8264-98E6B27F626D}" srcOrd="0" destOrd="0" presId="urn:microsoft.com/office/officeart/2005/8/layout/funnel1"/>
    <dgm:cxn modelId="{1815007D-4ECC-48AA-9060-0CED136F1F47}" srcId="{EC421E0A-0856-4662-94AF-DF7D8E12C519}" destId="{172B5677-913A-4C88-A9AF-93471636D9DA}" srcOrd="3" destOrd="0" parTransId="{771D57CD-E928-4574-BBF3-957267450968}" sibTransId="{21B2E2DB-3A66-44DA-910B-A6FB9D7FB0FC}"/>
    <dgm:cxn modelId="{DB84742E-F2A6-4600-BA3C-EDA8AB1875DD}" type="presOf" srcId="{172B5677-913A-4C88-A9AF-93471636D9DA}" destId="{979E1779-DBA2-45E9-BD64-69A8DCEF1913}" srcOrd="0" destOrd="0" presId="urn:microsoft.com/office/officeart/2005/8/layout/funnel1"/>
    <dgm:cxn modelId="{7783A189-F5B0-484E-9658-3750714BA4B0}" type="presOf" srcId="{10611336-7938-4359-829B-CDFFD9EC90CD}" destId="{773F12D9-EED4-4A1B-B47E-2DA7B5F4D329}" srcOrd="0" destOrd="0" presId="urn:microsoft.com/office/officeart/2005/8/layout/funnel1"/>
    <dgm:cxn modelId="{E5D0288A-7675-4FF3-8FCF-1E9D2D9E4299}" type="presParOf" srcId="{610B114D-6157-4152-8822-9CF790F42A72}" destId="{236D4511-5EB3-485A-94DC-B1A9161D1D71}" srcOrd="0" destOrd="0" presId="urn:microsoft.com/office/officeart/2005/8/layout/funnel1"/>
    <dgm:cxn modelId="{F0280AF5-BFB0-4A99-8511-6C80DDD4CD6E}" type="presParOf" srcId="{610B114D-6157-4152-8822-9CF790F42A72}" destId="{BA8262EE-7D03-4929-A94A-F6D5373B09EE}" srcOrd="1" destOrd="0" presId="urn:microsoft.com/office/officeart/2005/8/layout/funnel1"/>
    <dgm:cxn modelId="{1F0AD1A0-64A1-4956-8914-2FECE71A27E2}" type="presParOf" srcId="{610B114D-6157-4152-8822-9CF790F42A72}" destId="{979E1779-DBA2-45E9-BD64-69A8DCEF1913}" srcOrd="2" destOrd="0" presId="urn:microsoft.com/office/officeart/2005/8/layout/funnel1"/>
    <dgm:cxn modelId="{E70B8525-4C52-4604-AAB5-3A92CE924EDE}" type="presParOf" srcId="{610B114D-6157-4152-8822-9CF790F42A72}" destId="{0B4D713B-3B90-4AA3-8264-98E6B27F626D}" srcOrd="3" destOrd="0" presId="urn:microsoft.com/office/officeart/2005/8/layout/funnel1"/>
    <dgm:cxn modelId="{91FC8646-F6FF-4618-9BE9-3E05BFCC1459}" type="presParOf" srcId="{610B114D-6157-4152-8822-9CF790F42A72}" destId="{F8902291-7C0B-431E-8DEE-BA2E4F344091}" srcOrd="4" destOrd="0" presId="urn:microsoft.com/office/officeart/2005/8/layout/funnel1"/>
    <dgm:cxn modelId="{456F9FBB-A804-4022-A35A-CA367E62F06E}" type="presParOf" srcId="{610B114D-6157-4152-8822-9CF790F42A72}" destId="{773F12D9-EED4-4A1B-B47E-2DA7B5F4D329}" srcOrd="5" destOrd="0" presId="urn:microsoft.com/office/officeart/2005/8/layout/funnel1"/>
    <dgm:cxn modelId="{0F674484-C777-4C69-B5E9-3DFE6A0398C4}" type="presParOf" srcId="{610B114D-6157-4152-8822-9CF790F42A72}" destId="{EEAD49DA-016C-4505-A7C7-A3C6FE1DA2D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36D4511-5EB3-485A-94DC-B1A9161D1D71}">
      <dsp:nvSpPr>
        <dsp:cNvPr id="0" name=""/>
        <dsp:cNvSpPr/>
      </dsp:nvSpPr>
      <dsp:spPr>
        <a:xfrm>
          <a:off x="699363" y="553534"/>
          <a:ext cx="2555748" cy="887577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262EE-7D03-4929-A94A-F6D5373B09EE}">
      <dsp:nvSpPr>
        <dsp:cNvPr id="0" name=""/>
        <dsp:cNvSpPr/>
      </dsp:nvSpPr>
      <dsp:spPr>
        <a:xfrm>
          <a:off x="1733550" y="2726910"/>
          <a:ext cx="495300" cy="316992"/>
        </a:xfrm>
        <a:prstGeom prst="downArrow">
          <a:avLst/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E1779-DBA2-45E9-BD64-69A8DCEF1913}">
      <dsp:nvSpPr>
        <dsp:cNvPr id="0" name=""/>
        <dsp:cNvSpPr/>
      </dsp:nvSpPr>
      <dsp:spPr>
        <a:xfrm>
          <a:off x="792479" y="2980504"/>
          <a:ext cx="2377440" cy="594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Environment</a:t>
          </a:r>
          <a:endParaRPr lang="en-US" sz="2100" kern="1200" dirty="0"/>
        </a:p>
      </dsp:txBody>
      <dsp:txXfrm>
        <a:off x="792479" y="2980504"/>
        <a:ext cx="2377440" cy="594360"/>
      </dsp:txXfrm>
    </dsp:sp>
    <dsp:sp modelId="{0B4D713B-3B90-4AA3-8264-98E6B27F626D}">
      <dsp:nvSpPr>
        <dsp:cNvPr id="0" name=""/>
        <dsp:cNvSpPr/>
      </dsp:nvSpPr>
      <dsp:spPr>
        <a:xfrm>
          <a:off x="1628546" y="1509661"/>
          <a:ext cx="891540" cy="8915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solidFill>
                <a:schemeClr val="bg2"/>
              </a:solidFill>
            </a:rPr>
            <a:t>Data</a:t>
          </a:r>
          <a:endParaRPr lang="en-US" sz="1500" kern="1200" dirty="0">
            <a:solidFill>
              <a:schemeClr val="bg2"/>
            </a:solidFill>
          </a:endParaRPr>
        </a:p>
      </dsp:txBody>
      <dsp:txXfrm>
        <a:off x="1628546" y="1509661"/>
        <a:ext cx="891540" cy="891540"/>
      </dsp:txXfrm>
    </dsp:sp>
    <dsp:sp modelId="{F8902291-7C0B-431E-8DEE-BA2E4F344091}">
      <dsp:nvSpPr>
        <dsp:cNvPr id="0" name=""/>
        <dsp:cNvSpPr/>
      </dsp:nvSpPr>
      <dsp:spPr>
        <a:xfrm>
          <a:off x="990600" y="840808"/>
          <a:ext cx="891540" cy="8915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solidFill>
                <a:schemeClr val="bg2"/>
              </a:solidFill>
            </a:rPr>
            <a:t>Library</a:t>
          </a:r>
          <a:endParaRPr lang="en-US" sz="1500" kern="1200" dirty="0">
            <a:solidFill>
              <a:schemeClr val="bg2"/>
            </a:solidFill>
          </a:endParaRPr>
        </a:p>
      </dsp:txBody>
      <dsp:txXfrm>
        <a:off x="990600" y="840808"/>
        <a:ext cx="891540" cy="891540"/>
      </dsp:txXfrm>
    </dsp:sp>
    <dsp:sp modelId="{773F12D9-EED4-4A1B-B47E-2DA7B5F4D329}">
      <dsp:nvSpPr>
        <dsp:cNvPr id="0" name=""/>
        <dsp:cNvSpPr/>
      </dsp:nvSpPr>
      <dsp:spPr>
        <a:xfrm>
          <a:off x="1901952" y="625253"/>
          <a:ext cx="891540" cy="8915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solidFill>
                <a:schemeClr val="bg2"/>
              </a:solidFill>
            </a:rPr>
            <a:t>Code</a:t>
          </a:r>
          <a:endParaRPr lang="en-US" sz="1500" kern="1200" dirty="0">
            <a:solidFill>
              <a:schemeClr val="bg2"/>
            </a:solidFill>
          </a:endParaRPr>
        </a:p>
      </dsp:txBody>
      <dsp:txXfrm>
        <a:off x="1901952" y="625253"/>
        <a:ext cx="891540" cy="891540"/>
      </dsp:txXfrm>
    </dsp:sp>
    <dsp:sp modelId="{EEAD49DA-016C-4505-A7C7-A3C6FE1DA2DD}">
      <dsp:nvSpPr>
        <dsp:cNvPr id="0" name=""/>
        <dsp:cNvSpPr/>
      </dsp:nvSpPr>
      <dsp:spPr>
        <a:xfrm>
          <a:off x="598298" y="449505"/>
          <a:ext cx="2805410" cy="2129809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677FF-53AE-4008-A7CC-6B3E06A5B12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FEA61-A786-49FD-8EB9-E61CC9BA07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962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962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62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F9F4344F-CBFE-4D7C-B290-02B79073664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A585A1E-162C-4E42-9FB0-3A29CB13E10E}" type="slidenum">
              <a:rPr lang="en-US"/>
            </a:fld>
            <a:endParaRPr lang="en-US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A585A1E-162C-4E42-9FB0-3A29CB13E10E}" type="slidenum">
              <a:rPr lang="en-US"/>
            </a:fld>
            <a:endParaRPr lang="en-US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9FAC329-CB9C-4D8C-9B62-19CD14FFF71A}" type="slidenum">
              <a:rPr lang="en-US"/>
            </a:fld>
            <a:endParaRPr lang="en-US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 err="1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Subprocedures</a:t>
            </a:r>
            <a:r>
              <a:rPr lang="en-IN" sz="1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—A procedure can contain </a:t>
            </a:r>
            <a:r>
              <a:rPr lang="en-IN" sz="1200" kern="1200" dirty="0" err="1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subprocedures</a:t>
            </a:r>
            <a:r>
              <a:rPr lang="en-IN" sz="1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, callable only from</a:t>
            </a:r>
            <a:endParaRPr lang="en-IN" sz="1200" kern="1200" dirty="0" smtClean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IN" sz="1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within the same procedure. When a </a:t>
            </a:r>
            <a:r>
              <a:rPr lang="en-IN" sz="1200" kern="1200" dirty="0" err="1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subprocedure</a:t>
            </a:r>
            <a:r>
              <a:rPr lang="en-IN" sz="1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calls another </a:t>
            </a:r>
            <a:r>
              <a:rPr lang="en-IN" sz="1200" kern="1200" dirty="0" err="1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subprocedure</a:t>
            </a:r>
            <a:r>
              <a:rPr lang="en-IN" sz="1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, the</a:t>
            </a:r>
            <a:endParaRPr lang="en-IN" sz="1200" kern="1200" dirty="0" smtClean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IN" sz="1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caller’s environment remains in place. The operating system saves the location in</a:t>
            </a:r>
            <a:endParaRPr lang="en-IN" sz="1200" kern="1200" dirty="0" smtClean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IN" sz="1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the caller to which control is to return when the called </a:t>
            </a:r>
            <a:r>
              <a:rPr lang="en-IN" sz="1200" kern="1200" dirty="0" err="1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subprocedure</a:t>
            </a:r>
            <a:r>
              <a:rPr lang="en-IN" sz="1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terminates.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BC1335D-DC79-43A7-87C0-C7078F9608B3}" type="slidenum">
              <a:rPr lang="en-US"/>
            </a:fld>
            <a:endParaRPr lang="en-US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F4344F-CBFE-4D7C-B290-02B79073664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F389308-64F1-4478-99FA-A02F5C59999E}" type="slidenum">
              <a:rPr lang="en-US"/>
            </a:fld>
            <a:endParaRPr lang="en-US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613D99E-F78F-40A6-AE23-8F7D80DEAC0F}" type="slidenum">
              <a:rPr lang="en-US"/>
            </a:fld>
            <a:endParaRPr lang="en-U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613D99E-F78F-40A6-AE23-8F7D80DEAC0F}" type="slidenum">
              <a:rPr lang="en-US"/>
            </a:fld>
            <a:endParaRPr lang="en-U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613D99E-F78F-40A6-AE23-8F7D80DEAC0F}" type="slidenum">
              <a:rPr lang="en-US"/>
            </a:fld>
            <a:endParaRPr lang="en-U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36E5F3F-7BD5-4A98-A76D-A8E45B7EBE9A}" type="slidenum">
              <a:rPr lang="en-US"/>
            </a:fld>
            <a:endParaRPr 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E1FFAA5-E90E-4146-805E-6C2E8A57CC7F}" type="slidenum">
              <a:rPr lang="en-US"/>
            </a:fld>
            <a:endParaRPr lang="en-US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636142F-BC48-4F78-B301-DD8116B6D714}" type="slidenum">
              <a:rPr lang="en-US"/>
            </a:fld>
            <a:endParaRPr lang="en-US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2D5018C-CE23-4889-8B4C-D3AA252657A5}" type="slidenum">
              <a:rPr lang="en-US"/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B459A5C-204E-46DE-A560-240C641004F9}" type="slidenum">
              <a:rPr lang="en-US"/>
            </a:fld>
            <a:endParaRPr lang="en-US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7497D76-70AD-44A5-8AC1-07CB10865C2B}" type="slidenum">
              <a:rPr lang="en-US"/>
            </a:fld>
            <a:endParaRPr lang="en-US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7FF8524-558F-4B4E-9596-D73115F3F3C9}" type="slidenum">
              <a:rPr lang="en-US"/>
            </a:fld>
            <a:endParaRPr lang="en-US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9D8DB60-763D-453B-94C5-E9F686DE15DC}" type="slidenum">
              <a:rPr lang="en-US"/>
            </a:fld>
            <a:endParaRPr lang="en-US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B785690-7B0A-4776-9EFB-DC181B9E8EEF}" type="slidenum">
              <a:rPr lang="en-US"/>
            </a:fld>
            <a:endParaRPr lang="en-US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E71B2BA-B889-4D3A-A132-A4E3A9EC6EBC}" type="slidenum">
              <a:rPr lang="en-US"/>
            </a:fld>
            <a:endParaRPr 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AFDF5F7-AE3D-4A6A-9DA8-F7A4BD756BEB}" type="slidenum">
              <a:rPr lang="en-US"/>
            </a:fld>
            <a:endParaRPr lang="en-US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9750585-B636-4357-A271-D2E5C3A02759}" type="slidenum">
              <a:rPr lang="en-US"/>
            </a:fld>
            <a:endParaRPr 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3193BD8-5CC4-4BA0-8A1F-E4D2AA7D26D6}" type="slidenum">
              <a:rPr lang="en-US"/>
            </a:fld>
            <a:endParaRPr lang="en-US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4B8FCBE-4F72-441F-BDBD-15C789B36E24}" type="slidenum">
              <a:rPr lang="en-US"/>
            </a:fld>
            <a:endParaRPr lang="en-US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AB66ADB-7200-4170-90B2-5502AA6833B4}" type="slidenum">
              <a:rPr lang="en-US"/>
            </a:fld>
            <a:endParaRPr lang="en-US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6CFA658-09F3-4ED5-AD7E-14BBA00BF3AE}" type="slidenum">
              <a:rPr lang="en-US"/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5781F73-A6E7-42E8-AA5E-5A2E99F17509}" type="slidenum">
              <a:rPr lang="en-US"/>
            </a:fld>
            <a:endParaRPr lang="en-US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237A427-6024-49F0-8DDD-B377AD4EF860}" type="slidenum">
              <a:rPr lang="en-US"/>
            </a:fld>
            <a:endParaRPr lang="en-US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08D29EE-C919-498F-8C84-553A653C8B75}" type="slidenum">
              <a:rPr lang="en-US"/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2DD320E-523C-4C43-9CB7-194A012DE503}" type="slidenum">
              <a:rPr lang="en-US"/>
            </a:fld>
            <a:endParaRPr lang="en-US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26DD235-FFC3-4A5A-A22E-E3CAA68697F9}" type="slidenum">
              <a:rPr lang="en-US"/>
            </a:fld>
            <a:endParaRPr lang="en-US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202645F-8C27-4A64-A10B-1B0319129608}" type="slidenum">
              <a:rPr lang="en-US"/>
            </a:fld>
            <a:endParaRPr 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202645F-8C27-4A64-A10B-1B0319129608}" type="slidenum">
              <a:rPr lang="en-US"/>
            </a:fld>
            <a:endParaRPr 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202645F-8C27-4A64-A10B-1B0319129608}" type="slidenum">
              <a:rPr lang="en-US"/>
            </a:fld>
            <a:endParaRPr 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202645F-8C27-4A64-A10B-1B0319129608}" type="slidenum">
              <a:rPr lang="en-US"/>
            </a:fld>
            <a:endParaRPr 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202645F-8C27-4A64-A10B-1B0319129608}" type="slidenum">
              <a:rPr lang="en-US"/>
            </a:fld>
            <a:endParaRPr 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202645F-8C27-4A64-A10B-1B0319129608}" type="slidenum">
              <a:rPr lang="en-US"/>
            </a:fld>
            <a:endParaRPr 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995981-9D16-4E2C-9B0C-80422082822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BC2876-4134-48CE-878B-EF76FEB8BF4E}" type="slidenum">
              <a:rPr lang="en-US" smtClean="0"/>
            </a:fld>
            <a:endParaRPr lang="en-US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5" name="Freeform 4"/>
          <p:cNvSpPr/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9D79F3-240A-43D4-88A9-1253CAEC4D5A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concerto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72400" y="0"/>
            <a:ext cx="1371600" cy="6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5" name="Freeform 4"/>
          <p:cNvSpPr/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5265EA-44AC-468B-A4F4-A7BED9600028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C6FDC1-2E74-4C4C-954B-77D22D793A4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B2FF50-9D95-4B17-B359-8D86A586518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/>
          <a:lstStyle>
            <a:lvl1pPr algn="l">
              <a:defRPr sz="4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8B7699-48DF-4495-A2B9-F694CE8021B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C3E28D-91C1-43D2-A741-3A5EB0EA6F9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575" y="6421438"/>
            <a:ext cx="762000" cy="365125"/>
          </a:xfrm>
        </p:spPr>
        <p:txBody>
          <a:bodyPr/>
          <a:lstStyle>
            <a:lvl1pPr>
              <a:defRPr/>
            </a:lvl1pPr>
          </a:lstStyle>
          <a:p>
            <a:fld id="{0BC64F53-9355-477A-B575-38A2DE2963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FB968D-CF4E-4AE0-AB3D-55328D398D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5321B2-0F7D-4238-8C77-5C452C12C47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28E006-F1B8-433F-AD05-C55BBB8ABE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3399"/>
            </a:gs>
            <a:gs pos="100000">
              <a:schemeClr val="bg2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16" name="Freeform 15"/>
          <p:cNvSpPr/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2052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5720" tIns="45720" rIns="4572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205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1438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1438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 smtClean="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8C3E28D-91C1-43D2-A741-3A5EB0EA6F9B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anose="020B0503020102020204" pitchFamily="34" charset="0"/>
        </a:defRPr>
      </a:lvl9pPr>
    </p:titleStyle>
    <p:bodyStyle>
      <a:lvl1pPr marL="419100" indent="-38290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63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205" indent="-25590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anose="020B0604020202020204" pitchFamily="34" charset="0"/>
        <a:buChar char="○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36855" algn="l" rtl="0" eaLnBrk="1" fontAlgn="base" hangingPunct="1">
        <a:spcBef>
          <a:spcPct val="20000"/>
        </a:spcBef>
        <a:spcAft>
          <a:spcPct val="0"/>
        </a:spcAft>
        <a:buClr>
          <a:srgbClr val="FFFFFF"/>
        </a:buClr>
        <a:buSzPct val="9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89075" indent="-182880" algn="l" rtl="0" eaLnBrk="1" fontAlgn="base" hangingPunct="1">
        <a:spcBef>
          <a:spcPct val="20000"/>
        </a:spcBef>
        <a:spcAft>
          <a:spcPct val="0"/>
        </a:spcAft>
        <a:buClr>
          <a:srgbClr val="748560"/>
        </a:buClr>
        <a:buSzPct val="100000"/>
        <a:buFont typeface="Arial" panose="020B0604020202020204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530" indent="-182880" algn="l" rtl="0" eaLnBrk="1" latinLnBrk="0" hangingPunct="1">
        <a:spcBef>
          <a:spcPct val="20000"/>
        </a:spcBef>
        <a:buClr>
          <a:schemeClr val="accent5"/>
        </a:buClr>
        <a:buFont typeface="Arial" panose="020B0604020202020204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 panose="020B0604020202020204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950" indent="-182880" algn="l" rtl="0" eaLnBrk="1" latinLnBrk="0" hangingPunct="1">
        <a:spcBef>
          <a:spcPct val="20000"/>
        </a:spcBef>
        <a:buClr>
          <a:schemeClr val="accent6"/>
        </a:buClr>
        <a:buFont typeface="Arial" panose="020B0604020202020204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 panose="020B0604020202020204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Rectangle 1026"/>
          <p:cNvSpPr txBox="1">
            <a:spLocks noChangeArrowheads="1"/>
          </p:cNvSpPr>
          <p:nvPr/>
        </p:nvSpPr>
        <p:spPr bwMode="auto">
          <a:xfrm>
            <a:off x="533400" y="1905000"/>
            <a:ext cx="7848600" cy="1600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5720" tIns="45720" rIns="45720" bIns="45720" numCol="1" anchor="ctr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yington" pitchFamily="2" charset="0"/>
                <a:ea typeface="+mj-ea"/>
                <a:cs typeface="+mj-cs"/>
              </a:rPr>
              <a:t>Introduction to </a:t>
            </a:r>
            <a:endParaRPr kumimoji="0" lang="en-IN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yington" pitchFamily="2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sz="4400" i="1" dirty="0" smtClean="0">
                <a:latin typeface="Byington" pitchFamily="2" charset="0"/>
                <a:ea typeface="+mj-ea"/>
                <a:cs typeface="+mj-cs"/>
              </a:rPr>
              <a:t>Tandem Application Language</a:t>
            </a:r>
            <a:endParaRPr lang="en-IN" sz="4400" i="1" dirty="0" smtClean="0">
              <a:latin typeface="Byington" pitchFamily="2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i="1" dirty="0" smtClean="0">
                <a:latin typeface="Byington" pitchFamily="2" charset="0"/>
                <a:ea typeface="+mj-ea"/>
                <a:cs typeface="+mj-cs"/>
              </a:rPr>
              <a:t>(</a:t>
            </a:r>
            <a:r>
              <a:rPr lang="en-US" sz="4400" dirty="0" smtClean="0">
                <a:latin typeface="Byington" pitchFamily="2" charset="0"/>
                <a:ea typeface="+mj-ea"/>
                <a:cs typeface="+mj-cs"/>
              </a:rPr>
              <a:t>TAL)</a:t>
            </a:r>
            <a:endParaRPr kumimoji="0" lang="en-IN" sz="4400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yington" pitchFamily="2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Introduction to TAL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Level </a:t>
            </a:r>
            <a:r>
              <a:rPr lang="en-US" dirty="0" smtClean="0"/>
              <a:t>Language, Block Structured works efficiently with Tandem hardware to provide optimal performance.</a:t>
            </a:r>
            <a:endParaRPr lang="en-US" dirty="0"/>
          </a:p>
          <a:p>
            <a:r>
              <a:rPr lang="en-US" dirty="0" smtClean="0"/>
              <a:t>Source </a:t>
            </a:r>
            <a:r>
              <a:rPr lang="en-US" dirty="0"/>
              <a:t>program is compiled into executable object </a:t>
            </a:r>
            <a:r>
              <a:rPr lang="en-US" dirty="0" smtClean="0"/>
              <a:t>code which can run.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Uses of Tal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Systems Software – OS components, Compilers etc</a:t>
            </a:r>
            <a:endParaRPr lang="en-US" dirty="0" smtClean="0"/>
          </a:p>
          <a:p>
            <a:r>
              <a:rPr lang="en-US" dirty="0" smtClean="0"/>
              <a:t>Application software – Optimal performance Software, all up time software etc</a:t>
            </a:r>
            <a:endParaRPr lang="en-US" dirty="0" smtClean="0"/>
          </a:p>
          <a:p>
            <a:pPr lvl="1"/>
            <a:r>
              <a:rPr lang="en-US" dirty="0" smtClean="0"/>
              <a:t>Procedures that are callable from programs written in other language.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Features of TAL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Procedures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/>
              <a:t>Subprocedures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Private Data Area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Bit Operations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Mixed-Language Programming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/>
              <a:t>NonStop</a:t>
            </a:r>
            <a:r>
              <a:rPr lang="en-US" dirty="0"/>
              <a:t> SQL Features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Also supports Pointers, Data Operations, Compiler Directives </a:t>
            </a:r>
            <a:r>
              <a:rPr lang="en-US" dirty="0" smtClean="0"/>
              <a:t>etc.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Modular programming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dirty="0"/>
              <a:t>Data </a:t>
            </a:r>
            <a:r>
              <a:rPr lang="en-US" dirty="0" smtClean="0"/>
              <a:t>Types			Description</a:t>
            </a:r>
            <a:endParaRPr 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STRING			8-bit  ( 1 byte) 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INT, INT(16</a:t>
            </a:r>
            <a:r>
              <a:rPr lang="en-US" dirty="0" smtClean="0"/>
              <a:t>)			16-bit ( 2 byte)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INT(32</a:t>
            </a:r>
            <a:r>
              <a:rPr lang="en-US" dirty="0" smtClean="0"/>
              <a:t>)				32-bit ( 4 byte)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FIXED, INT(64)		64-bit  ( 8 byte)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REAL</a:t>
            </a:r>
            <a:r>
              <a:rPr lang="en-US" dirty="0"/>
              <a:t>, REAL(32</a:t>
            </a:r>
            <a:r>
              <a:rPr lang="en-US" dirty="0" smtClean="0"/>
              <a:t>)		32-bit (4 byte)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REAL(64</a:t>
            </a:r>
            <a:r>
              <a:rPr lang="en-US" dirty="0" smtClean="0"/>
              <a:t>)			64-bit (8 byte)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UNSIGNED (n)  </a:t>
            </a:r>
            <a:r>
              <a:rPr lang="en-US" sz="2400" dirty="0"/>
              <a:t>where n bit field, 1&lt;=n&lt;=31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TAL Environment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	A program is a static group of machine instructions and initialized data that reside in a file. The object executes as individual process on the tandem system.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The environment includes</a:t>
            </a:r>
            <a:endParaRPr lang="en-US" dirty="0" smtClean="0"/>
          </a:p>
          <a:p>
            <a:r>
              <a:rPr lang="en-US" dirty="0" smtClean="0"/>
              <a:t>Code space (user and Library )</a:t>
            </a:r>
            <a:endParaRPr lang="en-US" dirty="0" smtClean="0"/>
          </a:p>
          <a:p>
            <a:r>
              <a:rPr lang="en-US" dirty="0" smtClean="0"/>
              <a:t>Data space ( User and Extended )</a:t>
            </a:r>
            <a:endParaRPr lang="en-US" dirty="0" smtClean="0"/>
          </a:p>
          <a:p>
            <a:r>
              <a:rPr lang="en-US" dirty="0" smtClean="0"/>
              <a:t>System Code Space</a:t>
            </a:r>
            <a:endParaRPr lang="en-US" dirty="0" smtClean="0"/>
          </a:p>
          <a:p>
            <a:r>
              <a:rPr lang="en-US" dirty="0" smtClean="0"/>
              <a:t>System Library Space</a:t>
            </a:r>
            <a:endParaRPr lang="en-US" dirty="0" smtClean="0"/>
          </a:p>
          <a:p>
            <a:r>
              <a:rPr lang="en-US" dirty="0" smtClean="0"/>
              <a:t>Registers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5715000" y="2667000"/>
          <a:ext cx="3962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Code Space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077200" cy="3763963"/>
          </a:xfrm>
        </p:spPr>
        <p:txBody>
          <a:bodyPr/>
          <a:lstStyle/>
          <a:p>
            <a:r>
              <a:rPr lang="en-US" dirty="0" smtClean="0"/>
              <a:t>Code Space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store the instructions in code</a:t>
            </a:r>
            <a:endParaRPr lang="en-US" dirty="0" smtClean="0"/>
          </a:p>
          <a:p>
            <a:pPr lvl="1"/>
            <a:r>
              <a:rPr lang="en-US" dirty="0" err="1" smtClean="0"/>
              <a:t>Upto</a:t>
            </a:r>
            <a:r>
              <a:rPr lang="en-US" dirty="0" smtClean="0"/>
              <a:t> 32 code segments</a:t>
            </a:r>
            <a:endParaRPr lang="en-US" dirty="0" smtClean="0"/>
          </a:p>
          <a:p>
            <a:pPr lvl="1"/>
            <a:r>
              <a:rPr lang="en-US" dirty="0" smtClean="0"/>
              <a:t>Each segment is 128KB</a:t>
            </a:r>
            <a:endParaRPr lang="en-US" dirty="0" smtClean="0"/>
          </a:p>
          <a:p>
            <a:pPr lvl="1"/>
            <a:r>
              <a:rPr lang="en-US" dirty="0" smtClean="0"/>
              <a:t>If object include library space then </a:t>
            </a:r>
            <a:r>
              <a:rPr lang="en-US" dirty="0" err="1" smtClean="0"/>
              <a:t>upto</a:t>
            </a:r>
            <a:r>
              <a:rPr lang="en-US" dirty="0" smtClean="0"/>
              <a:t> 16 code segments for library and 16 for code</a:t>
            </a:r>
            <a:endParaRPr lang="en-US" dirty="0" smtClean="0"/>
          </a:p>
          <a:p>
            <a:pPr lvl="1"/>
            <a:r>
              <a:rPr lang="en-US" dirty="0" smtClean="0"/>
              <a:t>If not then all 32 segments </a:t>
            </a:r>
            <a:r>
              <a:rPr lang="en-US" dirty="0" err="1" smtClean="0"/>
              <a:t>alloted</a:t>
            </a:r>
            <a:r>
              <a:rPr lang="en-US" dirty="0" smtClean="0"/>
              <a:t> to code.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Data Space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User data segment</a:t>
            </a:r>
            <a:endParaRPr lang="en-US" dirty="0" smtClean="0"/>
          </a:p>
          <a:p>
            <a:pPr lvl="1"/>
            <a:r>
              <a:rPr lang="en-US" dirty="0" smtClean="0"/>
              <a:t>Maximum 128K 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	( 64K words)</a:t>
            </a:r>
            <a:endParaRPr lang="en-US" dirty="0" smtClean="0"/>
          </a:p>
          <a:p>
            <a:pPr lvl="1"/>
            <a:r>
              <a:rPr lang="en-US" dirty="0" smtClean="0"/>
              <a:t>The lower 32K used for global data and dynamic allocation of local data</a:t>
            </a:r>
            <a:endParaRPr lang="en-US" dirty="0" smtClean="0"/>
          </a:p>
          <a:p>
            <a:pPr lvl="1"/>
            <a:r>
              <a:rPr lang="en-US" dirty="0" smtClean="0"/>
              <a:t>Upper 32K accessed by pointer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00575" y="609600"/>
            <a:ext cx="4543425" cy="598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DATA SPACE ( </a:t>
            </a:r>
            <a:r>
              <a:rPr lang="en-US" i="1" dirty="0" err="1" smtClean="0">
                <a:latin typeface="Byington" pitchFamily="2" charset="0"/>
              </a:rPr>
              <a:t>Contd</a:t>
            </a:r>
            <a:r>
              <a:rPr lang="en-US" dirty="0" smtClean="0"/>
              <a:t>)….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Any user defined data segment</a:t>
            </a:r>
            <a:endParaRPr lang="en-US" dirty="0" smtClean="0"/>
          </a:p>
          <a:p>
            <a:pPr lvl="2">
              <a:buNone/>
            </a:pPr>
            <a:r>
              <a:rPr lang="en-US" dirty="0" smtClean="0"/>
              <a:t>Extended data segment provides a indirect  storage in user data segment</a:t>
            </a:r>
            <a:endParaRPr lang="en-US" dirty="0" smtClean="0"/>
          </a:p>
          <a:p>
            <a:pPr lvl="2">
              <a:buNone/>
            </a:pPr>
            <a:r>
              <a:rPr lang="en-US" dirty="0" smtClean="0"/>
              <a:t>.ext is how we declare the extended variables</a:t>
            </a:r>
            <a:endParaRPr lang="en-US" dirty="0" smtClean="0"/>
          </a:p>
          <a:p>
            <a:pPr lvl="2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REGISTERS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 – Contains the address of the next instruction in the code</a:t>
            </a:r>
            <a:endParaRPr lang="en-US" dirty="0" smtClean="0"/>
          </a:p>
          <a:p>
            <a:r>
              <a:rPr lang="en-US" dirty="0" smtClean="0"/>
              <a:t>L – contains the address of the start of the local data area</a:t>
            </a:r>
            <a:endParaRPr lang="en-US" dirty="0" smtClean="0"/>
          </a:p>
          <a:p>
            <a:r>
              <a:rPr lang="en-US" dirty="0" smtClean="0"/>
              <a:t>S – contains the address of the last allocated word in the stack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Structure of the Program</a:t>
            </a:r>
            <a:endParaRPr lang="en-US" i="1" dirty="0">
              <a:latin typeface="Byington" pitchFamily="2" charset="0"/>
            </a:endParaRPr>
          </a:p>
        </p:txBody>
      </p:sp>
      <p:pic>
        <p:nvPicPr>
          <p:cNvPr id="66569" name="Picture 9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57200" y="1066800"/>
            <a:ext cx="4565650" cy="5410200"/>
          </a:xfrm>
          <a:prstGeom prst="rect">
            <a:avLst/>
          </a:prstGeom>
          <a:noFill/>
        </p:spPr>
      </p:pic>
      <p:sp>
        <p:nvSpPr>
          <p:cNvPr id="66570" name="Line 10"/>
          <p:cNvSpPr>
            <a:spLocks noChangeShapeType="1"/>
          </p:cNvSpPr>
          <p:nvPr/>
        </p:nvSpPr>
        <p:spPr bwMode="auto">
          <a:xfrm>
            <a:off x="2667000" y="1447800"/>
            <a:ext cx="2743200" cy="0"/>
          </a:xfrm>
          <a:prstGeom prst="line">
            <a:avLst/>
          </a:prstGeom>
          <a:noFill/>
          <a:ln w="9525">
            <a:solidFill>
              <a:srgbClr val="CDB9ED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571" name="Text Box 11"/>
          <p:cNvSpPr txBox="1">
            <a:spLocks noChangeArrowheads="1"/>
          </p:cNvSpPr>
          <p:nvPr/>
        </p:nvSpPr>
        <p:spPr bwMode="auto">
          <a:xfrm>
            <a:off x="5562600" y="1219200"/>
            <a:ext cx="3581400" cy="451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Name of the compilation unit</a:t>
            </a:r>
            <a:endParaRPr lang="en-US" sz="2000"/>
          </a:p>
          <a:p>
            <a:pPr>
              <a:spcBef>
                <a:spcPct val="50000"/>
              </a:spcBef>
            </a:pPr>
            <a:r>
              <a:rPr lang="en-US" sz="2000"/>
              <a:t>Unblocked global data </a:t>
            </a:r>
            <a:endParaRPr lang="en-US" sz="2000"/>
          </a:p>
          <a:p>
            <a:pPr>
              <a:spcBef>
                <a:spcPct val="50000"/>
              </a:spcBef>
            </a:pPr>
            <a:r>
              <a:rPr lang="en-US" sz="2000"/>
              <a:t>Blocked global data declarations</a:t>
            </a:r>
            <a:endParaRPr lang="en-US" sz="2000"/>
          </a:p>
          <a:p>
            <a:pPr>
              <a:spcBef>
                <a:spcPct val="50000"/>
              </a:spcBef>
            </a:pPr>
            <a:r>
              <a:rPr lang="en-US" sz="2000"/>
              <a:t>Proc declaration</a:t>
            </a:r>
            <a:endParaRPr lang="en-US" sz="2000"/>
          </a:p>
          <a:p>
            <a:pPr>
              <a:spcBef>
                <a:spcPct val="50000"/>
              </a:spcBef>
            </a:pPr>
            <a:r>
              <a:rPr lang="en-US" sz="2000"/>
              <a:t>Subproc declaration</a:t>
            </a:r>
            <a:endParaRPr lang="en-US" sz="2000"/>
          </a:p>
          <a:p>
            <a:pPr>
              <a:spcBef>
                <a:spcPct val="50000"/>
              </a:spcBef>
            </a:pPr>
            <a:endParaRPr lang="en-US" sz="2000"/>
          </a:p>
          <a:p>
            <a:pPr>
              <a:spcBef>
                <a:spcPct val="50000"/>
              </a:spcBef>
            </a:pPr>
            <a:endParaRPr lang="en-US" sz="2000"/>
          </a:p>
          <a:p>
            <a:pPr>
              <a:spcBef>
                <a:spcPct val="50000"/>
              </a:spcBef>
            </a:pPr>
            <a:endParaRPr lang="en-US" sz="2000"/>
          </a:p>
          <a:p>
            <a:pPr>
              <a:spcBef>
                <a:spcPct val="50000"/>
              </a:spcBef>
            </a:pPr>
            <a:r>
              <a:rPr lang="en-US" sz="2000"/>
              <a:t>Main proc declaration</a:t>
            </a:r>
            <a:endParaRPr lang="en-US" sz="2000"/>
          </a:p>
          <a:p>
            <a:pPr>
              <a:spcBef>
                <a:spcPct val="50000"/>
              </a:spcBef>
            </a:pPr>
            <a:endParaRPr lang="en-US" sz="2000"/>
          </a:p>
        </p:txBody>
      </p:sp>
      <p:sp>
        <p:nvSpPr>
          <p:cNvPr id="66572" name="Line 12"/>
          <p:cNvSpPr>
            <a:spLocks noChangeShapeType="1"/>
          </p:cNvSpPr>
          <p:nvPr/>
        </p:nvSpPr>
        <p:spPr bwMode="auto">
          <a:xfrm>
            <a:off x="3581400" y="1633538"/>
            <a:ext cx="1828800" cy="271462"/>
          </a:xfrm>
          <a:prstGeom prst="line">
            <a:avLst/>
          </a:prstGeom>
          <a:noFill/>
          <a:ln w="9525">
            <a:solidFill>
              <a:srgbClr val="CDB9ED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573" name="Line 13"/>
          <p:cNvSpPr>
            <a:spLocks noChangeShapeType="1"/>
          </p:cNvSpPr>
          <p:nvPr/>
        </p:nvSpPr>
        <p:spPr bwMode="auto">
          <a:xfrm>
            <a:off x="3352800" y="1828800"/>
            <a:ext cx="2057400" cy="457200"/>
          </a:xfrm>
          <a:prstGeom prst="line">
            <a:avLst/>
          </a:prstGeom>
          <a:noFill/>
          <a:ln w="9525">
            <a:solidFill>
              <a:srgbClr val="CDB9ED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574" name="Line 14"/>
          <p:cNvSpPr>
            <a:spLocks noChangeShapeType="1"/>
          </p:cNvSpPr>
          <p:nvPr/>
        </p:nvSpPr>
        <p:spPr bwMode="auto">
          <a:xfrm>
            <a:off x="2895600" y="2362200"/>
            <a:ext cx="2514600" cy="381000"/>
          </a:xfrm>
          <a:prstGeom prst="line">
            <a:avLst/>
          </a:prstGeom>
          <a:noFill/>
          <a:ln w="9525">
            <a:solidFill>
              <a:srgbClr val="CDB9ED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575" name="Line 15"/>
          <p:cNvSpPr>
            <a:spLocks noChangeShapeType="1"/>
          </p:cNvSpPr>
          <p:nvPr/>
        </p:nvSpPr>
        <p:spPr bwMode="auto">
          <a:xfrm>
            <a:off x="4038600" y="3276600"/>
            <a:ext cx="1371600" cy="0"/>
          </a:xfrm>
          <a:prstGeom prst="line">
            <a:avLst/>
          </a:prstGeom>
          <a:noFill/>
          <a:ln w="9525">
            <a:solidFill>
              <a:srgbClr val="CDB9ED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576" name="Line 16"/>
          <p:cNvSpPr>
            <a:spLocks noChangeShapeType="1"/>
          </p:cNvSpPr>
          <p:nvPr/>
        </p:nvSpPr>
        <p:spPr bwMode="auto">
          <a:xfrm>
            <a:off x="4419600" y="5105400"/>
            <a:ext cx="990600" cy="0"/>
          </a:xfrm>
          <a:prstGeom prst="line">
            <a:avLst/>
          </a:prstGeom>
          <a:noFill/>
          <a:ln w="9525">
            <a:solidFill>
              <a:srgbClr val="CDB9ED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9248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Structure of the Program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458200" cy="5029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NAME – Name of the compilation unit</a:t>
            </a:r>
            <a:endParaRPr lang="en-US" dirty="0"/>
          </a:p>
          <a:p>
            <a:r>
              <a:rPr lang="en-US" dirty="0"/>
              <a:t>Global Data – Data that can be accessed by all compilation units</a:t>
            </a:r>
            <a:endParaRPr lang="en-US" dirty="0"/>
          </a:p>
          <a:p>
            <a:r>
              <a:rPr lang="en-US" dirty="0"/>
              <a:t>All global declarations </a:t>
            </a:r>
            <a:r>
              <a:rPr lang="en-US" b="1" i="1" dirty="0"/>
              <a:t>must </a:t>
            </a:r>
            <a:r>
              <a:rPr lang="en-US" dirty="0"/>
              <a:t>appear before any proc declarations, except LITERAL &amp; DEFINE</a:t>
            </a:r>
            <a:endParaRPr lang="en-US" dirty="0"/>
          </a:p>
          <a:p>
            <a:r>
              <a:rPr lang="en-US" dirty="0" smtClean="0"/>
              <a:t>Block global declaration </a:t>
            </a:r>
            <a:r>
              <a:rPr lang="en-US" dirty="0"/>
              <a:t>– Grouping of the variable and naming </a:t>
            </a:r>
            <a:r>
              <a:rPr lang="en-US" dirty="0" smtClean="0"/>
              <a:t>it with </a:t>
            </a:r>
            <a:r>
              <a:rPr lang="en-US" dirty="0"/>
              <a:t>‘BLOCK’ – ‘END BLOCK’ verb</a:t>
            </a:r>
            <a:endParaRPr lang="en-US" dirty="0"/>
          </a:p>
          <a:p>
            <a:pPr>
              <a:buNone/>
            </a:pPr>
            <a:r>
              <a:rPr lang="en-US" dirty="0" smtClean="0"/>
              <a:t>	The BLOCK declaration is used to group global data into named or private data blocks. Block can be shared within the various compilation units</a:t>
            </a:r>
            <a:endParaRPr lang="en-US" dirty="0" smtClean="0"/>
          </a:p>
          <a:p>
            <a:r>
              <a:rPr lang="en-US" dirty="0" smtClean="0"/>
              <a:t>PRIVATE</a:t>
            </a:r>
            <a:r>
              <a:rPr lang="en-US" dirty="0"/>
              <a:t>’ block can be declared for that specific compilation </a:t>
            </a:r>
            <a:r>
              <a:rPr lang="en-US" dirty="0" smtClean="0"/>
              <a:t>unit</a:t>
            </a:r>
            <a:endParaRPr lang="en-US" dirty="0" smtClean="0"/>
          </a:p>
          <a:p>
            <a:r>
              <a:rPr lang="en-US" dirty="0" smtClean="0"/>
              <a:t>Procedure Declaration</a:t>
            </a:r>
            <a:endParaRPr lang="en-US" dirty="0" smtClean="0"/>
          </a:p>
          <a:p>
            <a:pPr lvl="1"/>
            <a:r>
              <a:rPr lang="en-US" dirty="0" smtClean="0"/>
              <a:t>Local declaration</a:t>
            </a:r>
            <a:endParaRPr lang="en-US" dirty="0" smtClean="0"/>
          </a:p>
          <a:p>
            <a:pPr lvl="1"/>
            <a:r>
              <a:rPr lang="en-US" dirty="0" smtClean="0"/>
              <a:t>Sub-local declaration</a:t>
            </a:r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80010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Structure of the Program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4582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Name MYPROC;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Blocked Declaration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BLOCK ABC;</a:t>
            </a:r>
            <a:endParaRPr lang="en-US" dirty="0" smtClean="0"/>
          </a:p>
          <a:p>
            <a:pPr lvl="1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a;</a:t>
            </a:r>
            <a:endParaRPr lang="en-US" dirty="0" smtClean="0"/>
          </a:p>
          <a:p>
            <a:pPr lvl="1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b;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END BLOCK</a:t>
            </a:r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65532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Declaring Procedures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458200" cy="5029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dirty="0" smtClean="0"/>
              <a:t>Sample procedure : 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proc MYPROC;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a,b,c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 := a +b;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End;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smtClean="0"/>
              <a:t>Forward Declarations : If you want to call a procedure before you declare the procedure body, then we declare it as FORWARD.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proc </a:t>
            </a:r>
            <a:r>
              <a:rPr lang="en-US" sz="2000" i="1" dirty="0" err="1" smtClean="0"/>
              <a:t>to_come</a:t>
            </a:r>
            <a:r>
              <a:rPr lang="en-US" sz="2000" dirty="0" smtClean="0"/>
              <a:t>; FORWARD;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External Declaration : If you want to call a procedure that is compiled in another compilation unit, then we declare the procedure as EXTERNAL.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 lvl="1">
              <a:buNone/>
            </a:pPr>
            <a:r>
              <a:rPr lang="en-US" sz="1800" dirty="0" smtClean="0"/>
              <a:t>	proc </a:t>
            </a:r>
            <a:r>
              <a:rPr lang="en-US" sz="1800" i="1" dirty="0" err="1" smtClean="0"/>
              <a:t>in_another</a:t>
            </a:r>
            <a:r>
              <a:rPr lang="en-US" sz="1800" dirty="0" smtClean="0"/>
              <a:t>; EXTERNAL;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>
            <a:normAutofit/>
          </a:bodyPr>
          <a:lstStyle/>
          <a:p>
            <a:r>
              <a:rPr lang="en-US" i="1" dirty="0" smtClean="0">
                <a:latin typeface="Byington" pitchFamily="2" charset="0"/>
              </a:rPr>
              <a:t>Constants, defines, Literals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 smtClean="0"/>
              <a:t>CONSTANTS</a:t>
            </a:r>
            <a:r>
              <a:rPr lang="en-US" dirty="0" smtClean="0"/>
              <a:t> can be numbers or strings, and can be assigned to variables, declare as a literal. Various types of constants are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String Constants  - “ABCDEFG”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Integer Constants – 		255 		</a:t>
            </a:r>
            <a:r>
              <a:rPr lang="en-US" dirty="0" smtClean="0">
                <a:solidFill>
                  <a:srgbClr val="FF0000"/>
                </a:solidFill>
              </a:rPr>
              <a:t>! Decimal base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				%122		</a:t>
            </a:r>
            <a:r>
              <a:rPr lang="en-US" dirty="0" smtClean="0">
                <a:solidFill>
                  <a:srgbClr val="FF0000"/>
                </a:solidFill>
              </a:rPr>
              <a:t>! Octal Base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				%B1010		</a:t>
            </a:r>
            <a:r>
              <a:rPr lang="en-US" dirty="0" smtClean="0">
                <a:solidFill>
                  <a:srgbClr val="FF0000"/>
                </a:solidFill>
              </a:rPr>
              <a:t>! Binary base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				%H2F		</a:t>
            </a:r>
            <a:r>
              <a:rPr lang="en-US" dirty="0" smtClean="0">
                <a:solidFill>
                  <a:srgbClr val="FF0000"/>
                </a:solidFill>
              </a:rPr>
              <a:t>! Hexadecimal base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( 32) 			+14769D………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Fixed point constants		</a:t>
            </a:r>
            <a:r>
              <a:rPr lang="en-US" dirty="0" smtClean="0"/>
              <a:t>1200.09F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Floting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point constants		30.3E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 smtClean="0"/>
          </a:p>
          <a:p>
            <a:r>
              <a:rPr lang="en-US" b="1" dirty="0" smtClean="0"/>
              <a:t>DEFINE </a:t>
            </a:r>
            <a:r>
              <a:rPr lang="en-US" dirty="0" smtClean="0"/>
              <a:t>a named sequence of text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DEFINE       </a:t>
            </a:r>
            <a:r>
              <a:rPr lang="en-US" dirty="0" err="1" smtClean="0"/>
              <a:t>diebold^atm^d</a:t>
            </a:r>
            <a:r>
              <a:rPr lang="en-US" dirty="0" smtClean="0"/>
              <a:t>             =                      atdd1^core.term^typ = "30"#,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LITERAL</a:t>
            </a:r>
            <a:r>
              <a:rPr lang="en-US" dirty="0" smtClean="0"/>
              <a:t> a named constant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None/>
            </a:pPr>
            <a:r>
              <a:rPr lang="en-US" sz="2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9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900" dirty="0" smtClean="0"/>
              <a:t>LITERAL true = -1,</a:t>
            </a:r>
            <a:endParaRPr lang="en-US" sz="2900" dirty="0" smtClean="0"/>
          </a:p>
          <a:p>
            <a:pPr lvl="3">
              <a:buNone/>
            </a:pPr>
            <a:r>
              <a:rPr lang="en-US" sz="2900" dirty="0" smtClean="0"/>
              <a:t>	false = 0,</a:t>
            </a:r>
            <a:endParaRPr lang="en-US" sz="2900" dirty="0" smtClean="0"/>
          </a:p>
          <a:p>
            <a:pPr>
              <a:buNone/>
            </a:pPr>
            <a:r>
              <a:rPr lang="en-US" sz="2900" dirty="0" smtClean="0"/>
              <a:t>		               chars = "AB";</a:t>
            </a:r>
            <a:endParaRPr lang="en-US" sz="2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Simple Variables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Variable is a symbolic representation of a item or a group of elements. The value of the variables can change during the program execution.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INT </a:t>
            </a:r>
            <a:r>
              <a:rPr lang="en-US" dirty="0"/>
              <a:t>num;</a:t>
            </a:r>
            <a:endParaRPr lang="en-US" dirty="0"/>
          </a:p>
          <a:p>
            <a:pPr>
              <a:buNone/>
            </a:pPr>
            <a:r>
              <a:rPr lang="en-US" dirty="0"/>
              <a:t>INT num1,</a:t>
            </a:r>
            <a:endParaRPr 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dirty="0" smtClean="0"/>
              <a:t>      </a:t>
            </a:r>
            <a:r>
              <a:rPr lang="en-US" dirty="0"/>
              <a:t>num2;</a:t>
            </a:r>
            <a:endParaRPr lang="en-US" dirty="0"/>
          </a:p>
          <a:p>
            <a:pPr>
              <a:buNone/>
            </a:pPr>
            <a:r>
              <a:rPr lang="en-US" dirty="0"/>
              <a:t>INT </a:t>
            </a:r>
            <a:r>
              <a:rPr lang="en-US" dirty="0" err="1"/>
              <a:t>var</a:t>
            </a:r>
            <a:r>
              <a:rPr lang="en-US" dirty="0"/>
              <a:t> := 5;</a:t>
            </a:r>
            <a:endParaRPr lang="en-US" dirty="0"/>
          </a:p>
          <a:p>
            <a:pPr>
              <a:buNone/>
            </a:pPr>
            <a:r>
              <a:rPr lang="en-US" dirty="0"/>
              <a:t>INT chars := "AB";</a:t>
            </a:r>
            <a:endParaRPr lang="en-US" dirty="0"/>
          </a:p>
          <a:p>
            <a:pPr>
              <a:buNone/>
            </a:pPr>
            <a:r>
              <a:rPr lang="en-US" dirty="0"/>
              <a:t>STRING a := “XYZ”;</a:t>
            </a:r>
            <a:endParaRPr lang="en-US" dirty="0"/>
          </a:p>
          <a:p>
            <a:pPr>
              <a:buNone/>
            </a:pPr>
            <a:r>
              <a:rPr lang="en-US" dirty="0"/>
              <a:t>STRING b := 123</a:t>
            </a:r>
            <a:r>
              <a:rPr lang="en-US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INT(32) n     :=  100D;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INT(32) </a:t>
            </a:r>
            <a:r>
              <a:rPr lang="en-US" dirty="0" err="1" smtClean="0"/>
              <a:t>ch</a:t>
            </a:r>
            <a:r>
              <a:rPr lang="en-US" dirty="0" smtClean="0"/>
              <a:t>   :=  “IJKL”;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REAL r         :=  0.6E0;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REAL(64) r1 : =  0.576383L1;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FIXED f       := 300.089F;</a:t>
            </a: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Sample Program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982200" cy="452596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NAME MYFIRST;			- </a:t>
            </a:r>
            <a:r>
              <a:rPr lang="en-US" sz="2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declaration</a:t>
            </a:r>
            <a:endParaRPr lang="en-US" sz="2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 TOTAL;			- </a:t>
            </a:r>
            <a:r>
              <a:rPr lang="en-US" sz="2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 data declaration</a:t>
            </a:r>
            <a:endParaRPr lang="en-US" sz="2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 shared;			- </a:t>
            </a:r>
            <a:r>
              <a:rPr lang="en-US" sz="2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Named data blocks</a:t>
            </a:r>
            <a:endParaRPr lang="en-US" sz="2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  <a:endParaRPr lang="en-US" sz="26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b;</a:t>
            </a:r>
            <a:endParaRPr lang="en-US" sz="26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BLOCK;</a:t>
            </a:r>
            <a:endParaRPr lang="en-US" sz="26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PROC </a:t>
            </a:r>
            <a:r>
              <a:rPr lang="en-US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my_proc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			- </a:t>
            </a:r>
            <a:r>
              <a:rPr lang="en-US" sz="2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 heading</a:t>
            </a:r>
            <a:endParaRPr lang="en-US" sz="2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total := a + b; 		- </a:t>
            </a:r>
            <a:r>
              <a:rPr lang="en-US" sz="2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Procedure Body</a:t>
            </a:r>
            <a:endParaRPr lang="en-US" sz="2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END;</a:t>
            </a:r>
            <a:endParaRPr lang="en-US" sz="2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ENTRY POINTS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smtClean="0"/>
              <a:t>A procedure entry point is an identifier by which callers can call a procedure. </a:t>
            </a:r>
            <a:endParaRPr lang="en-US" dirty="0" smtClean="0"/>
          </a:p>
          <a:p>
            <a:r>
              <a:rPr lang="en-US" dirty="0" smtClean="0"/>
              <a:t>Secondary entry points are entry-point identifiers declared within the procedure and then placed at statements where the procedure can begin executing.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PROC </a:t>
            </a:r>
            <a:r>
              <a:rPr lang="en-US" dirty="0" err="1" smtClean="0"/>
              <a:t>myproc</a:t>
            </a:r>
            <a:r>
              <a:rPr lang="en-US" dirty="0" smtClean="0"/>
              <a:t> (</a:t>
            </a:r>
            <a:r>
              <a:rPr lang="en-US" dirty="0" err="1" smtClean="0"/>
              <a:t>param</a:t>
            </a:r>
            <a:r>
              <a:rPr lang="en-US" dirty="0" smtClean="0"/>
              <a:t>); 		</a:t>
            </a:r>
            <a:r>
              <a:rPr lang="en-US" dirty="0" smtClean="0">
                <a:solidFill>
                  <a:srgbClr val="FF0000"/>
                </a:solidFill>
              </a:rPr>
              <a:t>!Declare the procedure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INT </a:t>
            </a:r>
            <a:r>
              <a:rPr lang="en-US" dirty="0" err="1" smtClean="0"/>
              <a:t>param</a:t>
            </a:r>
            <a:r>
              <a:rPr lang="en-US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BEGIN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ENTRY entry1; 			</a:t>
            </a:r>
            <a:r>
              <a:rPr lang="en-US" dirty="0" smtClean="0">
                <a:solidFill>
                  <a:srgbClr val="FF0000"/>
                </a:solidFill>
              </a:rPr>
              <a:t>!Declare entry-point identifier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INT </a:t>
            </a:r>
            <a:r>
              <a:rPr lang="en-US" dirty="0" err="1" smtClean="0"/>
              <a:t>var</a:t>
            </a:r>
            <a:r>
              <a:rPr lang="en-US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!Some code here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entry1: 			</a:t>
            </a:r>
            <a:r>
              <a:rPr lang="en-US" dirty="0" smtClean="0">
                <a:solidFill>
                  <a:srgbClr val="FF0000"/>
                </a:solidFill>
              </a:rPr>
              <a:t>!Apply entry-point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var</a:t>
            </a:r>
            <a:r>
              <a:rPr lang="en-US" dirty="0" smtClean="0"/>
              <a:t> := </a:t>
            </a:r>
            <a:r>
              <a:rPr lang="en-US" dirty="0" err="1" smtClean="0"/>
              <a:t>var</a:t>
            </a:r>
            <a:r>
              <a:rPr lang="en-US" dirty="0" smtClean="0"/>
              <a:t> - </a:t>
            </a:r>
            <a:r>
              <a:rPr lang="en-US" dirty="0" err="1" smtClean="0"/>
              <a:t>param</a:t>
            </a:r>
            <a:r>
              <a:rPr lang="en-US" dirty="0" smtClean="0"/>
              <a:t>; 		</a:t>
            </a:r>
            <a:r>
              <a:rPr lang="en-US" dirty="0" smtClean="0">
                <a:solidFill>
                  <a:srgbClr val="FF0000"/>
                </a:solidFill>
              </a:rPr>
              <a:t>! identifier to statement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!More code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END;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An example of entry point in base24 is the proc </a:t>
            </a:r>
            <a:r>
              <a:rPr lang="en-US" i="1" dirty="0" err="1" smtClean="0"/>
              <a:t>get^iso^crncy^cntry^cdes</a:t>
            </a:r>
            <a:r>
              <a:rPr lang="en-US" dirty="0" smtClean="0"/>
              <a:t> in </a:t>
            </a:r>
            <a:r>
              <a:rPr lang="en-US" i="1" dirty="0" err="1" smtClean="0"/>
              <a:t>bautils</a:t>
            </a:r>
            <a:r>
              <a:rPr lang="en-US" dirty="0" err="1" smtClean="0"/>
              <a:t>,which</a:t>
            </a:r>
            <a:r>
              <a:rPr lang="en-US" dirty="0" smtClean="0"/>
              <a:t> is being called by the various callers directly by calling the entry points like </a:t>
            </a:r>
            <a:r>
              <a:rPr lang="en-US" i="1" dirty="0" err="1" smtClean="0"/>
              <a:t>get^iso^dec^places</a:t>
            </a:r>
            <a:r>
              <a:rPr lang="en-US" i="1" dirty="0" smtClean="0"/>
              <a:t>( N50S), </a:t>
            </a:r>
            <a:r>
              <a:rPr lang="en-US" i="1" dirty="0" err="1" smtClean="0"/>
              <a:t>get^iso^cntry^data</a:t>
            </a:r>
            <a:r>
              <a:rPr lang="en-US" i="1" dirty="0" smtClean="0"/>
              <a:t>, </a:t>
            </a:r>
            <a:r>
              <a:rPr lang="en-US" i="1" dirty="0" err="1" smtClean="0"/>
              <a:t>get^iso^crncy^cde^alpha</a:t>
            </a:r>
            <a:r>
              <a:rPr lang="en-US" i="1" dirty="0" smtClean="0"/>
              <a:t>, </a:t>
            </a:r>
            <a:r>
              <a:rPr lang="en-US" i="1" dirty="0" err="1" smtClean="0"/>
              <a:t>crncy^dec^places^alpha</a:t>
            </a:r>
            <a:r>
              <a:rPr lang="en-US" i="1" dirty="0" smtClean="0"/>
              <a:t>, </a:t>
            </a:r>
            <a:r>
              <a:rPr lang="en-US" i="1" dirty="0" err="1" smtClean="0"/>
              <a:t>conv^cntry^cde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Addressing Modes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 </a:t>
            </a:r>
            <a:r>
              <a:rPr lang="en-US" dirty="0" smtClean="0"/>
              <a:t>Addressing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1800" dirty="0" smtClean="0"/>
              <a:t>The entire 128K user data area is word addressable, however the lower 64K is byte addressable with 16 bit pointers.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	Address conversion can be performed using an unsigned (‘&lt;&lt;‘ or ‘&gt;&gt;’) shift.</a:t>
            </a:r>
            <a:endParaRPr lang="en-US" sz="1800" dirty="0"/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5715000" y="3657600"/>
            <a:ext cx="16002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INT A := 300;</a:t>
            </a:r>
            <a:endParaRPr lang="en-US"/>
          </a:p>
        </p:txBody>
      </p:sp>
      <p:sp>
        <p:nvSpPr>
          <p:cNvPr id="80902" name="Rectangle 6"/>
          <p:cNvSpPr>
            <a:spLocks noChangeArrowheads="1"/>
          </p:cNvSpPr>
          <p:nvPr/>
        </p:nvSpPr>
        <p:spPr bwMode="auto">
          <a:xfrm>
            <a:off x="5715000" y="4267200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/>
              <a:t>300</a:t>
            </a:r>
            <a:endParaRPr lang="en-US"/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5334000" y="4343400"/>
            <a:ext cx="3048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  <a:endParaRPr lang="en-US"/>
          </a:p>
        </p:txBody>
      </p:sp>
      <p:sp>
        <p:nvSpPr>
          <p:cNvPr id="80905" name="Rectangle 9"/>
          <p:cNvSpPr>
            <a:spLocks noChangeArrowheads="1"/>
          </p:cNvSpPr>
          <p:nvPr/>
        </p:nvSpPr>
        <p:spPr bwMode="auto">
          <a:xfrm>
            <a:off x="5715000" y="4724400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0906" name="Rectangle 10"/>
          <p:cNvSpPr>
            <a:spLocks noChangeArrowheads="1"/>
          </p:cNvSpPr>
          <p:nvPr/>
        </p:nvSpPr>
        <p:spPr bwMode="auto">
          <a:xfrm>
            <a:off x="5724525" y="5562600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0907" name="Line 11"/>
          <p:cNvSpPr>
            <a:spLocks noChangeShapeType="1"/>
          </p:cNvSpPr>
          <p:nvPr/>
        </p:nvSpPr>
        <p:spPr bwMode="auto">
          <a:xfrm>
            <a:off x="6629400" y="5210175"/>
            <a:ext cx="0" cy="3524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38200" y="3684587"/>
            <a:ext cx="4038600" cy="27924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Addressing Modes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3505200"/>
          </a:xfrm>
        </p:spPr>
        <p:txBody>
          <a:bodyPr/>
          <a:lstStyle/>
          <a:p>
            <a:r>
              <a:rPr lang="en-US" dirty="0"/>
              <a:t>Indirect Addressing</a:t>
            </a:r>
            <a:endParaRPr lang="en-US" dirty="0"/>
          </a:p>
          <a:p>
            <a:pPr lvl="2"/>
            <a:r>
              <a:rPr lang="en-US" dirty="0"/>
              <a:t>Requires two memory references</a:t>
            </a:r>
            <a:endParaRPr lang="en-US" dirty="0"/>
          </a:p>
          <a:p>
            <a:pPr lvl="3"/>
            <a:r>
              <a:rPr lang="en-US" dirty="0"/>
              <a:t>First to location that contains an </a:t>
            </a:r>
            <a:r>
              <a:rPr lang="en-US" dirty="0" smtClean="0"/>
              <a:t>address in primary storage </a:t>
            </a:r>
            <a:endParaRPr lang="en-US" dirty="0"/>
          </a:p>
          <a:p>
            <a:pPr lvl="3"/>
            <a:r>
              <a:rPr lang="en-US" dirty="0"/>
              <a:t>Next to data located at the </a:t>
            </a:r>
            <a:r>
              <a:rPr lang="en-US" dirty="0" smtClean="0"/>
              <a:t>address in secondary storage</a:t>
            </a:r>
            <a:endParaRPr lang="en-US" dirty="0"/>
          </a:p>
          <a:p>
            <a:pPr lvl="2"/>
            <a:r>
              <a:rPr lang="en-US" dirty="0"/>
              <a:t>To save space in limited storage areas</a:t>
            </a:r>
            <a:endParaRPr lang="en-US" dirty="0"/>
          </a:p>
          <a:p>
            <a:pPr lvl="2">
              <a:buFont typeface="Wingdings" panose="05000000000000000000" pitchFamily="2" charset="2"/>
              <a:buNone/>
            </a:pPr>
            <a:endParaRPr lang="en-US" dirty="0"/>
          </a:p>
          <a:p>
            <a:pPr lvl="2">
              <a:buFont typeface="Wingdings" panose="05000000000000000000" pitchFamily="2" charset="2"/>
              <a:buNone/>
            </a:pPr>
            <a:r>
              <a:rPr lang="en-US" dirty="0"/>
              <a:t>INT .A := 8;</a:t>
            </a:r>
            <a:endParaRPr lang="en-US" dirty="0"/>
          </a:p>
          <a:p>
            <a:pPr lvl="2">
              <a:buFont typeface="Wingdings" panose="05000000000000000000" pitchFamily="2" charset="2"/>
              <a:buNone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81945" name="Line 25"/>
          <p:cNvSpPr>
            <a:spLocks noChangeShapeType="1"/>
          </p:cNvSpPr>
          <p:nvPr/>
        </p:nvSpPr>
        <p:spPr bwMode="auto">
          <a:xfrm flipH="1">
            <a:off x="1066800" y="4648200"/>
            <a:ext cx="533400" cy="15240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47" name="Text Box 27"/>
          <p:cNvSpPr txBox="1">
            <a:spLocks noChangeArrowheads="1"/>
          </p:cNvSpPr>
          <p:nvPr/>
        </p:nvSpPr>
        <p:spPr bwMode="auto">
          <a:xfrm>
            <a:off x="152400" y="4800600"/>
            <a:ext cx="11430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Type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1948" name="Line 28"/>
          <p:cNvSpPr>
            <a:spLocks noChangeShapeType="1"/>
          </p:cNvSpPr>
          <p:nvPr/>
        </p:nvSpPr>
        <p:spPr bwMode="auto">
          <a:xfrm>
            <a:off x="2100263" y="4572000"/>
            <a:ext cx="0" cy="45720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49" name="Text Box 29"/>
          <p:cNvSpPr txBox="1">
            <a:spLocks noChangeArrowheads="1"/>
          </p:cNvSpPr>
          <p:nvPr/>
        </p:nvSpPr>
        <p:spPr bwMode="auto">
          <a:xfrm>
            <a:off x="1524000" y="5105400"/>
            <a:ext cx="13716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Indirection Symbol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1950" name="Line 30"/>
          <p:cNvSpPr>
            <a:spLocks noChangeShapeType="1"/>
          </p:cNvSpPr>
          <p:nvPr/>
        </p:nvSpPr>
        <p:spPr bwMode="auto">
          <a:xfrm>
            <a:off x="2286000" y="4572000"/>
            <a:ext cx="1524000" cy="53340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51" name="Text Box 31"/>
          <p:cNvSpPr txBox="1">
            <a:spLocks noChangeArrowheads="1"/>
          </p:cNvSpPr>
          <p:nvPr/>
        </p:nvSpPr>
        <p:spPr bwMode="auto">
          <a:xfrm>
            <a:off x="3810000" y="4953000"/>
            <a:ext cx="13716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Identifier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1952" name="Line 32"/>
          <p:cNvSpPr>
            <a:spLocks noChangeShapeType="1"/>
          </p:cNvSpPr>
          <p:nvPr/>
        </p:nvSpPr>
        <p:spPr bwMode="auto">
          <a:xfrm>
            <a:off x="2895600" y="4448175"/>
            <a:ext cx="1143000" cy="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53" name="Text Box 33"/>
          <p:cNvSpPr txBox="1">
            <a:spLocks noChangeArrowheads="1"/>
          </p:cNvSpPr>
          <p:nvPr/>
        </p:nvSpPr>
        <p:spPr bwMode="auto">
          <a:xfrm>
            <a:off x="4038600" y="4267200"/>
            <a:ext cx="13716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Value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>
            <a:normAutofit/>
          </a:bodyPr>
          <a:lstStyle/>
          <a:p>
            <a:r>
              <a:rPr lang="en-US" i="1" dirty="0">
                <a:latin typeface="Byington" pitchFamily="2" charset="0"/>
              </a:rPr>
              <a:t>Addressing </a:t>
            </a:r>
            <a:r>
              <a:rPr lang="en-US" i="1" dirty="0" smtClean="0">
                <a:latin typeface="Byington" pitchFamily="2" charset="0"/>
              </a:rPr>
              <a:t>Modes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70000" lnSpcReduction="20000"/>
          </a:bodyPr>
          <a:lstStyle/>
          <a:p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 smtClean="0"/>
              <a:t>Indirect Addressing</a:t>
            </a:r>
            <a:endParaRPr lang="en-US" dirty="0" smtClean="0"/>
          </a:p>
          <a:p>
            <a:pPr>
              <a:buNone/>
            </a:pP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Example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.A[0:1]; ! Initialize A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.B;        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!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Initialize B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A[0] := 8;  ! Assign to A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A[1] := 9; 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B := 10;  ! Assign to 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</a:t>
            </a:r>
            <a:endParaRPr lang="en-US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GLOBAL MAP</a:t>
            </a:r>
            <a:endParaRPr lang="en-US" sz="2400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A   INT G+ 001 INDIRECT</a:t>
            </a:r>
            <a:endParaRPr lang="en-US" sz="2400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B   INT G + 002 INDIRECT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4572000" y="2305050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hlink"/>
                </a:solidFill>
              </a:rPr>
              <a:t>200</a:t>
            </a:r>
            <a:endParaRPr lang="en-US">
              <a:solidFill>
                <a:schemeClr val="hlink"/>
              </a:solidFill>
            </a:endParaRPr>
          </a:p>
        </p:txBody>
      </p:sp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4648200" y="2362200"/>
            <a:ext cx="3048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A</a:t>
            </a:r>
            <a:endParaRPr lang="en-US" dirty="0"/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4572000" y="2762250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hlink"/>
                </a:solidFill>
              </a:rPr>
              <a:t>204</a:t>
            </a:r>
            <a:endParaRPr lang="en-US">
              <a:solidFill>
                <a:schemeClr val="hlink"/>
              </a:solidFill>
            </a:endParaRPr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4572000" y="3600450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8072" name="Line 8"/>
          <p:cNvSpPr>
            <a:spLocks noChangeShapeType="1"/>
          </p:cNvSpPr>
          <p:nvPr/>
        </p:nvSpPr>
        <p:spPr bwMode="auto">
          <a:xfrm>
            <a:off x="5486400" y="3219450"/>
            <a:ext cx="0" cy="3524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076" name="Text Box 12"/>
          <p:cNvSpPr txBox="1">
            <a:spLocks noChangeArrowheads="1"/>
          </p:cNvSpPr>
          <p:nvPr/>
        </p:nvSpPr>
        <p:spPr bwMode="auto">
          <a:xfrm>
            <a:off x="7086600" y="2438400"/>
            <a:ext cx="16002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Implicit Pointer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8081" name="AutoShape 17"/>
          <p:cNvSpPr/>
          <p:nvPr/>
        </p:nvSpPr>
        <p:spPr bwMode="auto">
          <a:xfrm>
            <a:off x="6553200" y="2305050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9525">
            <a:solidFill>
              <a:srgbClr val="9EA2A4"/>
            </a:solidFill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83" name="Text Box 19"/>
          <p:cNvSpPr txBox="1">
            <a:spLocks noChangeArrowheads="1"/>
          </p:cNvSpPr>
          <p:nvPr/>
        </p:nvSpPr>
        <p:spPr bwMode="auto">
          <a:xfrm>
            <a:off x="6781800" y="2990850"/>
            <a:ext cx="21336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Primary Storage Area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8092" name="Rectangle 28"/>
          <p:cNvSpPr>
            <a:spLocks noChangeArrowheads="1"/>
          </p:cNvSpPr>
          <p:nvPr/>
        </p:nvSpPr>
        <p:spPr bwMode="auto">
          <a:xfrm>
            <a:off x="4572000" y="4495800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  <a:endParaRPr lang="en-US"/>
          </a:p>
        </p:txBody>
      </p:sp>
      <p:sp>
        <p:nvSpPr>
          <p:cNvPr id="88093" name="Rectangle 29"/>
          <p:cNvSpPr>
            <a:spLocks noChangeArrowheads="1"/>
          </p:cNvSpPr>
          <p:nvPr/>
        </p:nvSpPr>
        <p:spPr bwMode="auto">
          <a:xfrm>
            <a:off x="4572000" y="4953000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/>
              <a:t>9</a:t>
            </a:r>
            <a:endParaRPr lang="en-US"/>
          </a:p>
        </p:txBody>
      </p:sp>
      <p:sp>
        <p:nvSpPr>
          <p:cNvPr id="88094" name="Rectangle 30"/>
          <p:cNvSpPr>
            <a:spLocks noChangeArrowheads="1"/>
          </p:cNvSpPr>
          <p:nvPr/>
        </p:nvSpPr>
        <p:spPr bwMode="auto">
          <a:xfrm>
            <a:off x="4572000" y="6172200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8095" name="Line 31"/>
          <p:cNvSpPr>
            <a:spLocks noChangeShapeType="1"/>
          </p:cNvSpPr>
          <p:nvPr/>
        </p:nvSpPr>
        <p:spPr bwMode="auto">
          <a:xfrm>
            <a:off x="5486400" y="5867400"/>
            <a:ext cx="0" cy="3095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096" name="AutoShape 32"/>
          <p:cNvSpPr/>
          <p:nvPr/>
        </p:nvSpPr>
        <p:spPr bwMode="auto">
          <a:xfrm>
            <a:off x="6553200" y="4495800"/>
            <a:ext cx="228600" cy="2133600"/>
          </a:xfrm>
          <a:prstGeom prst="rightBrace">
            <a:avLst>
              <a:gd name="adj1" fmla="val 77778"/>
              <a:gd name="adj2" fmla="val 50000"/>
            </a:avLst>
          </a:prstGeom>
          <a:noFill/>
          <a:ln w="9525">
            <a:solidFill>
              <a:srgbClr val="9EA2A4"/>
            </a:solidFill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097" name="Text Box 33"/>
          <p:cNvSpPr txBox="1">
            <a:spLocks noChangeArrowheads="1"/>
          </p:cNvSpPr>
          <p:nvPr/>
        </p:nvSpPr>
        <p:spPr bwMode="auto">
          <a:xfrm>
            <a:off x="6781800" y="5334000"/>
            <a:ext cx="23622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Secondary Storage Area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8098" name="Text Box 34"/>
          <p:cNvSpPr txBox="1">
            <a:spLocks noChangeArrowheads="1"/>
          </p:cNvSpPr>
          <p:nvPr/>
        </p:nvSpPr>
        <p:spPr bwMode="auto">
          <a:xfrm>
            <a:off x="3962400" y="4572000"/>
            <a:ext cx="6096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200</a:t>
            </a:r>
            <a:endParaRPr lang="en-US">
              <a:solidFill>
                <a:schemeClr val="hlink"/>
              </a:solidFill>
            </a:endParaRPr>
          </a:p>
        </p:txBody>
      </p:sp>
      <p:sp>
        <p:nvSpPr>
          <p:cNvPr id="88099" name="Text Box 35"/>
          <p:cNvSpPr txBox="1">
            <a:spLocks noChangeArrowheads="1"/>
          </p:cNvSpPr>
          <p:nvPr/>
        </p:nvSpPr>
        <p:spPr bwMode="auto">
          <a:xfrm>
            <a:off x="4724400" y="2819400"/>
            <a:ext cx="3048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  <a:endParaRPr lang="en-US"/>
          </a:p>
        </p:txBody>
      </p:sp>
      <p:sp>
        <p:nvSpPr>
          <p:cNvPr id="88100" name="Text Box 36"/>
          <p:cNvSpPr txBox="1">
            <a:spLocks noChangeArrowheads="1"/>
          </p:cNvSpPr>
          <p:nvPr/>
        </p:nvSpPr>
        <p:spPr bwMode="auto">
          <a:xfrm>
            <a:off x="3981450" y="5486400"/>
            <a:ext cx="6096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204</a:t>
            </a:r>
            <a:endParaRPr lang="en-US">
              <a:solidFill>
                <a:schemeClr val="hlink"/>
              </a:solidFill>
            </a:endParaRPr>
          </a:p>
        </p:txBody>
      </p:sp>
      <p:sp>
        <p:nvSpPr>
          <p:cNvPr id="88101" name="Line 37"/>
          <p:cNvSpPr>
            <a:spLocks noChangeShapeType="1"/>
          </p:cNvSpPr>
          <p:nvPr/>
        </p:nvSpPr>
        <p:spPr bwMode="auto">
          <a:xfrm>
            <a:off x="5867400" y="2514600"/>
            <a:ext cx="1143000" cy="76200"/>
          </a:xfrm>
          <a:prstGeom prst="line">
            <a:avLst/>
          </a:prstGeom>
          <a:noFill/>
          <a:ln w="9525">
            <a:solidFill>
              <a:srgbClr val="9EA2A4"/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102" name="Line 38"/>
          <p:cNvSpPr>
            <a:spLocks noChangeShapeType="1"/>
          </p:cNvSpPr>
          <p:nvPr/>
        </p:nvSpPr>
        <p:spPr bwMode="auto">
          <a:xfrm flipV="1">
            <a:off x="5791200" y="2590800"/>
            <a:ext cx="1295400" cy="400050"/>
          </a:xfrm>
          <a:prstGeom prst="line">
            <a:avLst/>
          </a:prstGeom>
          <a:noFill/>
          <a:ln w="9525">
            <a:solidFill>
              <a:srgbClr val="9EA2A4"/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103" name="Rectangle 39"/>
          <p:cNvSpPr>
            <a:spLocks noChangeArrowheads="1"/>
          </p:cNvSpPr>
          <p:nvPr/>
        </p:nvSpPr>
        <p:spPr bwMode="auto">
          <a:xfrm>
            <a:off x="4572000" y="5410200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  <a:endParaRPr lang="en-US"/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4572000" y="1828800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3962400" y="1219200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Byte Add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400800" y="1219200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Word Add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038600" y="190500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G+0</a:t>
            </a:r>
            <a:endParaRPr 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6477000" y="190500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G+0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4038600" y="236220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G+2</a:t>
            </a:r>
            <a:endParaRPr lang="en-US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4038600" y="281940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G+4</a:t>
            </a:r>
            <a:endParaRPr lang="en-US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6477000" y="236220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G+1</a:t>
            </a:r>
            <a:endParaRPr lang="en-US" sz="1400" dirty="0"/>
          </a:p>
        </p:txBody>
      </p:sp>
      <p:sp>
        <p:nvSpPr>
          <p:cNvPr id="37" name="TextBox 36"/>
          <p:cNvSpPr txBox="1"/>
          <p:nvPr/>
        </p:nvSpPr>
        <p:spPr>
          <a:xfrm>
            <a:off x="6477000" y="281940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G+2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80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80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0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80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80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80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80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09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09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8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8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8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8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8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8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8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8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8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8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8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8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8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8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8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8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8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8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88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8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8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8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8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8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8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8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8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8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6" grpId="0"/>
      <p:bldP spid="88092" grpId="0" animBg="1" uiExpand="1" build="allAtOnce"/>
      <p:bldP spid="88093" grpId="0" animBg="1"/>
      <p:bldP spid="88094" grpId="0" animBg="1"/>
      <p:bldP spid="88095" grpId="0" animBg="1"/>
      <p:bldP spid="88096" grpId="0" animBg="1"/>
      <p:bldP spid="88097" grpId="0"/>
      <p:bldP spid="88101" grpId="0" animBg="1"/>
      <p:bldP spid="88102" grpId="0" animBg="1"/>
      <p:bldP spid="8810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Byington" pitchFamily="2" charset="0"/>
              </a:rPr>
              <a:t>Addressing Modes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Standard Indirect Addressing</a:t>
            </a:r>
            <a:endParaRPr lang="en-US" sz="2800" dirty="0"/>
          </a:p>
          <a:p>
            <a:pPr lvl="1"/>
            <a:r>
              <a:rPr lang="en-US" sz="2400" dirty="0"/>
              <a:t>Byte or word addresses in the lower 32K word area</a:t>
            </a:r>
            <a:endParaRPr lang="en-US" sz="2400" dirty="0"/>
          </a:p>
          <a:p>
            <a:pPr lvl="1"/>
            <a:r>
              <a:rPr lang="en-US" sz="2400" dirty="0"/>
              <a:t>Word addresses in the upper 32K word area</a:t>
            </a:r>
            <a:endParaRPr lang="en-US" sz="2400" dirty="0"/>
          </a:p>
          <a:p>
            <a:r>
              <a:rPr lang="en-US" sz="2800" dirty="0"/>
              <a:t>Extended Indirect Addressing</a:t>
            </a:r>
            <a:endParaRPr lang="en-US" sz="2800" dirty="0"/>
          </a:p>
          <a:p>
            <a:pPr lvl="1"/>
            <a:r>
              <a:rPr lang="en-US" sz="2400" dirty="0"/>
              <a:t>32-bit </a:t>
            </a:r>
            <a:r>
              <a:rPr lang="en-US" sz="2400" dirty="0" err="1"/>
              <a:t>relocatable</a:t>
            </a:r>
            <a:r>
              <a:rPr lang="en-US" sz="2400" dirty="0"/>
              <a:t> indirect addressing anywhere in the virtual memory / Extended data segment</a:t>
            </a:r>
            <a:endParaRPr lang="en-US" sz="2400" dirty="0"/>
          </a:p>
          <a:p>
            <a:pPr lvl="1">
              <a:buFont typeface="Wingdings" panose="05000000000000000000" pitchFamily="2" charset="2"/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en-US" sz="2000" dirty="0"/>
              <a:t>INT .EXT A := 8;</a:t>
            </a:r>
            <a:endParaRPr lang="en-US" sz="2000" dirty="0"/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4038600" y="4967288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hlink"/>
                </a:solidFill>
              </a:rPr>
              <a:t>200</a:t>
            </a:r>
            <a:endParaRPr lang="en-US">
              <a:solidFill>
                <a:schemeClr val="hlink"/>
              </a:solidFill>
            </a:endParaRPr>
          </a:p>
        </p:txBody>
      </p:sp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3614738" y="4995863"/>
            <a:ext cx="304800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  <a:endParaRPr 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4038600" y="5424488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4048125" y="6262688"/>
            <a:ext cx="1905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  <a:endParaRPr lang="en-US"/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>
            <a:off x="4953000" y="5910263"/>
            <a:ext cx="0" cy="3524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953" name="Text Box 9"/>
          <p:cNvSpPr txBox="1">
            <a:spLocks noChangeArrowheads="1"/>
          </p:cNvSpPr>
          <p:nvPr/>
        </p:nvSpPr>
        <p:spPr bwMode="auto">
          <a:xfrm>
            <a:off x="3505200" y="6338888"/>
            <a:ext cx="533400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200</a:t>
            </a:r>
            <a:endParaRPr lang="en-US">
              <a:solidFill>
                <a:schemeClr val="hlink"/>
              </a:solidFill>
            </a:endParaRPr>
          </a:p>
        </p:txBody>
      </p:sp>
      <p:sp>
        <p:nvSpPr>
          <p:cNvPr id="82954" name="Line 10"/>
          <p:cNvSpPr>
            <a:spLocks noChangeShapeType="1"/>
          </p:cNvSpPr>
          <p:nvPr/>
        </p:nvSpPr>
        <p:spPr bwMode="auto">
          <a:xfrm>
            <a:off x="5257800" y="5195888"/>
            <a:ext cx="1143000" cy="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dash"/>
            <a:rou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955" name="Line 11"/>
          <p:cNvSpPr>
            <a:spLocks noChangeShapeType="1"/>
          </p:cNvSpPr>
          <p:nvPr/>
        </p:nvSpPr>
        <p:spPr bwMode="auto">
          <a:xfrm>
            <a:off x="6400800" y="5195888"/>
            <a:ext cx="685800" cy="442912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956" name="Text Box 12"/>
          <p:cNvSpPr txBox="1">
            <a:spLocks noChangeArrowheads="1"/>
          </p:cNvSpPr>
          <p:nvPr/>
        </p:nvSpPr>
        <p:spPr bwMode="auto">
          <a:xfrm>
            <a:off x="6248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Implicit Extended Pointer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2957" name="AutoShape 13"/>
          <p:cNvSpPr/>
          <p:nvPr/>
        </p:nvSpPr>
        <p:spPr bwMode="auto">
          <a:xfrm>
            <a:off x="6096000" y="4967288"/>
            <a:ext cx="76200" cy="914400"/>
          </a:xfrm>
          <a:prstGeom prst="rightBrace">
            <a:avLst>
              <a:gd name="adj1" fmla="val 100000"/>
              <a:gd name="adj2" fmla="val 50000"/>
            </a:avLst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958" name="Line 14"/>
          <p:cNvSpPr>
            <a:spLocks noChangeShapeType="1"/>
          </p:cNvSpPr>
          <p:nvPr/>
        </p:nvSpPr>
        <p:spPr bwMode="auto">
          <a:xfrm flipV="1">
            <a:off x="6172200" y="4967288"/>
            <a:ext cx="457200" cy="7620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959" name="Text Box 15"/>
          <p:cNvSpPr txBox="1">
            <a:spLocks noChangeArrowheads="1"/>
          </p:cNvSpPr>
          <p:nvPr/>
        </p:nvSpPr>
        <p:spPr bwMode="auto">
          <a:xfrm>
            <a:off x="6629400" y="4767263"/>
            <a:ext cx="2133600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Primary Storage Area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2960" name="Line 16"/>
          <p:cNvSpPr>
            <a:spLocks noChangeShapeType="1"/>
          </p:cNvSpPr>
          <p:nvPr/>
        </p:nvSpPr>
        <p:spPr bwMode="auto">
          <a:xfrm flipV="1">
            <a:off x="5943600" y="6477000"/>
            <a:ext cx="381000" cy="14288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961" name="Text Box 17"/>
          <p:cNvSpPr txBox="1">
            <a:spLocks noChangeArrowheads="1"/>
          </p:cNvSpPr>
          <p:nvPr/>
        </p:nvSpPr>
        <p:spPr bwMode="auto">
          <a:xfrm>
            <a:off x="6400800" y="6216650"/>
            <a:ext cx="24384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Ext. Data Segment / Virtual Memory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2962" name="Text Box 18"/>
          <p:cNvSpPr txBox="1">
            <a:spLocks noChangeArrowheads="1"/>
          </p:cNvSpPr>
          <p:nvPr/>
        </p:nvSpPr>
        <p:spPr bwMode="auto">
          <a:xfrm>
            <a:off x="228600" y="5638800"/>
            <a:ext cx="129540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type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2963" name="Line 19"/>
          <p:cNvSpPr>
            <a:spLocks noChangeShapeType="1"/>
          </p:cNvSpPr>
          <p:nvPr/>
        </p:nvSpPr>
        <p:spPr bwMode="auto">
          <a:xfrm flipH="1">
            <a:off x="685800" y="5562600"/>
            <a:ext cx="381000" cy="15240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964" name="Line 20"/>
          <p:cNvSpPr>
            <a:spLocks noChangeShapeType="1"/>
          </p:cNvSpPr>
          <p:nvPr/>
        </p:nvSpPr>
        <p:spPr bwMode="auto">
          <a:xfrm>
            <a:off x="1752600" y="5638800"/>
            <a:ext cx="0" cy="60960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965" name="Text Box 21"/>
          <p:cNvSpPr txBox="1">
            <a:spLocks noChangeArrowheads="1"/>
          </p:cNvSpPr>
          <p:nvPr/>
        </p:nvSpPr>
        <p:spPr bwMode="auto">
          <a:xfrm>
            <a:off x="381000" y="6248400"/>
            <a:ext cx="274320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 Indirection Symbol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Arrays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609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+mj-lt"/>
              </a:rPr>
              <a:t>	</a:t>
            </a:r>
            <a:r>
              <a:rPr lang="en-US" sz="3200" dirty="0" smtClean="0">
                <a:latin typeface="+mj-lt"/>
              </a:rPr>
              <a:t>STRING </a:t>
            </a:r>
            <a:r>
              <a:rPr lang="en-US" sz="3200" dirty="0" err="1">
                <a:latin typeface="+mj-lt"/>
              </a:rPr>
              <a:t>a_array</a:t>
            </a:r>
            <a:r>
              <a:rPr lang="en-US" sz="3200" dirty="0">
                <a:latin typeface="+mj-lt"/>
              </a:rPr>
              <a:t>[0:2] ;   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! Three-element array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2362200" y="2514600"/>
            <a:ext cx="129540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Identifier</a:t>
            </a:r>
            <a:endParaRPr lang="en-US" sz="2000" b="1" dirty="0">
              <a:solidFill>
                <a:schemeClr val="tx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74758" name="Line 6"/>
          <p:cNvSpPr>
            <a:spLocks noChangeShapeType="1"/>
          </p:cNvSpPr>
          <p:nvPr/>
        </p:nvSpPr>
        <p:spPr bwMode="auto">
          <a:xfrm>
            <a:off x="3048000" y="2133600"/>
            <a:ext cx="0" cy="381000"/>
          </a:xfrm>
          <a:prstGeom prst="line">
            <a:avLst/>
          </a:prstGeom>
          <a:noFill/>
          <a:ln w="9525">
            <a:solidFill>
              <a:srgbClr val="9EA2A4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59" name="Text Box 7"/>
          <p:cNvSpPr txBox="1">
            <a:spLocks noChangeArrowheads="1"/>
          </p:cNvSpPr>
          <p:nvPr/>
        </p:nvSpPr>
        <p:spPr bwMode="auto">
          <a:xfrm>
            <a:off x="838200" y="2514600"/>
            <a:ext cx="129540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Data type</a:t>
            </a:r>
            <a:endParaRPr lang="en-US" sz="2000" b="1" dirty="0">
              <a:solidFill>
                <a:schemeClr val="tx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74760" name="Line 8"/>
          <p:cNvSpPr>
            <a:spLocks noChangeShapeType="1"/>
          </p:cNvSpPr>
          <p:nvPr/>
        </p:nvSpPr>
        <p:spPr bwMode="auto">
          <a:xfrm>
            <a:off x="1371600" y="2133600"/>
            <a:ext cx="0" cy="381000"/>
          </a:xfrm>
          <a:prstGeom prst="line">
            <a:avLst/>
          </a:prstGeom>
          <a:noFill/>
          <a:ln w="9525">
            <a:solidFill>
              <a:srgbClr val="9EA2A4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61" name="Line 9"/>
          <p:cNvSpPr>
            <a:spLocks noChangeShapeType="1"/>
          </p:cNvSpPr>
          <p:nvPr/>
        </p:nvSpPr>
        <p:spPr bwMode="auto">
          <a:xfrm>
            <a:off x="3810000" y="2057400"/>
            <a:ext cx="228600" cy="838200"/>
          </a:xfrm>
          <a:prstGeom prst="line">
            <a:avLst/>
          </a:prstGeom>
          <a:noFill/>
          <a:ln w="9525">
            <a:solidFill>
              <a:srgbClr val="9EA2A4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62" name="Text Box 10"/>
          <p:cNvSpPr txBox="1">
            <a:spLocks noChangeArrowheads="1"/>
          </p:cNvSpPr>
          <p:nvPr/>
        </p:nvSpPr>
        <p:spPr bwMode="auto">
          <a:xfrm>
            <a:off x="3429000" y="2971800"/>
            <a:ext cx="182880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Lower bound</a:t>
            </a:r>
            <a:endParaRPr lang="en-US" sz="2000" b="1" dirty="0">
              <a:solidFill>
                <a:schemeClr val="tx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74763" name="Line 11"/>
          <p:cNvSpPr>
            <a:spLocks noChangeShapeType="1"/>
          </p:cNvSpPr>
          <p:nvPr/>
        </p:nvSpPr>
        <p:spPr bwMode="auto">
          <a:xfrm>
            <a:off x="4038600" y="2057400"/>
            <a:ext cx="1752600" cy="914400"/>
          </a:xfrm>
          <a:prstGeom prst="line">
            <a:avLst/>
          </a:prstGeom>
          <a:noFill/>
          <a:ln w="9525">
            <a:solidFill>
              <a:srgbClr val="9EA2A4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64" name="Text Box 12"/>
          <p:cNvSpPr txBox="1">
            <a:spLocks noChangeArrowheads="1"/>
          </p:cNvSpPr>
          <p:nvPr/>
        </p:nvSpPr>
        <p:spPr bwMode="auto">
          <a:xfrm>
            <a:off x="5410200" y="2971800"/>
            <a:ext cx="1828800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Upper bound</a:t>
            </a:r>
            <a:endParaRPr lang="en-US" sz="2000" b="1" dirty="0">
              <a:solidFill>
                <a:schemeClr val="tx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74765" name="Rectangle 13"/>
          <p:cNvSpPr>
            <a:spLocks noChangeArrowheads="1"/>
          </p:cNvSpPr>
          <p:nvPr/>
        </p:nvSpPr>
        <p:spPr bwMode="auto">
          <a:xfrm>
            <a:off x="381000" y="3657600"/>
            <a:ext cx="822960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</a:pPr>
            <a:endParaRPr lang="en-US" sz="2400" dirty="0">
              <a:latin typeface="+mj-lt"/>
            </a:endParaRPr>
          </a:p>
        </p:txBody>
      </p:sp>
      <p:sp>
        <p:nvSpPr>
          <p:cNvPr id="74766" name="Rectangle 14"/>
          <p:cNvSpPr>
            <a:spLocks noChangeArrowheads="1"/>
          </p:cNvSpPr>
          <p:nvPr/>
        </p:nvSpPr>
        <p:spPr bwMode="auto">
          <a:xfrm>
            <a:off x="533400" y="4876800"/>
            <a:ext cx="822960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sz="2400" dirty="0" smtClean="0">
                <a:latin typeface="+mj-lt"/>
              </a:rPr>
              <a:t>	STRING </a:t>
            </a:r>
            <a:r>
              <a:rPr lang="en-US" sz="2400" dirty="0">
                <a:latin typeface="+mj-lt"/>
              </a:rPr>
              <a:t>.</a:t>
            </a:r>
            <a:r>
              <a:rPr lang="en-US" sz="2400" dirty="0" err="1">
                <a:latin typeface="+mj-lt"/>
              </a:rPr>
              <a:t>a_array</a:t>
            </a:r>
            <a:r>
              <a:rPr lang="en-US" sz="2400" dirty="0">
                <a:latin typeface="+mj-lt"/>
              </a:rPr>
              <a:t>[0:2] ;    </a:t>
            </a:r>
            <a:r>
              <a:rPr lang="en-US" sz="2400" dirty="0" smtClean="0">
                <a:latin typeface="+mj-lt"/>
              </a:rPr>
              <a:t>		</a:t>
            </a:r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!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Std. Ind. Addressing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4767" name="Rectangle 15"/>
          <p:cNvSpPr>
            <a:spLocks noChangeArrowheads="1"/>
          </p:cNvSpPr>
          <p:nvPr/>
        </p:nvSpPr>
        <p:spPr bwMode="auto">
          <a:xfrm>
            <a:off x="533400" y="5443538"/>
            <a:ext cx="861060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sz="2400" dirty="0" smtClean="0">
                <a:latin typeface="+mj-lt"/>
              </a:rPr>
              <a:t>	STRING </a:t>
            </a:r>
            <a:r>
              <a:rPr lang="en-US" sz="2400" dirty="0">
                <a:latin typeface="+mj-lt"/>
              </a:rPr>
              <a:t>.EXT </a:t>
            </a:r>
            <a:r>
              <a:rPr lang="en-US" sz="2400" dirty="0" err="1">
                <a:latin typeface="+mj-lt"/>
              </a:rPr>
              <a:t>a_array</a:t>
            </a:r>
            <a:r>
              <a:rPr lang="en-US" sz="2400" dirty="0">
                <a:latin typeface="+mj-lt"/>
              </a:rPr>
              <a:t>[0:2] ;    </a:t>
            </a:r>
            <a:r>
              <a:rPr lang="en-US" sz="2400" dirty="0" smtClean="0">
                <a:latin typeface="+mj-lt"/>
              </a:rPr>
              <a:t>	</a:t>
            </a:r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!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Ext. Ind. Addressing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Arrays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 Declaration &amp; Initialization</a:t>
            </a:r>
            <a:endParaRPr lang="en-US" dirty="0"/>
          </a:p>
          <a:p>
            <a:pPr lvl="2"/>
            <a:r>
              <a:rPr lang="en-US" dirty="0"/>
              <a:t>INT(32)   .a[0:1] := [5D, 7D];</a:t>
            </a:r>
            <a:endParaRPr lang="en-US" dirty="0"/>
          </a:p>
          <a:p>
            <a:pPr lvl="2"/>
            <a:r>
              <a:rPr lang="en-US" dirty="0"/>
              <a:t>STRING .b[0:1] := ["A","B"];</a:t>
            </a:r>
            <a:endParaRPr lang="en-US" dirty="0"/>
          </a:p>
          <a:p>
            <a:pPr lvl="2"/>
            <a:r>
              <a:rPr lang="en-US" dirty="0"/>
              <a:t>INT         d[0:2] := ["Hello</a:t>
            </a:r>
            <a:r>
              <a:rPr lang="en-US" dirty="0" smtClean="0"/>
              <a:t>!"];	</a:t>
            </a:r>
            <a:r>
              <a:rPr lang="en-US" sz="1800" dirty="0" smtClean="0">
                <a:solidFill>
                  <a:srgbClr val="FF0000"/>
                </a:solidFill>
              </a:rPr>
              <a:t>! Stores 1 character per byte</a:t>
            </a:r>
            <a:endParaRPr lang="en-US" sz="1800" dirty="0">
              <a:solidFill>
                <a:srgbClr val="FF0000"/>
              </a:solidFill>
            </a:endParaRPr>
          </a:p>
          <a:p>
            <a:pPr lvl="2"/>
            <a:r>
              <a:rPr lang="en-US" dirty="0"/>
              <a:t>FIXED .EXT c[0:3];</a:t>
            </a:r>
            <a:endParaRPr lang="en-US" dirty="0"/>
          </a:p>
          <a:p>
            <a:pPr lvl="2"/>
            <a:r>
              <a:rPr lang="en-US" dirty="0"/>
              <a:t>REAL(64) r[0:1];</a:t>
            </a:r>
            <a:endParaRPr lang="en-US" dirty="0"/>
          </a:p>
          <a:p>
            <a:pPr lvl="2"/>
            <a:r>
              <a:rPr lang="en-US" dirty="0"/>
              <a:t>INT </a:t>
            </a:r>
            <a:r>
              <a:rPr lang="en-US" dirty="0" err="1"/>
              <a:t>some_array</a:t>
            </a:r>
            <a:r>
              <a:rPr lang="en-US" dirty="0"/>
              <a:t>[0:3] := -1;  !Partially </a:t>
            </a:r>
            <a:r>
              <a:rPr lang="en-US" dirty="0" smtClean="0"/>
              <a:t>undefined</a:t>
            </a:r>
            <a:endParaRPr lang="en-US" dirty="0" smtClean="0"/>
          </a:p>
          <a:p>
            <a:pPr lvl="2"/>
            <a:r>
              <a:rPr lang="en-US" dirty="0" smtClean="0"/>
              <a:t>INT ZEROES [0:9] := 10 *[0]; 	</a:t>
            </a:r>
            <a:r>
              <a:rPr lang="en-US" dirty="0" smtClean="0">
                <a:solidFill>
                  <a:srgbClr val="FF0000"/>
                </a:solidFill>
              </a:rPr>
              <a:t>! </a:t>
            </a:r>
            <a:r>
              <a:rPr lang="en-US" dirty="0" err="1" smtClean="0">
                <a:solidFill>
                  <a:srgbClr val="FF0000"/>
                </a:solidFill>
              </a:rPr>
              <a:t>Initialised</a:t>
            </a:r>
            <a:r>
              <a:rPr lang="en-US" dirty="0" smtClean="0">
                <a:solidFill>
                  <a:srgbClr val="FF0000"/>
                </a:solidFill>
              </a:rPr>
              <a:t> to 0 with a 					  </a:t>
            </a:r>
            <a:r>
              <a:rPr lang="en-US" dirty="0" err="1" smtClean="0">
                <a:solidFill>
                  <a:srgbClr val="FF0000"/>
                </a:solidFill>
              </a:rPr>
              <a:t>repitition</a:t>
            </a:r>
            <a:r>
              <a:rPr lang="en-US" dirty="0" smtClean="0">
                <a:solidFill>
                  <a:srgbClr val="FF0000"/>
                </a:solidFill>
              </a:rPr>
              <a:t> factor of 10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Arrays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7467600" cy="48307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Sublocal</a:t>
            </a:r>
            <a:r>
              <a:rPr lang="en-US" dirty="0"/>
              <a:t> arrays cannot be indirectly addressed, Since there is no secondary local storage area</a:t>
            </a:r>
            <a:endParaRPr lang="en-US" dirty="0"/>
          </a:p>
          <a:p>
            <a:pPr marL="36195" indent="0">
              <a:lnSpc>
                <a:spcPct val="90000"/>
              </a:lnSpc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Indirect allocation of arrays as same as simple </a:t>
            </a:r>
            <a:r>
              <a:rPr lang="en-US" dirty="0" smtClean="0"/>
              <a:t>variables</a:t>
            </a:r>
            <a:endParaRPr lang="en-US" dirty="0" smtClean="0"/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Arrays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0593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Concatenating operator – ‘&amp;’</a:t>
            </a:r>
            <a:endParaRPr lang="en-US" dirty="0" smtClean="0"/>
          </a:p>
          <a:p>
            <a:pPr>
              <a:buNone/>
            </a:pPr>
            <a:r>
              <a:rPr lang="en-US" sz="4600" dirty="0" smtClean="0"/>
              <a:t>	</a:t>
            </a:r>
            <a:r>
              <a:rPr lang="en-US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line_array</a:t>
            </a: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':=‘  " DATE: “ </a:t>
            </a:r>
            <a:r>
              <a:rPr lang="en-US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date_array</a:t>
            </a: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en-US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date_len</a:t>
            </a: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BYTES</a:t>
            </a:r>
            <a:endParaRPr lang="en-US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&amp; " ID NUMBER: " &amp; </a:t>
            </a:r>
            <a:r>
              <a:rPr lang="en-US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id_num</a:t>
            </a: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en-US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id_len</a:t>
            </a: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BYTES</a:t>
            </a:r>
            <a:endParaRPr lang="en-US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&amp; " DEPARTMENT: " &amp; </a:t>
            </a:r>
            <a:r>
              <a:rPr lang="en-US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dept_num</a:t>
            </a: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en-US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dept_len</a:t>
            </a: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BYTES;</a:t>
            </a:r>
            <a:endParaRPr lang="en-US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4600" dirty="0" smtClean="0"/>
          </a:p>
          <a:p>
            <a:r>
              <a:rPr lang="en-US" dirty="0" smtClean="0"/>
              <a:t>Scanning array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The SCAN statement scans the array from left to right while the RSCAN scans the array from right to left</a:t>
            </a:r>
            <a:endParaRPr lang="en-US" dirty="0" smtClean="0"/>
          </a:p>
          <a:p>
            <a:pPr>
              <a:buNone/>
            </a:pPr>
            <a:r>
              <a:rPr lang="en-US" sz="2100" dirty="0" smtClean="0"/>
              <a:t>	</a:t>
            </a:r>
            <a:r>
              <a:rPr lang="en-US" sz="2100" dirty="0" err="1" smtClean="0"/>
              <a:t>Eg</a:t>
            </a:r>
            <a:r>
              <a:rPr lang="en-US" sz="2100" dirty="0" smtClean="0"/>
              <a:t> </a:t>
            </a:r>
            <a:endParaRPr lang="en-US" sz="2100" dirty="0" smtClean="0"/>
          </a:p>
          <a:p>
            <a:pPr>
              <a:buNone/>
            </a:pPr>
            <a:r>
              <a:rPr lang="en-US" sz="2100" dirty="0" smtClean="0"/>
              <a:t>	</a:t>
            </a:r>
            <a:r>
              <a:rPr lang="en-US" sz="2100" dirty="0" err="1" smtClean="0"/>
              <a:t>start_last_name</a:t>
            </a:r>
            <a:r>
              <a:rPr lang="en-US" sz="2100" dirty="0" smtClean="0"/>
              <a:t> contains the string “Hello, how are you”</a:t>
            </a:r>
            <a:endParaRPr lang="en-US" sz="2100" dirty="0" smtClean="0"/>
          </a:p>
          <a:p>
            <a:pPr>
              <a:buNone/>
            </a:pPr>
            <a:r>
              <a:rPr lang="en-US" sz="2100" dirty="0" smtClean="0"/>
              <a:t>	</a:t>
            </a: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SCAN </a:t>
            </a:r>
            <a:r>
              <a:rPr lang="en-US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sptr</a:t>
            </a: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[0] WHILE " " -&gt; @</a:t>
            </a:r>
            <a:r>
              <a:rPr lang="en-US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start_last_name</a:t>
            </a: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SCAN </a:t>
            </a:r>
            <a:r>
              <a:rPr lang="en-US" sz="2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start_last_name</a:t>
            </a:r>
            <a:r>
              <a:rPr 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UNTIL "," -&gt; @comma;</a:t>
            </a:r>
            <a:endParaRPr lang="en-US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Structures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STRUCT .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Stu^Details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[0:2];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STRING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Stu^Name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[0:40];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Stu^Number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END;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6020" name="Line 4"/>
          <p:cNvSpPr>
            <a:spLocks noChangeShapeType="1"/>
          </p:cNvSpPr>
          <p:nvPr/>
        </p:nvSpPr>
        <p:spPr bwMode="auto">
          <a:xfrm>
            <a:off x="3505200" y="2133600"/>
            <a:ext cx="152400" cy="228600"/>
          </a:xfrm>
          <a:prstGeom prst="line">
            <a:avLst/>
          </a:prstGeom>
          <a:noFill/>
          <a:ln w="9525">
            <a:solidFill>
              <a:srgbClr val="9EA2A4"/>
            </a:solidFill>
            <a:prstDash val="dash"/>
            <a:rou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21" name="Line 5"/>
          <p:cNvSpPr>
            <a:spLocks noChangeShapeType="1"/>
          </p:cNvSpPr>
          <p:nvPr/>
        </p:nvSpPr>
        <p:spPr bwMode="auto">
          <a:xfrm>
            <a:off x="3657600" y="2362200"/>
            <a:ext cx="2133600" cy="0"/>
          </a:xfrm>
          <a:prstGeom prst="line">
            <a:avLst/>
          </a:prstGeom>
          <a:noFill/>
          <a:ln w="9525">
            <a:solidFill>
              <a:srgbClr val="9EA2A4"/>
            </a:solidFill>
            <a:prstDash val="dashDot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5867400" y="2133600"/>
            <a:ext cx="26670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Name of the structure</a:t>
            </a:r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86023" name="AutoShape 7"/>
          <p:cNvSpPr/>
          <p:nvPr/>
        </p:nvSpPr>
        <p:spPr bwMode="auto">
          <a:xfrm>
            <a:off x="6096000" y="2819400"/>
            <a:ext cx="152400" cy="1219200"/>
          </a:xfrm>
          <a:prstGeom prst="rightBrace">
            <a:avLst>
              <a:gd name="adj1" fmla="val 66667"/>
              <a:gd name="adj2" fmla="val 50000"/>
            </a:avLst>
          </a:prstGeom>
          <a:noFill/>
          <a:ln w="9525">
            <a:solidFill>
              <a:srgbClr val="9EA2A4"/>
            </a:solidFill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24" name="Text Box 8"/>
          <p:cNvSpPr txBox="1">
            <a:spLocks noChangeArrowheads="1"/>
          </p:cNvSpPr>
          <p:nvPr/>
        </p:nvSpPr>
        <p:spPr bwMode="auto">
          <a:xfrm>
            <a:off x="6248400" y="3200400"/>
            <a:ext cx="26670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Body of the structure</a:t>
            </a:r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86025" name="Line 9"/>
          <p:cNvSpPr>
            <a:spLocks noChangeShapeType="1"/>
          </p:cNvSpPr>
          <p:nvPr/>
        </p:nvSpPr>
        <p:spPr bwMode="auto">
          <a:xfrm flipH="1">
            <a:off x="4495800" y="1524000"/>
            <a:ext cx="228600" cy="228600"/>
          </a:xfrm>
          <a:prstGeom prst="line">
            <a:avLst/>
          </a:prstGeom>
          <a:noFill/>
          <a:ln w="9525">
            <a:solidFill>
              <a:srgbClr val="7030A0"/>
            </a:solidFill>
            <a:prstDash val="dash"/>
            <a:rou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26" name="Line 10"/>
          <p:cNvSpPr>
            <a:spLocks noChangeShapeType="1"/>
          </p:cNvSpPr>
          <p:nvPr/>
        </p:nvSpPr>
        <p:spPr bwMode="auto">
          <a:xfrm>
            <a:off x="4724400" y="1524000"/>
            <a:ext cx="1447800" cy="0"/>
          </a:xfrm>
          <a:prstGeom prst="line">
            <a:avLst/>
          </a:prstGeom>
          <a:noFill/>
          <a:ln w="9525">
            <a:solidFill>
              <a:srgbClr val="9EA2A4"/>
            </a:solidFill>
            <a:prstDash val="dashDot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27" name="Text Box 11"/>
          <p:cNvSpPr txBox="1">
            <a:spLocks noChangeArrowheads="1"/>
          </p:cNvSpPr>
          <p:nvPr/>
        </p:nvSpPr>
        <p:spPr bwMode="auto">
          <a:xfrm>
            <a:off x="6172200" y="1323975"/>
            <a:ext cx="26670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Occurrences</a:t>
            </a:r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86028" name="Rectangle 12"/>
          <p:cNvSpPr>
            <a:spLocks noChangeArrowheads="1"/>
          </p:cNvSpPr>
          <p:nvPr/>
        </p:nvSpPr>
        <p:spPr bwMode="auto">
          <a:xfrm>
            <a:off x="3581400" y="4343400"/>
            <a:ext cx="1981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hlink"/>
                </a:solidFill>
              </a:rPr>
              <a:t>2000</a:t>
            </a:r>
            <a:endParaRPr lang="en-US">
              <a:solidFill>
                <a:schemeClr val="hlink"/>
              </a:solidFill>
            </a:endParaRPr>
          </a:p>
        </p:txBody>
      </p:sp>
      <p:sp>
        <p:nvSpPr>
          <p:cNvPr id="86029" name="Text Box 13"/>
          <p:cNvSpPr txBox="1">
            <a:spLocks noChangeArrowheads="1"/>
          </p:cNvSpPr>
          <p:nvPr/>
        </p:nvSpPr>
        <p:spPr bwMode="auto">
          <a:xfrm>
            <a:off x="2057400" y="4419600"/>
            <a:ext cx="14478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Stu^Details</a:t>
            </a:r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86030" name="Rectangle 14"/>
          <p:cNvSpPr>
            <a:spLocks noChangeArrowheads="1"/>
          </p:cNvSpPr>
          <p:nvPr/>
        </p:nvSpPr>
        <p:spPr bwMode="auto">
          <a:xfrm>
            <a:off x="3581400" y="4800600"/>
            <a:ext cx="1981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6031" name="Line 15"/>
          <p:cNvSpPr>
            <a:spLocks noChangeShapeType="1"/>
          </p:cNvSpPr>
          <p:nvPr/>
        </p:nvSpPr>
        <p:spPr bwMode="auto">
          <a:xfrm>
            <a:off x="4495800" y="525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32" name="Rectangle 16"/>
          <p:cNvSpPr>
            <a:spLocks noChangeArrowheads="1"/>
          </p:cNvSpPr>
          <p:nvPr/>
        </p:nvSpPr>
        <p:spPr bwMode="auto">
          <a:xfrm>
            <a:off x="3552825" y="5543550"/>
            <a:ext cx="1981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/>
              <a:t>Stu^Details(0)</a:t>
            </a:r>
            <a:endParaRPr lang="en-US"/>
          </a:p>
        </p:txBody>
      </p:sp>
      <p:sp>
        <p:nvSpPr>
          <p:cNvPr id="86033" name="Rectangle 17"/>
          <p:cNvSpPr>
            <a:spLocks noChangeArrowheads="1"/>
          </p:cNvSpPr>
          <p:nvPr/>
        </p:nvSpPr>
        <p:spPr bwMode="auto">
          <a:xfrm>
            <a:off x="3552825" y="6005513"/>
            <a:ext cx="1981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/>
              <a:t>Stu^Details(1)</a:t>
            </a:r>
            <a:endParaRPr lang="en-US"/>
          </a:p>
        </p:txBody>
      </p:sp>
      <p:sp>
        <p:nvSpPr>
          <p:cNvPr id="86034" name="Text Box 18"/>
          <p:cNvSpPr txBox="1">
            <a:spLocks noChangeArrowheads="1"/>
          </p:cNvSpPr>
          <p:nvPr/>
        </p:nvSpPr>
        <p:spPr bwMode="auto">
          <a:xfrm>
            <a:off x="2900363" y="5562600"/>
            <a:ext cx="6858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hlink"/>
                </a:solidFill>
              </a:rPr>
              <a:t>2000</a:t>
            </a:r>
            <a:endParaRPr lang="en-US" sz="2000">
              <a:solidFill>
                <a:schemeClr val="hlink"/>
              </a:solidFill>
            </a:endParaRPr>
          </a:p>
        </p:txBody>
      </p:sp>
      <p:sp>
        <p:nvSpPr>
          <p:cNvPr id="86035" name="AutoShape 19"/>
          <p:cNvSpPr/>
          <p:nvPr/>
        </p:nvSpPr>
        <p:spPr bwMode="auto">
          <a:xfrm>
            <a:off x="5715000" y="4286250"/>
            <a:ext cx="76200" cy="990600"/>
          </a:xfrm>
          <a:prstGeom prst="rightBrace">
            <a:avLst>
              <a:gd name="adj1" fmla="val 108333"/>
              <a:gd name="adj2" fmla="val 50000"/>
            </a:avLst>
          </a:prstGeom>
          <a:noFill/>
          <a:ln w="9525">
            <a:solidFill>
              <a:srgbClr val="9EA2A4"/>
            </a:solidFill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36" name="Text Box 20"/>
          <p:cNvSpPr txBox="1">
            <a:spLocks noChangeArrowheads="1"/>
          </p:cNvSpPr>
          <p:nvPr/>
        </p:nvSpPr>
        <p:spPr bwMode="auto">
          <a:xfrm>
            <a:off x="5791200" y="4572000"/>
            <a:ext cx="26670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Primary Storage</a:t>
            </a:r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86037" name="Text Box 21"/>
          <p:cNvSpPr txBox="1">
            <a:spLocks noChangeArrowheads="1"/>
          </p:cNvSpPr>
          <p:nvPr/>
        </p:nvSpPr>
        <p:spPr bwMode="auto">
          <a:xfrm>
            <a:off x="5715000" y="6248400"/>
            <a:ext cx="26670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Secondary Storage</a:t>
            </a:r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86038" name="AutoShape 22"/>
          <p:cNvSpPr/>
          <p:nvPr/>
        </p:nvSpPr>
        <p:spPr bwMode="auto">
          <a:xfrm>
            <a:off x="5638800" y="5486400"/>
            <a:ext cx="76200" cy="990600"/>
          </a:xfrm>
          <a:prstGeom prst="rightBrace">
            <a:avLst>
              <a:gd name="adj1" fmla="val 108333"/>
              <a:gd name="adj2" fmla="val 50000"/>
            </a:avLst>
          </a:prstGeom>
          <a:noFill/>
          <a:ln w="9525">
            <a:solidFill>
              <a:srgbClr val="9EA2A4"/>
            </a:solidFill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40" name="Line 24"/>
          <p:cNvSpPr>
            <a:spLocks noChangeShapeType="1"/>
          </p:cNvSpPr>
          <p:nvPr/>
        </p:nvSpPr>
        <p:spPr bwMode="auto">
          <a:xfrm flipV="1">
            <a:off x="5562600" y="55626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41" name="Rectangle 25"/>
          <p:cNvSpPr>
            <a:spLocks noChangeArrowheads="1"/>
          </p:cNvSpPr>
          <p:nvPr/>
        </p:nvSpPr>
        <p:spPr bwMode="auto">
          <a:xfrm>
            <a:off x="6324600" y="5105400"/>
            <a:ext cx="2209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/>
              <a:t>Stu^Name[0:40]</a:t>
            </a:r>
            <a:endParaRPr lang="en-US"/>
          </a:p>
        </p:txBody>
      </p:sp>
      <p:sp>
        <p:nvSpPr>
          <p:cNvPr id="86042" name="Rectangle 26"/>
          <p:cNvSpPr>
            <a:spLocks noChangeArrowheads="1"/>
          </p:cNvSpPr>
          <p:nvPr/>
        </p:nvSpPr>
        <p:spPr bwMode="auto">
          <a:xfrm>
            <a:off x="6324600" y="5562600"/>
            <a:ext cx="2209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/>
              <a:t>Stu^Number</a:t>
            </a:r>
            <a:endParaRPr lang="en-US"/>
          </a:p>
        </p:txBody>
      </p:sp>
      <p:sp>
        <p:nvSpPr>
          <p:cNvPr id="86043" name="Line 27"/>
          <p:cNvSpPr>
            <a:spLocks noChangeShapeType="1"/>
          </p:cNvSpPr>
          <p:nvPr/>
        </p:nvSpPr>
        <p:spPr bwMode="auto">
          <a:xfrm>
            <a:off x="2557463" y="2614613"/>
            <a:ext cx="3276600" cy="0"/>
          </a:xfrm>
          <a:prstGeom prst="line">
            <a:avLst/>
          </a:prstGeom>
          <a:noFill/>
          <a:ln w="9525">
            <a:solidFill>
              <a:srgbClr val="9EA2A4"/>
            </a:solidFill>
            <a:prstDash val="dashDot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44" name="Line 28"/>
          <p:cNvSpPr>
            <a:spLocks noChangeShapeType="1"/>
          </p:cNvSpPr>
          <p:nvPr/>
        </p:nvSpPr>
        <p:spPr bwMode="auto">
          <a:xfrm>
            <a:off x="2209800" y="2057400"/>
            <a:ext cx="355600" cy="533400"/>
          </a:xfrm>
          <a:prstGeom prst="line">
            <a:avLst/>
          </a:prstGeom>
          <a:noFill/>
          <a:ln w="9525">
            <a:solidFill>
              <a:srgbClr val="9EA2A4"/>
            </a:solidFill>
            <a:prstDash val="dash"/>
            <a:rou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045" name="Text Box 29"/>
          <p:cNvSpPr txBox="1">
            <a:spLocks noChangeArrowheads="1"/>
          </p:cNvSpPr>
          <p:nvPr/>
        </p:nvSpPr>
        <p:spPr bwMode="auto">
          <a:xfrm>
            <a:off x="5867400" y="2438400"/>
            <a:ext cx="26670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Indirection Symbol</a:t>
            </a:r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Structures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32766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Direct structures are stored in primary storage </a:t>
            </a:r>
            <a:r>
              <a:rPr lang="en-US" dirty="0" smtClean="0"/>
              <a:t>area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Indirect structures are stored in the secondary storage as like variables/array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Nested Structures (Structure within structure) are allowed </a:t>
            </a:r>
            <a:r>
              <a:rPr lang="en-US" dirty="0" err="1"/>
              <a:t>upto</a:t>
            </a:r>
            <a:r>
              <a:rPr lang="en-US" dirty="0"/>
              <a:t> 64 levels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Cannot initialize a structure item when you declare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Compiler starts the allocation of each structure occurrence on a word boundary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Template Structure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7467600" cy="4525963"/>
          </a:xfrm>
        </p:spPr>
        <p:txBody>
          <a:bodyPr/>
          <a:lstStyle/>
          <a:p>
            <a:r>
              <a:rPr lang="en-US" dirty="0"/>
              <a:t>Declaring a structure without allocating storage</a:t>
            </a:r>
            <a:endParaRPr lang="en-US" dirty="0"/>
          </a:p>
          <a:p>
            <a:r>
              <a:rPr lang="en-US" dirty="0"/>
              <a:t>It can be referred by other structures</a:t>
            </a:r>
            <a:endParaRPr lang="en-US" dirty="0"/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pPr lvl="2">
              <a:buFont typeface="Wingdings" panose="05000000000000000000" pitchFamily="2" charset="2"/>
              <a:buNone/>
            </a:pPr>
            <a:r>
              <a:rPr lang="en-US" sz="2000" dirty="0"/>
              <a:t>STRUCT stock </a:t>
            </a:r>
            <a:r>
              <a:rPr lang="en-US" sz="2000" b="1" dirty="0"/>
              <a:t>(*)</a:t>
            </a:r>
            <a:r>
              <a:rPr lang="en-US" sz="2000" dirty="0"/>
              <a:t>; </a:t>
            </a:r>
            <a:endParaRPr lang="en-US" sz="2000" dirty="0"/>
          </a:p>
          <a:p>
            <a:pPr lvl="2">
              <a:buFont typeface="Wingdings" panose="05000000000000000000" pitchFamily="2" charset="2"/>
              <a:buNone/>
            </a:pPr>
            <a:r>
              <a:rPr lang="en-US" sz="2000" dirty="0"/>
              <a:t>	BEGIN </a:t>
            </a:r>
            <a:endParaRPr lang="en-US" sz="2000" dirty="0"/>
          </a:p>
          <a:p>
            <a:pPr lvl="2">
              <a:buFont typeface="Wingdings" panose="05000000000000000000" pitchFamily="2" charset="2"/>
              <a:buNone/>
            </a:pPr>
            <a:r>
              <a:rPr lang="en-US" sz="2000" dirty="0"/>
              <a:t>		INT item;</a:t>
            </a:r>
            <a:endParaRPr lang="en-US" sz="2000" dirty="0"/>
          </a:p>
          <a:p>
            <a:pPr lvl="2">
              <a:buFont typeface="Wingdings" panose="05000000000000000000" pitchFamily="2" charset="2"/>
              <a:buNone/>
            </a:pPr>
            <a:r>
              <a:rPr lang="en-US" sz="2000" dirty="0"/>
              <a:t>		FIXED(2) price;</a:t>
            </a:r>
            <a:endParaRPr lang="en-US" sz="2000" dirty="0"/>
          </a:p>
          <a:p>
            <a:pPr lvl="2">
              <a:buFont typeface="Wingdings" panose="05000000000000000000" pitchFamily="2" charset="2"/>
              <a:buNone/>
            </a:pPr>
            <a:r>
              <a:rPr lang="en-US" sz="2000" dirty="0"/>
              <a:t>		INT quantity;</a:t>
            </a:r>
            <a:endParaRPr lang="en-US" sz="2000" dirty="0"/>
          </a:p>
          <a:p>
            <a:pPr lvl="2">
              <a:buFont typeface="Wingdings" panose="05000000000000000000" pitchFamily="2" charset="2"/>
              <a:buNone/>
            </a:pPr>
            <a:r>
              <a:rPr lang="en-US" sz="2000" dirty="0"/>
              <a:t>	END;</a:t>
            </a:r>
            <a:endParaRPr lang="en-US" sz="2000" dirty="0"/>
          </a:p>
        </p:txBody>
      </p:sp>
      <p:sp>
        <p:nvSpPr>
          <p:cNvPr id="89093" name="Line 5"/>
          <p:cNvSpPr>
            <a:spLocks noChangeShapeType="1"/>
          </p:cNvSpPr>
          <p:nvPr/>
        </p:nvSpPr>
        <p:spPr bwMode="auto">
          <a:xfrm>
            <a:off x="3200400" y="3657600"/>
            <a:ext cx="304800" cy="152400"/>
          </a:xfrm>
          <a:prstGeom prst="line">
            <a:avLst/>
          </a:prstGeom>
          <a:noFill/>
          <a:ln w="9525">
            <a:solidFill>
              <a:srgbClr val="9EA2A4"/>
            </a:solidFill>
            <a:prstDash val="dash"/>
            <a:rou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9094" name="Line 6"/>
          <p:cNvSpPr>
            <a:spLocks noChangeShapeType="1"/>
          </p:cNvSpPr>
          <p:nvPr/>
        </p:nvSpPr>
        <p:spPr bwMode="auto">
          <a:xfrm>
            <a:off x="3505200" y="3810000"/>
            <a:ext cx="1371600" cy="0"/>
          </a:xfrm>
          <a:prstGeom prst="line">
            <a:avLst/>
          </a:prstGeom>
          <a:noFill/>
          <a:ln w="9525">
            <a:solidFill>
              <a:srgbClr val="9EA2A4"/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9095" name="Text Box 7"/>
          <p:cNvSpPr txBox="1">
            <a:spLocks noChangeArrowheads="1"/>
          </p:cNvSpPr>
          <p:nvPr/>
        </p:nvSpPr>
        <p:spPr bwMode="auto">
          <a:xfrm>
            <a:off x="4953000" y="3614738"/>
            <a:ext cx="3048000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Template Structure Identifier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Referral Structure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Allocates storage for a structure whose layout is already declared</a:t>
            </a:r>
            <a:endParaRPr lang="en-US" dirty="0"/>
          </a:p>
          <a:p>
            <a:pPr>
              <a:buFont typeface="Wingdings" panose="05000000000000000000" pitchFamily="2" charset="2"/>
              <a:buNone/>
            </a:pPr>
            <a:endParaRPr lang="en-US" sz="24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	STRUCT .</a:t>
            </a:r>
            <a:r>
              <a:rPr lang="en-US" sz="2400" dirty="0" err="1"/>
              <a:t>stocks^ref</a:t>
            </a:r>
            <a:r>
              <a:rPr lang="en-US" sz="2400" dirty="0"/>
              <a:t> (stock) [0:40];</a:t>
            </a:r>
            <a:endParaRPr lang="en-US" sz="2400" dirty="0"/>
          </a:p>
        </p:txBody>
      </p:sp>
      <p:sp>
        <p:nvSpPr>
          <p:cNvPr id="90116" name="Line 4"/>
          <p:cNvSpPr>
            <a:spLocks noChangeShapeType="1"/>
          </p:cNvSpPr>
          <p:nvPr/>
        </p:nvSpPr>
        <p:spPr bwMode="auto">
          <a:xfrm>
            <a:off x="1371600" y="3505200"/>
            <a:ext cx="0" cy="30480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17" name="Text Box 5"/>
          <p:cNvSpPr txBox="1">
            <a:spLocks noChangeArrowheads="1"/>
          </p:cNvSpPr>
          <p:nvPr/>
        </p:nvSpPr>
        <p:spPr bwMode="auto">
          <a:xfrm>
            <a:off x="838200" y="3810000"/>
            <a:ext cx="1066800" cy="366713"/>
          </a:xfrm>
          <a:prstGeom prst="rect">
            <a:avLst/>
          </a:prstGeom>
          <a:noFill/>
          <a:ln w="9525">
            <a:solidFill>
              <a:schemeClr val="tx1">
                <a:lumMod val="8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Keyword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90118" name="Line 6"/>
          <p:cNvSpPr>
            <a:spLocks noChangeShapeType="1"/>
          </p:cNvSpPr>
          <p:nvPr/>
        </p:nvSpPr>
        <p:spPr bwMode="auto">
          <a:xfrm>
            <a:off x="2133600" y="3429000"/>
            <a:ext cx="0" cy="121920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0119" name="Text Box 7"/>
          <p:cNvSpPr txBox="1">
            <a:spLocks noChangeArrowheads="1"/>
          </p:cNvSpPr>
          <p:nvPr/>
        </p:nvSpPr>
        <p:spPr bwMode="auto">
          <a:xfrm>
            <a:off x="1219200" y="4648200"/>
            <a:ext cx="2133600" cy="366713"/>
          </a:xfrm>
          <a:prstGeom prst="rect">
            <a:avLst/>
          </a:prstGeom>
          <a:noFill/>
          <a:ln w="9525">
            <a:solidFill>
              <a:schemeClr val="tx1">
                <a:lumMod val="8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Indirection Symbol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90120" name="Line 8"/>
          <p:cNvSpPr>
            <a:spLocks noChangeShapeType="1"/>
          </p:cNvSpPr>
          <p:nvPr/>
        </p:nvSpPr>
        <p:spPr bwMode="auto">
          <a:xfrm flipV="1">
            <a:off x="3276600" y="2971800"/>
            <a:ext cx="304800" cy="22860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prstDash val="dash"/>
            <a:round/>
          </a:ln>
          <a:effectLst/>
        </p:spPr>
        <p:txBody>
          <a:bodyPr/>
          <a:lstStyle/>
          <a:p>
            <a:endParaRPr lang="en-US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90121" name="Line 9"/>
          <p:cNvSpPr>
            <a:spLocks noChangeShapeType="1"/>
          </p:cNvSpPr>
          <p:nvPr/>
        </p:nvSpPr>
        <p:spPr bwMode="auto">
          <a:xfrm>
            <a:off x="3581400" y="2971800"/>
            <a:ext cx="2743200" cy="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90122" name="Text Box 10"/>
          <p:cNvSpPr txBox="1">
            <a:spLocks noChangeArrowheads="1"/>
          </p:cNvSpPr>
          <p:nvPr/>
        </p:nvSpPr>
        <p:spPr bwMode="auto">
          <a:xfrm>
            <a:off x="6400800" y="2743200"/>
            <a:ext cx="2133600" cy="366713"/>
          </a:xfrm>
          <a:prstGeom prst="rect">
            <a:avLst/>
          </a:prstGeom>
          <a:noFill/>
          <a:ln w="9525">
            <a:solidFill>
              <a:schemeClr val="tx1">
                <a:lumMod val="8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Referral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90123" name="Line 11"/>
          <p:cNvSpPr>
            <a:spLocks noChangeShapeType="1"/>
          </p:cNvSpPr>
          <p:nvPr/>
        </p:nvSpPr>
        <p:spPr bwMode="auto">
          <a:xfrm flipH="1" flipV="1">
            <a:off x="4038600" y="3505200"/>
            <a:ext cx="304800" cy="22860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prstDash val="dash"/>
            <a:round/>
          </a:ln>
          <a:effectLst/>
        </p:spPr>
        <p:txBody>
          <a:bodyPr/>
          <a:lstStyle/>
          <a:p>
            <a:endParaRPr lang="en-US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90124" name="Line 12"/>
          <p:cNvSpPr>
            <a:spLocks noChangeShapeType="1"/>
          </p:cNvSpPr>
          <p:nvPr/>
        </p:nvSpPr>
        <p:spPr bwMode="auto">
          <a:xfrm>
            <a:off x="4343400" y="3733800"/>
            <a:ext cx="1905000" cy="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90125" name="Text Box 13"/>
          <p:cNvSpPr txBox="1">
            <a:spLocks noChangeArrowheads="1"/>
          </p:cNvSpPr>
          <p:nvPr/>
        </p:nvSpPr>
        <p:spPr bwMode="auto">
          <a:xfrm>
            <a:off x="6376988" y="3567113"/>
            <a:ext cx="2133600" cy="366712"/>
          </a:xfrm>
          <a:prstGeom prst="rect">
            <a:avLst/>
          </a:prstGeom>
          <a:noFill/>
          <a:ln w="9525">
            <a:solidFill>
              <a:schemeClr val="tx1">
                <a:lumMod val="8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Template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90126" name="Line 14"/>
          <p:cNvSpPr>
            <a:spLocks noChangeShapeType="1"/>
          </p:cNvSpPr>
          <p:nvPr/>
        </p:nvSpPr>
        <p:spPr bwMode="auto">
          <a:xfrm>
            <a:off x="5105400" y="3352800"/>
            <a:ext cx="1143000" cy="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90127" name="Text Box 15"/>
          <p:cNvSpPr txBox="1">
            <a:spLocks noChangeArrowheads="1"/>
          </p:cNvSpPr>
          <p:nvPr/>
        </p:nvSpPr>
        <p:spPr bwMode="auto">
          <a:xfrm>
            <a:off x="6367463" y="3171825"/>
            <a:ext cx="2133600" cy="366713"/>
          </a:xfrm>
          <a:prstGeom prst="rect">
            <a:avLst/>
          </a:prstGeom>
          <a:noFill/>
          <a:ln w="9525">
            <a:solidFill>
              <a:schemeClr val="tx1">
                <a:lumMod val="8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Occurrences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Substructure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458200" cy="525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Structure embedded with another structure or substructure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Can be nested </a:t>
            </a:r>
            <a:r>
              <a:rPr lang="en-US" dirty="0" err="1"/>
              <a:t>upto</a:t>
            </a:r>
            <a:r>
              <a:rPr lang="en-US" dirty="0"/>
              <a:t> 64 levels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Referral structures are allowed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They have byte addresses not word addresses</a:t>
            </a:r>
            <a:endParaRPr lang="en-US" dirty="0"/>
          </a:p>
          <a:p>
            <a:pPr lvl="4">
              <a:lnSpc>
                <a:spcPct val="60000"/>
              </a:lnSpc>
              <a:buFont typeface="Wingdings" panose="05000000000000000000" pitchFamily="2" charset="2"/>
              <a:buNone/>
            </a:pPr>
            <a:endParaRPr lang="en-US" dirty="0">
              <a:solidFill>
                <a:srgbClr val="002060"/>
              </a:solidFill>
            </a:endParaRPr>
          </a:p>
          <a:p>
            <a:pPr lvl="4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rgbClr val="002060"/>
                </a:solidFill>
              </a:rPr>
              <a:t>	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.A;</a:t>
            </a:r>
            <a:endParaRPr lang="en-US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Begin</a:t>
            </a:r>
            <a:endParaRPr lang="en-US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dirty="0" smtClean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...........</a:t>
            </a:r>
            <a:endParaRPr lang="en-US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smtClean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...........</a:t>
            </a:r>
            <a:endParaRPr lang="en-US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 smtClean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 smtClean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B;</a:t>
            </a:r>
            <a:endParaRPr lang="en-US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smtClean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smtClean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.............</a:t>
            </a:r>
            <a:endParaRPr lang="en-US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smtClean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.............</a:t>
            </a:r>
            <a:endParaRPr lang="en-US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smtClean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smtClean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..............</a:t>
            </a:r>
            <a:endParaRPr lang="en-US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7630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MULTIDIMENSIONAL structure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LITERAL last = 49; 		</a:t>
            </a:r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!Declare number of last item</a:t>
            </a:r>
            <a:endParaRPr lang="en-US" sz="1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STRUCT .warehouse[0:1]; 	</a:t>
            </a:r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!Declare structure WAREHOUSE</a:t>
            </a:r>
            <a:endParaRPr lang="en-US" sz="1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BEGIN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STRUCT inventory[0:last]; 	</a:t>
            </a:r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!Declare substructure</a:t>
            </a:r>
            <a:endParaRPr lang="en-US" sz="1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BEGIN 			</a:t>
            </a:r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 INVENTORY</a:t>
            </a:r>
            <a:endParaRPr lang="en-US" sz="1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item_number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INT price;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on_hand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END; 			</a:t>
            </a:r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!End INVENTORY</a:t>
            </a:r>
            <a:endParaRPr lang="en-US" sz="1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STRUCT employee[0:9]; 	</a:t>
            </a:r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!Declare substructure</a:t>
            </a:r>
            <a:endParaRPr lang="en-US" sz="1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BEGIN 			</a:t>
            </a:r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 EMPLOYEE</a:t>
            </a:r>
            <a:endParaRPr lang="en-US" sz="1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STRING name[0:31];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STRING telephone[0:6];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END; 			</a:t>
            </a:r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!End EMPLOYEE</a:t>
            </a:r>
            <a:endParaRPr lang="en-US" sz="1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END; 			</a:t>
            </a:r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!End WAREHOUSE</a:t>
            </a:r>
            <a:endParaRPr 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Structure Pointer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Can declare structure pointers within a structure or substructure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Stores the memory address of a structure.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mtClean="0"/>
              <a:t>.</a:t>
            </a:r>
            <a:r>
              <a:rPr lang="en-US" dirty="0"/>
              <a:t>EXT to store 32 bit address (extended)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. to store 16 bit address (standard)</a:t>
            </a:r>
            <a:endParaRPr lang="en-US" dirty="0"/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0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Redefinitions in Structure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New description for a previously declared item in the </a:t>
            </a:r>
            <a:r>
              <a:rPr lang="en-US" u="sng" dirty="0"/>
              <a:t>same structure</a:t>
            </a:r>
            <a:endParaRPr lang="en-US" u="sng" dirty="0"/>
          </a:p>
          <a:p>
            <a:pPr>
              <a:lnSpc>
                <a:spcPct val="90000"/>
              </a:lnSpc>
            </a:pPr>
            <a:r>
              <a:rPr lang="en-US" dirty="0"/>
              <a:t>New item must be at the </a:t>
            </a:r>
            <a:r>
              <a:rPr lang="en-US" u="sng" dirty="0"/>
              <a:t>same Begin-End level</a:t>
            </a:r>
            <a:endParaRPr lang="en-US" u="sng" dirty="0"/>
          </a:p>
          <a:p>
            <a:pPr>
              <a:lnSpc>
                <a:spcPct val="90000"/>
              </a:lnSpc>
            </a:pPr>
            <a:r>
              <a:rPr lang="en-US" dirty="0"/>
              <a:t>New item must also be of the </a:t>
            </a:r>
            <a:r>
              <a:rPr lang="en-US" u="sng" dirty="0"/>
              <a:t>same or shorter in length</a:t>
            </a:r>
            <a:r>
              <a:rPr lang="en-US" dirty="0"/>
              <a:t> than the previous item.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sz="1600" dirty="0" err="1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simple_variable_redefinition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sz="1600" dirty="0" err="1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old_var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STRING </a:t>
            </a:r>
            <a:r>
              <a:rPr lang="en-US" sz="1600" dirty="0" err="1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new_var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old_var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sz="1600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END;</a:t>
            </a:r>
            <a:endParaRPr lang="en-US" sz="1600" dirty="0">
              <a:solidFill>
                <a:schemeClr val="tx1">
                  <a:lumMod val="8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3189" name="Rectangle 5"/>
          <p:cNvSpPr>
            <a:spLocks noChangeArrowheads="1"/>
          </p:cNvSpPr>
          <p:nvPr/>
        </p:nvSpPr>
        <p:spPr bwMode="auto">
          <a:xfrm>
            <a:off x="5562600" y="5181600"/>
            <a:ext cx="1447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/>
              <a:t>old_var</a:t>
            </a:r>
            <a:endParaRPr lang="en-US"/>
          </a:p>
        </p:txBody>
      </p:sp>
      <p:sp>
        <p:nvSpPr>
          <p:cNvPr id="93190" name="Rectangle 6"/>
          <p:cNvSpPr>
            <a:spLocks noChangeArrowheads="1"/>
          </p:cNvSpPr>
          <p:nvPr/>
        </p:nvSpPr>
        <p:spPr bwMode="auto">
          <a:xfrm>
            <a:off x="7924800" y="5181600"/>
            <a:ext cx="609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3191" name="Rectangle 7"/>
          <p:cNvSpPr>
            <a:spLocks noChangeArrowheads="1"/>
          </p:cNvSpPr>
          <p:nvPr/>
        </p:nvSpPr>
        <p:spPr bwMode="auto">
          <a:xfrm>
            <a:off x="7315200" y="5181600"/>
            <a:ext cx="609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192" name="Line 8"/>
          <p:cNvSpPr>
            <a:spLocks noChangeShapeType="1"/>
          </p:cNvSpPr>
          <p:nvPr/>
        </p:nvSpPr>
        <p:spPr bwMode="auto">
          <a:xfrm>
            <a:off x="7620000" y="5410200"/>
            <a:ext cx="0" cy="457200"/>
          </a:xfrm>
          <a:prstGeom prst="line">
            <a:avLst/>
          </a:prstGeom>
          <a:noFill/>
          <a:ln w="9525">
            <a:solidFill>
              <a:srgbClr val="9EA2A4"/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3193" name="Text Box 9"/>
          <p:cNvSpPr txBox="1">
            <a:spLocks noChangeArrowheads="1"/>
          </p:cNvSpPr>
          <p:nvPr/>
        </p:nvSpPr>
        <p:spPr bwMode="auto">
          <a:xfrm>
            <a:off x="7086600" y="5791200"/>
            <a:ext cx="10668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new_var</a:t>
            </a:r>
            <a:endParaRPr lang="en-US"/>
          </a:p>
        </p:txBody>
      </p:sp>
      <p:sp>
        <p:nvSpPr>
          <p:cNvPr id="93194" name="Text Box 10"/>
          <p:cNvSpPr txBox="1">
            <a:spLocks noChangeArrowheads="1"/>
          </p:cNvSpPr>
          <p:nvPr/>
        </p:nvSpPr>
        <p:spPr bwMode="auto">
          <a:xfrm>
            <a:off x="5867400" y="4800600"/>
            <a:ext cx="6096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INT</a:t>
            </a:r>
            <a:endParaRPr lang="en-US"/>
          </a:p>
        </p:txBody>
      </p:sp>
      <p:sp>
        <p:nvSpPr>
          <p:cNvPr id="93195" name="Text Box 11"/>
          <p:cNvSpPr txBox="1">
            <a:spLocks noChangeArrowheads="1"/>
          </p:cNvSpPr>
          <p:nvPr/>
        </p:nvSpPr>
        <p:spPr bwMode="auto">
          <a:xfrm>
            <a:off x="7239000" y="4724400"/>
            <a:ext cx="8382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String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Redefinitions in Structure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Substructure, Template structure and Referral structure are also allows redefinition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Accessing Structure Items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STRUCT .</a:t>
            </a:r>
            <a:r>
              <a:rPr lang="en-US" sz="55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struct_b</a:t>
            </a: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5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BEGIN</a:t>
            </a:r>
            <a:endParaRPr lang="en-US" sz="5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STRUCT sub_1;</a:t>
            </a:r>
            <a:endParaRPr lang="en-US" sz="5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BEGIN</a:t>
            </a:r>
            <a:endParaRPr lang="en-US" sz="5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STRUCT sub_2;</a:t>
            </a:r>
            <a:endParaRPr lang="en-US" sz="5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BEGIN</a:t>
            </a:r>
            <a:endParaRPr lang="en-US" sz="5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STRUCT sub_3;</a:t>
            </a:r>
            <a:endParaRPr lang="en-US" sz="5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BEGIN</a:t>
            </a:r>
            <a:endParaRPr lang="en-US" sz="5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INT a;</a:t>
            </a:r>
            <a:endParaRPr lang="en-US" sz="5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INT b;</a:t>
            </a:r>
            <a:endParaRPr lang="en-US" sz="5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INT </a:t>
            </a:r>
            <a:r>
              <a:rPr lang="en-US" sz="55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item_x</a:t>
            </a:r>
            <a:r>
              <a:rPr lang="en-US" sz="55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55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END; 			</a:t>
            </a:r>
            <a:r>
              <a:rPr lang="en-US" sz="55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!End SUB_3</a:t>
            </a:r>
            <a:endParaRPr lang="en-US" sz="55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END; 				</a:t>
            </a:r>
            <a:r>
              <a:rPr lang="en-US" sz="55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!End SUB_2</a:t>
            </a:r>
            <a:endParaRPr lang="en-US" sz="55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END; 					</a:t>
            </a:r>
            <a:r>
              <a:rPr lang="en-US" sz="55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!End SUB_1</a:t>
            </a:r>
            <a:endParaRPr lang="en-US" sz="55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5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END; 					</a:t>
            </a:r>
            <a:r>
              <a:rPr lang="en-US" sz="55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!End STRUCT_A</a:t>
            </a:r>
            <a:endParaRPr lang="en-US" sz="55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rgbClr val="FFFF00"/>
                </a:solidFill>
              </a:rPr>
              <a:t>struct_b.sub_1.sub_2.sub_3.item_x</a:t>
            </a:r>
            <a:endParaRPr 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POINTERS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5075238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4500" b="1" dirty="0" smtClean="0"/>
              <a:t>Pointers</a:t>
            </a:r>
            <a:r>
              <a:rPr lang="en-US" sz="4500" dirty="0" smtClean="0"/>
              <a:t> are variables in which you store the memory address of the variables.</a:t>
            </a:r>
            <a:endParaRPr lang="en-US" sz="45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5000" dirty="0" smtClean="0"/>
              <a:t>Simple pointer </a:t>
            </a:r>
            <a:endParaRPr lang="en-US" sz="5000" dirty="0" smtClean="0"/>
          </a:p>
          <a:p>
            <a:pPr>
              <a:buNone/>
            </a:pPr>
            <a:r>
              <a:rPr lang="en-US" dirty="0" smtClean="0"/>
              <a:t>INT .</a:t>
            </a:r>
            <a:r>
              <a:rPr lang="en-US" dirty="0" err="1" smtClean="0"/>
              <a:t>my_ptr</a:t>
            </a:r>
            <a:r>
              <a:rPr lang="en-US" dirty="0" smtClean="0"/>
              <a:t>;		! Simple pointer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INT .EXT </a:t>
            </a:r>
            <a:r>
              <a:rPr lang="en-US" dirty="0" err="1" smtClean="0"/>
              <a:t>my_xptr</a:t>
            </a:r>
            <a:r>
              <a:rPr lang="en-US" dirty="0" smtClean="0"/>
              <a:t>;	! Extended simple pointer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4200" dirty="0" smtClean="0"/>
              <a:t>Initializing a simple variable pointer</a:t>
            </a:r>
            <a:endParaRPr lang="en-US" sz="4200" dirty="0" smtClean="0"/>
          </a:p>
          <a:p>
            <a:pPr lvl="1">
              <a:buNone/>
            </a:pPr>
            <a:r>
              <a:rPr lang="en-US" sz="3500" dirty="0" smtClean="0"/>
              <a:t>STRING .array[0:3]; 			!Declare ARRAY</a:t>
            </a:r>
            <a:endParaRPr lang="en-US" sz="3500" dirty="0" smtClean="0"/>
          </a:p>
          <a:p>
            <a:pPr lvl="1">
              <a:buNone/>
            </a:pPr>
            <a:r>
              <a:rPr lang="en-US" sz="3500" dirty="0" smtClean="0"/>
              <a:t>STRING .</a:t>
            </a:r>
            <a:r>
              <a:rPr lang="en-US" sz="3500" dirty="0" err="1" smtClean="0"/>
              <a:t>string_ptr</a:t>
            </a:r>
            <a:r>
              <a:rPr lang="en-US" sz="3500" dirty="0" smtClean="0"/>
              <a:t> := @array[3];		!Declare STRING_PTR; initialize</a:t>
            </a:r>
            <a:endParaRPr lang="en-US" sz="3500" dirty="0" smtClean="0"/>
          </a:p>
          <a:p>
            <a:pPr lvl="1">
              <a:buNone/>
            </a:pPr>
            <a:r>
              <a:rPr lang="en-US" sz="3500" dirty="0" smtClean="0"/>
              <a:t>						! it with address of ARRAY[3]</a:t>
            </a:r>
            <a:endParaRPr lang="en-US" sz="35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4200" dirty="0" smtClean="0"/>
              <a:t>STRING simple pointer for byte access to a word-addressed array</a:t>
            </a:r>
            <a:endParaRPr lang="en-US" sz="4200" dirty="0" smtClean="0"/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3500" dirty="0" smtClean="0"/>
              <a:t>INT .</a:t>
            </a:r>
            <a:r>
              <a:rPr lang="en-US" sz="3500" dirty="0" err="1" smtClean="0"/>
              <a:t>word_array</a:t>
            </a:r>
            <a:r>
              <a:rPr lang="en-US" sz="3500" dirty="0" smtClean="0"/>
              <a:t>[0:39]; 			!Declare WORD_ARRAY</a:t>
            </a:r>
            <a:endParaRPr lang="en-US" sz="3500" dirty="0" smtClean="0"/>
          </a:p>
          <a:p>
            <a:pPr>
              <a:buNone/>
            </a:pPr>
            <a:r>
              <a:rPr lang="en-US" sz="3500" dirty="0" smtClean="0"/>
              <a:t>	STRING .</a:t>
            </a:r>
            <a:r>
              <a:rPr lang="en-US" sz="3500" dirty="0" err="1" smtClean="0"/>
              <a:t>byte_ptr</a:t>
            </a:r>
            <a:r>
              <a:rPr lang="en-US" sz="3500" dirty="0" smtClean="0"/>
              <a:t> := @</a:t>
            </a:r>
            <a:r>
              <a:rPr lang="en-US" sz="3500" dirty="0" err="1" smtClean="0"/>
              <a:t>word_array</a:t>
            </a:r>
            <a:r>
              <a:rPr lang="en-US" sz="3500" dirty="0" smtClean="0"/>
              <a:t>[0] '&lt;&lt;' 1;		!Declare BYTE_PTR; initialize</a:t>
            </a:r>
            <a:endParaRPr lang="en-US" sz="3500" dirty="0" smtClean="0"/>
          </a:p>
          <a:p>
            <a:pPr>
              <a:buNone/>
            </a:pPr>
            <a:r>
              <a:rPr lang="en-US" sz="3500" dirty="0" smtClean="0"/>
              <a:t>						! it with converted byte  </a:t>
            </a:r>
            <a:endParaRPr lang="en-US" sz="3500" dirty="0" smtClean="0"/>
          </a:p>
          <a:p>
            <a:pPr>
              <a:buNone/>
            </a:pPr>
            <a:r>
              <a:rPr lang="en-US" sz="3500" dirty="0" smtClean="0"/>
              <a:t>						! address of WORD_ARRAY</a:t>
            </a:r>
            <a:endParaRPr lang="en-US" sz="35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4200" dirty="0" smtClean="0"/>
              <a:t>INT simple pointer for word access to a byte-addressed array</a:t>
            </a:r>
            <a:endParaRPr lang="en-US" sz="4200" dirty="0" smtClean="0"/>
          </a:p>
          <a:p>
            <a:pPr lvl="1">
              <a:buNone/>
            </a:pPr>
            <a:r>
              <a:rPr lang="en-US" sz="2900" dirty="0" smtClean="0"/>
              <a:t>STRING .</a:t>
            </a:r>
            <a:r>
              <a:rPr lang="en-US" sz="2900" dirty="0" err="1" smtClean="0"/>
              <a:t>byte_array</a:t>
            </a:r>
            <a:r>
              <a:rPr lang="en-US" sz="2900" dirty="0" smtClean="0"/>
              <a:t>[0:4]; 			!Declare BYTE_ARRAY</a:t>
            </a:r>
            <a:endParaRPr lang="en-US" sz="2900" dirty="0" smtClean="0"/>
          </a:p>
          <a:p>
            <a:pPr lvl="1">
              <a:buNone/>
            </a:pPr>
            <a:r>
              <a:rPr lang="en-US" sz="2900" dirty="0" smtClean="0"/>
              <a:t>INT .</a:t>
            </a:r>
            <a:r>
              <a:rPr lang="en-US" sz="2900" dirty="0" err="1" smtClean="0"/>
              <a:t>word_ptr</a:t>
            </a:r>
            <a:r>
              <a:rPr lang="en-US" sz="2900" dirty="0" smtClean="0"/>
              <a:t> := @</a:t>
            </a:r>
            <a:r>
              <a:rPr lang="en-US" sz="2900" dirty="0" err="1" smtClean="0"/>
              <a:t>byte_array</a:t>
            </a:r>
            <a:r>
              <a:rPr lang="en-US" sz="2900" dirty="0" smtClean="0"/>
              <a:t>[0] '&gt;&gt;' 1;		!Declare WORD_PTR; initialize  it with converted word </a:t>
            </a:r>
            <a:endParaRPr lang="en-US" sz="2900" dirty="0" smtClean="0"/>
          </a:p>
          <a:p>
            <a:pPr lvl="1">
              <a:buNone/>
            </a:pPr>
            <a:r>
              <a:rPr lang="en-US" sz="2900" dirty="0" smtClean="0"/>
              <a:t>						! address of BYTE_ARRAY</a:t>
            </a:r>
            <a:endParaRPr lang="en-US" sz="2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POINTERS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Structured Pointer</a:t>
            </a:r>
            <a:endParaRPr lang="en-US" dirty="0" smtClean="0"/>
          </a:p>
          <a:p>
            <a:pPr>
              <a:buNone/>
            </a:pPr>
            <a:r>
              <a:rPr lang="en-US" sz="2200" dirty="0" smtClean="0"/>
              <a:t>INT .</a:t>
            </a:r>
            <a:r>
              <a:rPr lang="en-US" sz="2200" dirty="0" err="1" smtClean="0"/>
              <a:t>struct_ptr</a:t>
            </a:r>
            <a:r>
              <a:rPr lang="en-US" sz="2200" dirty="0" smtClean="0"/>
              <a:t> (</a:t>
            </a:r>
            <a:r>
              <a:rPr lang="en-US" sz="2200" dirty="0" err="1" smtClean="0"/>
              <a:t>prev_struct</a:t>
            </a:r>
            <a:r>
              <a:rPr lang="en-US" sz="2200" dirty="0" smtClean="0"/>
              <a:t>);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INT .EXT </a:t>
            </a:r>
            <a:r>
              <a:rPr lang="en-US" sz="2200" dirty="0" err="1" smtClean="0"/>
              <a:t>xstruct_ptr</a:t>
            </a:r>
            <a:r>
              <a:rPr lang="en-US" sz="2200" dirty="0" smtClean="0"/>
              <a:t> (</a:t>
            </a:r>
            <a:r>
              <a:rPr lang="en-US" sz="2200" dirty="0" err="1" smtClean="0"/>
              <a:t>prev_struct</a:t>
            </a:r>
            <a:r>
              <a:rPr lang="en-US" sz="2200" dirty="0" smtClean="0"/>
              <a:t>);</a:t>
            </a:r>
            <a:endParaRPr lang="en-US" sz="22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Initializing structure pointer</a:t>
            </a:r>
            <a:endParaRPr lang="en-US" dirty="0" smtClean="0"/>
          </a:p>
          <a:p>
            <a:pPr>
              <a:buNone/>
            </a:pPr>
            <a:r>
              <a:rPr lang="en-US" sz="2200" dirty="0" smtClean="0"/>
              <a:t>STRUCT </a:t>
            </a:r>
            <a:r>
              <a:rPr lang="en-US" sz="2200" dirty="0" err="1" smtClean="0"/>
              <a:t>struct_a</a:t>
            </a:r>
            <a:r>
              <a:rPr lang="en-US" sz="2200" dirty="0" smtClean="0"/>
              <a:t>[0:2]; !Declare STRUCT_A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	BEGIN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	INT </a:t>
            </a:r>
            <a:r>
              <a:rPr lang="en-US" sz="2200" dirty="0" err="1" smtClean="0"/>
              <a:t>var</a:t>
            </a:r>
            <a:r>
              <a:rPr lang="en-US" sz="2200" dirty="0" smtClean="0"/>
              <a:t>;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	END;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INT .</a:t>
            </a:r>
            <a:r>
              <a:rPr lang="en-US" sz="2200" dirty="0" err="1" smtClean="0"/>
              <a:t>struct_ptr</a:t>
            </a:r>
            <a:r>
              <a:rPr lang="en-US" sz="2200" dirty="0" smtClean="0"/>
              <a:t> (</a:t>
            </a:r>
            <a:r>
              <a:rPr lang="en-US" sz="2200" dirty="0" err="1" smtClean="0"/>
              <a:t>struct_a</a:t>
            </a:r>
            <a:r>
              <a:rPr lang="en-US" sz="2200" dirty="0" smtClean="0"/>
              <a:t>) := @</a:t>
            </a:r>
            <a:r>
              <a:rPr lang="en-US" sz="2200" dirty="0" err="1" smtClean="0"/>
              <a:t>struct_a</a:t>
            </a:r>
            <a:r>
              <a:rPr lang="en-US" sz="2200" dirty="0" smtClean="0"/>
              <a:t>[1];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Procedures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perform specific task</a:t>
            </a:r>
            <a:endParaRPr lang="en-US"/>
          </a:p>
          <a:p>
            <a:r>
              <a:rPr lang="en-US"/>
              <a:t>Callable from anywhere in the program</a:t>
            </a:r>
            <a:endParaRPr lang="en-US"/>
          </a:p>
          <a:p>
            <a:r>
              <a:rPr lang="en-US"/>
              <a:t>A program can contain one or more procedure</a:t>
            </a:r>
            <a:endParaRPr lang="en-US"/>
          </a:p>
          <a:p>
            <a:r>
              <a:rPr lang="en-US"/>
              <a:t>MAIN procedure is </a:t>
            </a:r>
            <a:r>
              <a:rPr lang="en-US" b="1" i="1"/>
              <a:t>must</a:t>
            </a:r>
            <a:endParaRPr lang="en-US" b="1" i="1"/>
          </a:p>
          <a:p>
            <a:r>
              <a:rPr lang="en-US"/>
              <a:t>Procedure can have </a:t>
            </a:r>
            <a:endParaRPr lang="en-US"/>
          </a:p>
          <a:p>
            <a:pPr lvl="1"/>
            <a:r>
              <a:rPr lang="en-US"/>
              <a:t>Statements , Data Declarations</a:t>
            </a:r>
            <a:endParaRPr lang="en-US"/>
          </a:p>
          <a:p>
            <a:pPr lvl="1"/>
            <a:r>
              <a:rPr lang="en-US"/>
              <a:t>Subprocedures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err="1">
                <a:latin typeface="Byington" pitchFamily="2" charset="0"/>
              </a:rPr>
              <a:t>Subprocedures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r>
              <a:rPr lang="en-US"/>
              <a:t>A procedure can have number of Subprocedures</a:t>
            </a:r>
            <a:endParaRPr lang="en-US"/>
          </a:p>
          <a:p>
            <a:r>
              <a:rPr lang="en-US"/>
              <a:t>Only accessible from that procedure alone</a:t>
            </a:r>
            <a:endParaRPr lang="en-US"/>
          </a:p>
          <a:p>
            <a:r>
              <a:rPr lang="en-US"/>
              <a:t>Subprocedure cannot have another Subprocedure</a:t>
            </a:r>
            <a:endParaRPr lang="en-US"/>
          </a:p>
          <a:p>
            <a:pPr>
              <a:buFont typeface="Wingdings" panose="05000000000000000000" pitchFamily="2" charset="2"/>
              <a:buNone/>
            </a:pPr>
            <a:endParaRPr lang="en-US"/>
          </a:p>
          <a:p>
            <a:r>
              <a:rPr lang="en-US"/>
              <a:t>‘CALL’ verb is used to execute Procedure / Subprocedure</a:t>
            </a:r>
            <a:endParaRPr lang="en-US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Procedures - Declaration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PROC 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my_proc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(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param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) MAIN  ;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INT 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param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;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67598" name="Text Box 14"/>
          <p:cNvSpPr txBox="1">
            <a:spLocks noChangeArrowheads="1"/>
          </p:cNvSpPr>
          <p:nvPr/>
        </p:nvSpPr>
        <p:spPr bwMode="auto">
          <a:xfrm>
            <a:off x="533400" y="3200400"/>
            <a:ext cx="1676400" cy="396875"/>
          </a:xfrm>
          <a:prstGeom prst="rect">
            <a:avLst/>
          </a:prstGeom>
          <a:noFill/>
          <a:ln w="9525">
            <a:solidFill>
              <a:schemeClr val="tx1">
                <a:lumMod val="8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Key Word</a:t>
            </a:r>
            <a:endParaRPr lang="en-US" sz="20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1905000" y="1371600"/>
            <a:ext cx="1295400" cy="396875"/>
          </a:xfrm>
          <a:prstGeom prst="rect">
            <a:avLst/>
          </a:prstGeom>
          <a:noFill/>
          <a:ln w="9525" algn="ctr">
            <a:solidFill>
              <a:schemeClr val="tx1">
                <a:lumMod val="8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Identifier</a:t>
            </a:r>
            <a:endParaRPr lang="en-US" sz="20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67600" name="Text Box 16"/>
          <p:cNvSpPr txBox="1">
            <a:spLocks noChangeArrowheads="1"/>
          </p:cNvSpPr>
          <p:nvPr/>
        </p:nvSpPr>
        <p:spPr bwMode="auto">
          <a:xfrm>
            <a:off x="2971800" y="3200400"/>
            <a:ext cx="2286000" cy="701675"/>
          </a:xfrm>
          <a:prstGeom prst="rect">
            <a:avLst/>
          </a:prstGeom>
          <a:noFill/>
          <a:ln w="9525" algn="ctr">
            <a:solidFill>
              <a:schemeClr val="tx1">
                <a:lumMod val="8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Identifiers of formal Parameters</a:t>
            </a:r>
            <a:endParaRPr lang="en-US" sz="20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67601" name="Text Box 17"/>
          <p:cNvSpPr txBox="1">
            <a:spLocks noChangeArrowheads="1"/>
          </p:cNvSpPr>
          <p:nvPr/>
        </p:nvSpPr>
        <p:spPr bwMode="auto">
          <a:xfrm>
            <a:off x="4114800" y="1295400"/>
            <a:ext cx="1981200" cy="701675"/>
          </a:xfrm>
          <a:prstGeom prst="rect">
            <a:avLst/>
          </a:prstGeom>
          <a:noFill/>
          <a:ln w="9525" algn="ctr">
            <a:solidFill>
              <a:schemeClr val="tx1">
                <a:lumMod val="8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Procedure attributes, if any</a:t>
            </a:r>
            <a:endParaRPr lang="en-US" sz="20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67603" name="Line 19"/>
          <p:cNvSpPr>
            <a:spLocks noChangeShapeType="1"/>
          </p:cNvSpPr>
          <p:nvPr/>
        </p:nvSpPr>
        <p:spPr bwMode="auto">
          <a:xfrm>
            <a:off x="1143000" y="2743200"/>
            <a:ext cx="0" cy="38100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604" name="Line 20"/>
          <p:cNvSpPr>
            <a:spLocks noChangeShapeType="1"/>
          </p:cNvSpPr>
          <p:nvPr/>
        </p:nvSpPr>
        <p:spPr bwMode="auto">
          <a:xfrm flipV="1">
            <a:off x="2362200" y="1981200"/>
            <a:ext cx="0" cy="38100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67605" name="Line 21"/>
          <p:cNvSpPr>
            <a:spLocks noChangeShapeType="1"/>
          </p:cNvSpPr>
          <p:nvPr/>
        </p:nvSpPr>
        <p:spPr bwMode="auto">
          <a:xfrm>
            <a:off x="3810000" y="2743200"/>
            <a:ext cx="0" cy="38100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67606" name="Line 22"/>
          <p:cNvSpPr>
            <a:spLocks noChangeShapeType="1"/>
          </p:cNvSpPr>
          <p:nvPr/>
        </p:nvSpPr>
        <p:spPr bwMode="auto">
          <a:xfrm flipV="1">
            <a:off x="4953000" y="1938338"/>
            <a:ext cx="0" cy="30480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67607" name="Line 23"/>
          <p:cNvSpPr>
            <a:spLocks noChangeShapeType="1"/>
          </p:cNvSpPr>
          <p:nvPr/>
        </p:nvSpPr>
        <p:spPr bwMode="auto">
          <a:xfrm>
            <a:off x="914400" y="5105400"/>
            <a:ext cx="0" cy="38100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67608" name="Text Box 24"/>
          <p:cNvSpPr txBox="1">
            <a:spLocks noChangeArrowheads="1"/>
          </p:cNvSpPr>
          <p:nvPr/>
        </p:nvSpPr>
        <p:spPr bwMode="auto">
          <a:xfrm>
            <a:off x="304800" y="5486400"/>
            <a:ext cx="1676400" cy="701675"/>
          </a:xfrm>
          <a:prstGeom prst="rect">
            <a:avLst/>
          </a:prstGeom>
          <a:noFill/>
          <a:ln w="9525">
            <a:solidFill>
              <a:schemeClr val="tx1">
                <a:lumMod val="8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Parameter Data type</a:t>
            </a:r>
            <a:endParaRPr lang="en-US" sz="20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67609" name="Line 25"/>
          <p:cNvSpPr>
            <a:spLocks noChangeShapeType="1"/>
          </p:cNvSpPr>
          <p:nvPr/>
        </p:nvSpPr>
        <p:spPr bwMode="auto">
          <a:xfrm>
            <a:off x="2209800" y="5105400"/>
            <a:ext cx="0" cy="38100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67610" name="Text Box 26"/>
          <p:cNvSpPr txBox="1">
            <a:spLocks noChangeArrowheads="1"/>
          </p:cNvSpPr>
          <p:nvPr/>
        </p:nvSpPr>
        <p:spPr bwMode="auto">
          <a:xfrm>
            <a:off x="1828800" y="5562600"/>
            <a:ext cx="1676400" cy="701675"/>
          </a:xfrm>
          <a:prstGeom prst="rect">
            <a:avLst/>
          </a:prstGeom>
          <a:noFill/>
          <a:ln w="9525">
            <a:solidFill>
              <a:schemeClr val="tx1">
                <a:lumMod val="85000"/>
              </a:schemeClr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</a:rPr>
              <a:t>Parameter Identifiers</a:t>
            </a:r>
            <a:endParaRPr lang="en-US" sz="20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16" name="Line 21"/>
          <p:cNvSpPr>
            <a:spLocks noChangeShapeType="1"/>
          </p:cNvSpPr>
          <p:nvPr/>
        </p:nvSpPr>
        <p:spPr bwMode="auto">
          <a:xfrm>
            <a:off x="1219200" y="2667000"/>
            <a:ext cx="0" cy="381000"/>
          </a:xfrm>
          <a:prstGeom prst="line">
            <a:avLst/>
          </a:prstGeom>
          <a:noFill/>
          <a:ln w="9525">
            <a:solidFill>
              <a:schemeClr val="tx1">
                <a:lumMod val="85000"/>
              </a:schemeClr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chemeClr val="tx1">
                  <a:lumMod val="8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>
                <a:latin typeface="Byington" pitchFamily="2" charset="0"/>
              </a:rPr>
              <a:t>Procedures  - Examples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37338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PROC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my_proc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;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INT var1; 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INT var2;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x := var1 - var2; 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END;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8619" name="Text Box 11"/>
          <p:cNvSpPr txBox="1">
            <a:spLocks noChangeArrowheads="1"/>
          </p:cNvSpPr>
          <p:nvPr/>
        </p:nvSpPr>
        <p:spPr bwMode="auto">
          <a:xfrm>
            <a:off x="3962400" y="1600200"/>
            <a:ext cx="4648200" cy="4339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! Procedure definition</a:t>
            </a:r>
            <a:endParaRPr lang="en-US" sz="24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endParaRPr lang="en-US" sz="24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! Begin of the proc statements</a:t>
            </a:r>
            <a:endParaRPr lang="en-US" sz="24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! Proc variables</a:t>
            </a:r>
            <a:endParaRPr lang="en-US" sz="24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endParaRPr lang="en-US" sz="24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endParaRPr lang="en-US" sz="24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! Proc statements</a:t>
            </a:r>
            <a:endParaRPr lang="en-US" sz="24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! End of the proc statements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8622" name="Text Box 14"/>
          <p:cNvSpPr txBox="1">
            <a:spLocks noChangeArrowheads="1"/>
          </p:cNvSpPr>
          <p:nvPr/>
        </p:nvSpPr>
        <p:spPr bwMode="auto">
          <a:xfrm>
            <a:off x="2971800" y="1600200"/>
            <a:ext cx="60801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3200"/>
              <a:t>(x)</a:t>
            </a:r>
            <a:endParaRPr lang="en-US" sz="3200"/>
          </a:p>
        </p:txBody>
      </p:sp>
      <p:sp>
        <p:nvSpPr>
          <p:cNvPr id="68623" name="Text Box 15"/>
          <p:cNvSpPr txBox="1">
            <a:spLocks noChangeArrowheads="1"/>
          </p:cNvSpPr>
          <p:nvPr/>
        </p:nvSpPr>
        <p:spPr bwMode="auto">
          <a:xfrm>
            <a:off x="504825" y="2133600"/>
            <a:ext cx="1266825" cy="854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INT x;</a:t>
            </a:r>
            <a:endParaRPr lang="en-US" sz="32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endParaRPr lang="en-US"/>
          </a:p>
        </p:txBody>
      </p:sp>
      <p:sp>
        <p:nvSpPr>
          <p:cNvPr id="68624" name="Text Box 16"/>
          <p:cNvSpPr txBox="1">
            <a:spLocks noChangeArrowheads="1"/>
          </p:cNvSpPr>
          <p:nvPr/>
        </p:nvSpPr>
        <p:spPr bwMode="auto">
          <a:xfrm>
            <a:off x="3957638" y="2162175"/>
            <a:ext cx="350520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! Parameter declaration</a:t>
            </a:r>
            <a:endParaRPr lang="en-US" sz="24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endParaRPr lang="en-US" sz="2400" dirty="0">
              <a:solidFill>
                <a:srgbClr val="CDB9ED"/>
              </a:solidFill>
            </a:endParaRPr>
          </a:p>
        </p:txBody>
      </p:sp>
      <p:sp>
        <p:nvSpPr>
          <p:cNvPr id="68625" name="Text Box 17"/>
          <p:cNvSpPr txBox="1">
            <a:spLocks noChangeArrowheads="1"/>
          </p:cNvSpPr>
          <p:nvPr/>
        </p:nvSpPr>
        <p:spPr bwMode="auto">
          <a:xfrm>
            <a:off x="304800" y="1219200"/>
            <a:ext cx="769620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! This is  a simple procedure without any parameters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8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8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22" grpId="0"/>
      <p:bldP spid="68623" grpId="0"/>
      <p:bldP spid="68624" grpId="0"/>
      <p:bldP spid="686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Program flow control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153400" cy="4983163"/>
          </a:xfrm>
        </p:spPr>
        <p:txBody>
          <a:bodyPr/>
          <a:lstStyle/>
          <a:p>
            <a:r>
              <a:rPr lang="en-US" sz="2800" dirty="0" smtClean="0">
                <a:cs typeface="Courier New" panose="02070309020205020404" pitchFamily="49" charset="0"/>
              </a:rPr>
              <a:t>IF – Conditionally selects one of the two possible flow</a:t>
            </a:r>
            <a:endParaRPr lang="en-US" sz="2800" dirty="0" smtClean="0"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IF ( a = b ) then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begin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……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end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ELSE IF ( a = c ) then		- OPTIONAL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begin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…..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end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ELSE 				 - OPTIONAL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begin 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….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end;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Program flow control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153400" cy="4983163"/>
          </a:xfrm>
        </p:spPr>
        <p:txBody>
          <a:bodyPr/>
          <a:lstStyle/>
          <a:p>
            <a:r>
              <a:rPr lang="en-US" sz="2800" dirty="0" smtClean="0">
                <a:cs typeface="Courier New" panose="02070309020205020404" pitchFamily="49" charset="0"/>
              </a:rPr>
              <a:t>CASE – select one of several expressions</a:t>
            </a:r>
            <a:endParaRPr lang="en-US" sz="2800" dirty="0" smtClean="0"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CASE a of 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BEGIN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1 -&gt; do something;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2 -&gt; do something else;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3,4 -&gt; do something else;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otherwise -&gt; forget it;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END;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Program flow control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153400" cy="4983163"/>
          </a:xfrm>
        </p:spPr>
        <p:txBody>
          <a:bodyPr/>
          <a:lstStyle/>
          <a:p>
            <a:r>
              <a:rPr lang="en-US" sz="2800" dirty="0" smtClean="0">
                <a:cs typeface="Courier New" panose="02070309020205020404" pitchFamily="49" charset="0"/>
              </a:rPr>
              <a:t>WHILE – executes the loop while the condition is true</a:t>
            </a:r>
            <a:endParaRPr lang="en-US" sz="2800" dirty="0" smtClean="0">
              <a:cs typeface="Courier New" panose="02070309020205020404" pitchFamily="49" charset="0"/>
            </a:endParaRPr>
          </a:p>
          <a:p>
            <a:r>
              <a:rPr lang="en-US" sz="2800" dirty="0" smtClean="0">
                <a:cs typeface="Courier New" panose="02070309020205020404" pitchFamily="49" charset="0"/>
              </a:rPr>
              <a:t>DO – executes the loop while the condition is true</a:t>
            </a:r>
            <a:endParaRPr lang="en-US" sz="2800" dirty="0" smtClean="0"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 = 0, x = 16;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WHILE ( a &lt; 3 ) DO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BEGIN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X := x + 1;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A := a + 1;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END;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dirty="0" smtClean="0"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dirty="0" smtClean="0"/>
              <a:t>Program flow control</a:t>
            </a:r>
            <a:endParaRPr lang="en-US" dirty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153400" cy="4983163"/>
          </a:xfrm>
        </p:spPr>
        <p:txBody>
          <a:bodyPr/>
          <a:lstStyle/>
          <a:p>
            <a:r>
              <a:rPr lang="en-US" sz="2800" dirty="0" smtClean="0">
                <a:cs typeface="Courier New" panose="02070309020205020404" pitchFamily="49" charset="0"/>
              </a:rPr>
              <a:t>FOR – executes the loop for n times</a:t>
            </a:r>
            <a:endParaRPr lang="en-US" sz="2800" dirty="0" smtClean="0"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I := 0 to 4 DO ( increment I )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I := 10 DOWNTO 0 DO ( decrement I)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dirty="0" smtClean="0">
              <a:cs typeface="Courier New" panose="02070309020205020404" pitchFamily="49" charset="0"/>
            </a:endParaRPr>
          </a:p>
          <a:p>
            <a:r>
              <a:rPr lang="en-US" sz="2800" dirty="0" smtClean="0">
                <a:cs typeface="Courier New" panose="02070309020205020404" pitchFamily="49" charset="0"/>
              </a:rPr>
              <a:t>CALL – calls another procedure</a:t>
            </a:r>
            <a:endParaRPr lang="en-US" sz="2800" dirty="0" smtClean="0"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other_proc</a:t>
            </a:r>
            <a:r>
              <a:rPr lang="en-US" sz="2800" dirty="0" smtClean="0">
                <a:cs typeface="Courier New" panose="02070309020205020404" pitchFamily="49" charset="0"/>
              </a:rPr>
              <a:t>; </a:t>
            </a:r>
            <a:endParaRPr lang="en-US" sz="2800" dirty="0" smtClean="0">
              <a:cs typeface="Courier New" panose="02070309020205020404" pitchFamily="49" charset="0"/>
            </a:endParaRPr>
          </a:p>
          <a:p>
            <a:pPr>
              <a:buNone/>
            </a:pPr>
            <a:endParaRPr lang="en-US" sz="2800" dirty="0" smtClean="0">
              <a:cs typeface="Courier New" panose="02070309020205020404" pitchFamily="49" charset="0"/>
            </a:endParaRPr>
          </a:p>
          <a:p>
            <a:r>
              <a:rPr lang="en-US" sz="2800" dirty="0" smtClean="0">
                <a:cs typeface="Courier New" panose="02070309020205020404" pitchFamily="49" charset="0"/>
              </a:rPr>
              <a:t>RETURN – returns the control back to the caller</a:t>
            </a:r>
            <a:endParaRPr lang="en-US" sz="2800" dirty="0" smtClean="0"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error;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800" dirty="0"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Program flow control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153400" cy="4983163"/>
          </a:xfrm>
        </p:spPr>
        <p:txBody>
          <a:bodyPr/>
          <a:lstStyle/>
          <a:p>
            <a:r>
              <a:rPr lang="en-US" sz="2800" dirty="0" smtClean="0">
                <a:cs typeface="Courier New" panose="02070309020205020404" pitchFamily="49" charset="0"/>
              </a:rPr>
              <a:t>GOTO – sends the control to the space specified within procedure/</a:t>
            </a:r>
            <a:r>
              <a:rPr lang="en-US" sz="2800" dirty="0" err="1" smtClean="0">
                <a:cs typeface="Courier New" panose="02070309020205020404" pitchFamily="49" charset="0"/>
              </a:rPr>
              <a:t>subprocedure</a:t>
            </a:r>
            <a:endParaRPr lang="en-US" sz="2800" dirty="0" smtClean="0"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PROC TEST;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LABEL L1;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INT A, B:= 3;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L1: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a := b*3;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some code …..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L1;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END;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2800" dirty="0" smtClean="0"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n-US" i="1" dirty="0" smtClean="0">
                <a:latin typeface="Byington" pitchFamily="2" charset="0"/>
              </a:rPr>
              <a:t>Compiling TAL program	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TACL&gt; TAL/in &lt;input source name&gt;, &lt;options&gt;/&lt; output object name&gt;; Compiler directives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TACL&gt; TAL/ in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mysource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cpu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1,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120/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myobj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symbols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i="1" dirty="0" err="1" smtClean="0">
                <a:latin typeface="Byington" pitchFamily="2" charset="0"/>
              </a:rPr>
              <a:t>Practicals</a:t>
            </a:r>
            <a:endParaRPr lang="en-US" i="1" dirty="0">
              <a:latin typeface="Byington" pitchFamily="2" charset="0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r>
              <a:rPr lang="en-US" sz="2800" dirty="0" smtClean="0"/>
              <a:t>Welcome to TAL</a:t>
            </a:r>
            <a:endParaRPr lang="en-US" sz="2800" dirty="0" smtClean="0"/>
          </a:p>
          <a:p>
            <a:r>
              <a:rPr lang="en-US" sz="2800" dirty="0" smtClean="0"/>
              <a:t>Write a program to accept you name and print it back</a:t>
            </a:r>
            <a:endParaRPr lang="en-US" sz="2800" dirty="0" smtClean="0"/>
          </a:p>
          <a:p>
            <a:r>
              <a:rPr lang="en-US" sz="2800" dirty="0" smtClean="0"/>
              <a:t>Write a program to ask for 2 numbers and the operator and show the result based on the operation specified</a:t>
            </a:r>
            <a:endParaRPr lang="en-US" sz="2800" dirty="0" smtClean="0"/>
          </a:p>
          <a:p>
            <a:r>
              <a:rPr lang="en-US" sz="2800" dirty="0" smtClean="0"/>
              <a:t>Write a program to do a add, update, delete and view into a file ( using </a:t>
            </a:r>
            <a:r>
              <a:rPr lang="en-US" sz="2800" dirty="0" err="1" smtClean="0"/>
              <a:t>ddl</a:t>
            </a:r>
            <a:r>
              <a:rPr lang="en-US" sz="2800" dirty="0" smtClean="0"/>
              <a:t> )</a:t>
            </a:r>
            <a:endParaRPr lang="en-US" sz="2800" dirty="0" smtClean="0"/>
          </a:p>
          <a:p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800" dirty="0" smtClean="0">
              <a:cs typeface="Courier New" panose="02070309020205020404" pitchFamily="49" charset="0"/>
            </a:endParaRPr>
          </a:p>
          <a:p>
            <a:pPr eaLnBrk="1" hangingPunct="1">
              <a:buNone/>
            </a:pPr>
            <a:endParaRPr lang="en-US" sz="2800" dirty="0" smtClean="0"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971800" y="3429001"/>
            <a:ext cx="5791200" cy="1447800"/>
          </a:xfrm>
        </p:spPr>
        <p:txBody>
          <a:bodyPr/>
          <a:lstStyle/>
          <a:p>
            <a:pPr>
              <a:buNone/>
            </a:pPr>
            <a:r>
              <a:rPr lang="en-US" sz="6600" i="1" dirty="0" smtClean="0">
                <a:latin typeface="Byington" pitchFamily="2" charset="0"/>
              </a:rPr>
              <a:t>Thank you</a:t>
            </a:r>
            <a:endParaRPr lang="en-US" sz="6600" i="1" dirty="0" smtClean="0">
              <a:latin typeface="Byington" pitchFamily="2" charset="0"/>
            </a:endParaRPr>
          </a:p>
          <a:p>
            <a:pPr>
              <a:buNone/>
            </a:pPr>
            <a:endParaRPr lang="en-US" sz="6600" dirty="0" smtClean="0"/>
          </a:p>
          <a:p>
            <a:endParaRPr lang="en-US" sz="6600" dirty="0" smtClean="0"/>
          </a:p>
          <a:p>
            <a:pPr>
              <a:buFont typeface="Wingdings" panose="05000000000000000000" pitchFamily="2" charset="2"/>
              <a:buNone/>
            </a:pPr>
            <a:endParaRPr lang="en-US" sz="66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Custom 5">
      <a:dk1>
        <a:srgbClr val="FFFFFF"/>
      </a:dk1>
      <a:lt1>
        <a:sysClr val="window" lastClr="FFFFFF"/>
      </a:lt1>
      <a:dk2>
        <a:srgbClr val="002060"/>
      </a:dk2>
      <a:lt2>
        <a:srgbClr val="FFFFFF"/>
      </a:lt2>
      <a:accent1>
        <a:srgbClr val="FFFFFF"/>
      </a:accent1>
      <a:accent2>
        <a:srgbClr val="CCAF0A"/>
      </a:accent2>
      <a:accent3>
        <a:srgbClr val="FFFFFF"/>
      </a:accent3>
      <a:accent4>
        <a:srgbClr val="748560"/>
      </a:accent4>
      <a:accent5>
        <a:srgbClr val="9E9273"/>
      </a:accent5>
      <a:accent6>
        <a:srgbClr val="FFFFFF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13447</Words>
  <Application>WPS Presentation</Application>
  <PresentationFormat>On-screen Show (4:3)</PresentationFormat>
  <Paragraphs>736</Paragraphs>
  <Slides>50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4" baseType="lpstr">
      <vt:lpstr>Arial</vt:lpstr>
      <vt:lpstr>SimSun</vt:lpstr>
      <vt:lpstr>Wingdings</vt:lpstr>
      <vt:lpstr>Garamond</vt:lpstr>
      <vt:lpstr>Franklin Gothic Book</vt:lpstr>
      <vt:lpstr>Wingdings 2</vt:lpstr>
      <vt:lpstr>Arial</vt:lpstr>
      <vt:lpstr>Byington</vt:lpstr>
      <vt:lpstr>Segoe Print</vt:lpstr>
      <vt:lpstr>Microsoft YaHei</vt:lpstr>
      <vt:lpstr/>
      <vt:lpstr>Arial Unicode MS</vt:lpstr>
      <vt:lpstr>Courier New</vt:lpstr>
      <vt:lpstr>Theme1</vt:lpstr>
      <vt:lpstr>PowerPoint 演示文稿</vt:lpstr>
      <vt:lpstr>Introduction to TAL</vt:lpstr>
      <vt:lpstr>Uses of Tal</vt:lpstr>
      <vt:lpstr>Features of TAL</vt:lpstr>
      <vt:lpstr>Data Types			Description</vt:lpstr>
      <vt:lpstr>TAL Environment</vt:lpstr>
      <vt:lpstr>Code Space</vt:lpstr>
      <vt:lpstr>Data Space</vt:lpstr>
      <vt:lpstr>DATA SPACE ( Contd)….</vt:lpstr>
      <vt:lpstr>REGISTERS</vt:lpstr>
      <vt:lpstr>Structure of the Program</vt:lpstr>
      <vt:lpstr>Structure of the Program</vt:lpstr>
      <vt:lpstr>Structure of the Program</vt:lpstr>
      <vt:lpstr>Declaring Procedures</vt:lpstr>
      <vt:lpstr>Constants, defines, Literals</vt:lpstr>
      <vt:lpstr>Simple Variables</vt:lpstr>
      <vt:lpstr>Sample Program</vt:lpstr>
      <vt:lpstr>ENTRY POINTS</vt:lpstr>
      <vt:lpstr>Addressing Modes</vt:lpstr>
      <vt:lpstr>Addressing Modes</vt:lpstr>
      <vt:lpstr>Addressing Modes</vt:lpstr>
      <vt:lpstr>Addressing Modes</vt:lpstr>
      <vt:lpstr>Arrays</vt:lpstr>
      <vt:lpstr>Arrays</vt:lpstr>
      <vt:lpstr>Arrays</vt:lpstr>
      <vt:lpstr>Arrays</vt:lpstr>
      <vt:lpstr>Structures</vt:lpstr>
      <vt:lpstr>Structures</vt:lpstr>
      <vt:lpstr>Template Structure</vt:lpstr>
      <vt:lpstr>Referral Structure</vt:lpstr>
      <vt:lpstr>Substructure</vt:lpstr>
      <vt:lpstr>MULTIDIMENSIONAL structure</vt:lpstr>
      <vt:lpstr>Structure Pointer</vt:lpstr>
      <vt:lpstr>Redefinitions in Structure</vt:lpstr>
      <vt:lpstr>Redefinitions in Structure</vt:lpstr>
      <vt:lpstr>Accessing Structure Items</vt:lpstr>
      <vt:lpstr>POINTERS</vt:lpstr>
      <vt:lpstr>POINTERS</vt:lpstr>
      <vt:lpstr>Procedures</vt:lpstr>
      <vt:lpstr>Subprocedures</vt:lpstr>
      <vt:lpstr>Procedures - Declaration</vt:lpstr>
      <vt:lpstr>Procedures  - Examples</vt:lpstr>
      <vt:lpstr>Program flow control</vt:lpstr>
      <vt:lpstr>Program flow control</vt:lpstr>
      <vt:lpstr>Program flow control</vt:lpstr>
      <vt:lpstr>Program flow control</vt:lpstr>
      <vt:lpstr>Program flow control</vt:lpstr>
      <vt:lpstr>Compiling TAL program	</vt:lpstr>
      <vt:lpstr>Practicals</vt:lpstr>
      <vt:lpstr>PowerPoint 演示文稿</vt:lpstr>
    </vt:vector>
  </TitlesOfParts>
  <Company>fss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concerto</dc:creator>
  <cp:lastModifiedBy>pooja.bharati</cp:lastModifiedBy>
  <cp:revision>343</cp:revision>
  <dcterms:created xsi:type="dcterms:W3CDTF">2006-01-21T10:09:00Z</dcterms:created>
  <dcterms:modified xsi:type="dcterms:W3CDTF">2017-09-27T07:31:54Z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1033-10.2.0.5934</vt:lpwstr>
  </property>
</Properties>
</file>